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omments/modernComment_10F_C9151A73.xml" ContentType="application/vnd.ms-powerpoint.comment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theme/themeOverride1.xml" ContentType="application/vnd.openxmlformats-officedocument.themeOverr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4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notesMasterIdLst>
    <p:notesMasterId r:id="rId20"/>
  </p:notesMasterIdLst>
  <p:sldIdLst>
    <p:sldId id="271" r:id="rId2"/>
    <p:sldId id="280" r:id="rId3"/>
    <p:sldId id="283" r:id="rId4"/>
    <p:sldId id="303" r:id="rId5"/>
    <p:sldId id="285" r:id="rId6"/>
    <p:sldId id="288" r:id="rId7"/>
    <p:sldId id="307" r:id="rId8"/>
    <p:sldId id="295" r:id="rId9"/>
    <p:sldId id="308" r:id="rId10"/>
    <p:sldId id="296" r:id="rId11"/>
    <p:sldId id="306" r:id="rId12"/>
    <p:sldId id="297" r:id="rId13"/>
    <p:sldId id="302" r:id="rId14"/>
    <p:sldId id="309" r:id="rId15"/>
    <p:sldId id="300" r:id="rId16"/>
    <p:sldId id="299" r:id="rId17"/>
    <p:sldId id="256" r:id="rId18"/>
    <p:sldId id="257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9519682-590E-0DFF-4B41-CFBB03AE1FB2}" name="林東盈" initials="林東盈" userId="S::B17319@office365.nthu.edu.tw::4806e12d-e181-4343-b9fb-c828693ecfb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淺色樣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458" autoAdjust="0"/>
    <p:restoredTop sz="96445" autoAdjust="0"/>
  </p:normalViewPr>
  <p:slideViewPr>
    <p:cSldViewPr snapToGrid="0">
      <p:cViewPr>
        <p:scale>
          <a:sx n="125" d="100"/>
          <a:sy n="125" d="100"/>
        </p:scale>
        <p:origin x="-72" y="-228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8/10/relationships/authors" Target="authors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son lo" userId="a320d083484e8fc8" providerId="LiveId" clId="{D81D6BC0-0F9D-4D65-B7D6-2D17C0165311}"/>
    <pc:docChg chg="modSld">
      <pc:chgData name="jason lo" userId="a320d083484e8fc8" providerId="LiveId" clId="{D81D6BC0-0F9D-4D65-B7D6-2D17C0165311}" dt="2025-12-17T12:56:03.318" v="5" actId="20577"/>
      <pc:docMkLst>
        <pc:docMk/>
      </pc:docMkLst>
      <pc:sldChg chg="modSp mod">
        <pc:chgData name="jason lo" userId="a320d083484e8fc8" providerId="LiveId" clId="{D81D6BC0-0F9D-4D65-B7D6-2D17C0165311}" dt="2025-12-17T12:56:03.318" v="5" actId="20577"/>
        <pc:sldMkLst>
          <pc:docMk/>
          <pc:sldMk cId="3633688617" sldId="302"/>
        </pc:sldMkLst>
        <pc:graphicFrameChg chg="modGraphic">
          <ac:chgData name="jason lo" userId="a320d083484e8fc8" providerId="LiveId" clId="{D81D6BC0-0F9D-4D65-B7D6-2D17C0165311}" dt="2025-12-17T12:56:03.318" v="5" actId="20577"/>
          <ac:graphicFrameMkLst>
            <pc:docMk/>
            <pc:sldMk cId="3633688617" sldId="302"/>
            <ac:graphicFrameMk id="4" creationId="{F69404A9-F949-B937-F992-50B66BCA6A98}"/>
          </ac:graphicFrameMkLst>
        </pc:graphicFrameChg>
      </pc:sldChg>
    </pc:docChg>
  </pc:docChgLst>
</pc:chgInfo>
</file>

<file path=ppt/comments/modernComment_10F_C9151A73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D89FB94-8EAF-4C76-88EC-66D594C7C74B}" authorId="{A9519682-590E-0DFF-4B41-CFBB03AE1FB2}" status="resolved" created="2025-11-25T05:42:25.227" complete="100000">
    <pc:sldMkLst xmlns:pc="http://schemas.microsoft.com/office/powerpoint/2013/main/command">
      <pc:docMk/>
      <pc:sldMk cId="3373603443" sldId="271"/>
    </pc:sldMkLst>
    <p188:txBody>
      <a:bodyPr/>
      <a:lstStyle/>
      <a:p>
        <a:r>
          <a:rPr lang="zh-TW" altLang="en-US"/>
          <a:t>中文字型請改成標楷體，英文請改成Times New RomanM整份文件都要修改</a:t>
        </a:r>
      </a:p>
    </p188:txBody>
  </p188:cm>
</p188:cmLst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AD0DC84-DCBE-40E2-936A-B6D14367690F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TW" altLang="en-US"/>
        </a:p>
      </dgm:t>
    </dgm:pt>
    <dgm:pt modelId="{DFA30286-C272-4E8D-BC65-1B78424C028C}">
      <dgm:prSet phldrT="[文字]" custT="1">
        <dgm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zh-TW" altLang="en-US" sz="18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將任務依種類宣告為二元與連續變數</a:t>
          </a:r>
        </a:p>
      </dgm:t>
    </dgm:pt>
    <dgm:pt modelId="{915DB7A3-5CBC-40DA-8D32-0759BD34FEC1}" type="parTrans" cxnId="{37CE29B7-2C73-4B78-BC1F-42A8AF54883C}">
      <dgm:prSet/>
      <dgm:spPr/>
      <dgm:t>
        <a:bodyPr/>
        <a:lstStyle/>
        <a:p>
          <a:endParaRPr lang="zh-TW" altLang="en-US"/>
        </a:p>
      </dgm:t>
    </dgm:pt>
    <dgm:pt modelId="{461BC032-348C-4BC9-BDFA-36F8D5B3D545}" type="sibTrans" cxnId="{37CE29B7-2C73-4B78-BC1F-42A8AF54883C}">
      <dgm:prSet/>
      <dgm:spPr/>
      <dgm:t>
        <a:bodyPr/>
        <a:lstStyle/>
        <a:p>
          <a:endParaRPr lang="zh-TW" altLang="en-US" baseline="0" dirty="0">
            <a:latin typeface="Times New Roman" panose="02020603050405020304" pitchFamily="18" charset="0"/>
            <a:ea typeface="標楷體" panose="03000509000000000000" pitchFamily="65" charset="-120"/>
          </a:endParaRPr>
        </a:p>
      </dgm:t>
    </dgm:pt>
    <dgm:pt modelId="{26AACEE0-B66A-431A-AC35-8D3A0522F998}">
      <dgm:prSet phldrT="[文字]" custT="1">
        <dgm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zh-TW" altLang="en-US" sz="18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將排程結果匯入</a:t>
          </a:r>
          <a:r>
            <a:rPr lang="en-US" altLang="zh-TW" sz="18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excel</a:t>
          </a:r>
          <a:endParaRPr lang="zh-TW" altLang="en-US" sz="1800" baseline="0" dirty="0">
            <a:latin typeface="Times New Roman" panose="02020603050405020304" pitchFamily="18" charset="0"/>
            <a:ea typeface="標楷體" panose="03000509000000000000" pitchFamily="65" charset="-120"/>
          </a:endParaRPr>
        </a:p>
      </dgm:t>
    </dgm:pt>
    <dgm:pt modelId="{63F974F2-749B-488D-B1D6-B8CB347DD567}" type="parTrans" cxnId="{23625FFD-1684-4C60-8480-360E70D685B6}">
      <dgm:prSet/>
      <dgm:spPr/>
      <dgm:t>
        <a:bodyPr/>
        <a:lstStyle/>
        <a:p>
          <a:endParaRPr lang="zh-TW" altLang="en-US"/>
        </a:p>
      </dgm:t>
    </dgm:pt>
    <dgm:pt modelId="{64F1D438-A3D4-4628-A2A5-A704F6BB515C}" type="sibTrans" cxnId="{23625FFD-1684-4C60-8480-360E70D685B6}">
      <dgm:prSet/>
      <dgm:spPr/>
      <dgm:t>
        <a:bodyPr/>
        <a:lstStyle/>
        <a:p>
          <a:endParaRPr lang="zh-TW" altLang="en-US"/>
        </a:p>
      </dgm:t>
    </dgm:pt>
    <dgm:pt modelId="{3207E5A2-471B-4FBB-B3BE-2114E7F9CD87}">
      <dgm:prSet custT="1">
        <dgm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zh-TW" altLang="en-US" sz="16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建立線性限制式：記憶體</a:t>
          </a:r>
          <a:r>
            <a:rPr lang="en-US" altLang="en-US" sz="16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/</a:t>
          </a:r>
          <a:r>
            <a:rPr lang="zh-TW" altLang="en-US" sz="16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檔名容量限制、執行時間不重疊</a:t>
          </a:r>
          <a:r>
            <a:rPr lang="en-US" altLang="zh-TW" sz="16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...</a:t>
          </a:r>
          <a:r>
            <a:rPr lang="en-US" altLang="en-US" sz="16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 </a:t>
          </a:r>
        </a:p>
        <a:p>
          <a:r>
            <a:rPr lang="zh-TW" altLang="en-US" sz="16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建立目標式：最大任務數 </a:t>
          </a:r>
          <a:r>
            <a:rPr lang="en-US" altLang="en-US" sz="16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+ </a:t>
          </a:r>
          <a:r>
            <a:rPr lang="zh-TW" altLang="en-US" sz="16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優先提早 </a:t>
          </a:r>
          <a:r>
            <a:rPr lang="en-US" altLang="en-US" sz="16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Download/Remove</a:t>
          </a:r>
          <a:endParaRPr lang="zh-TW" altLang="en-US" sz="1600" baseline="0" dirty="0">
            <a:latin typeface="Times New Roman" panose="02020603050405020304" pitchFamily="18" charset="0"/>
            <a:ea typeface="標楷體" panose="03000509000000000000" pitchFamily="65" charset="-120"/>
          </a:endParaRPr>
        </a:p>
      </dgm:t>
    </dgm:pt>
    <dgm:pt modelId="{325EE748-EFA4-4C69-A973-D18C53207F60}" type="parTrans" cxnId="{DCD79DB2-1A6B-4188-A1D0-0066109CF471}">
      <dgm:prSet/>
      <dgm:spPr/>
      <dgm:t>
        <a:bodyPr/>
        <a:lstStyle/>
        <a:p>
          <a:endParaRPr lang="zh-TW" altLang="en-US"/>
        </a:p>
      </dgm:t>
    </dgm:pt>
    <dgm:pt modelId="{447F83C3-3629-4192-B1C6-C515424EF702}" type="sibTrans" cxnId="{DCD79DB2-1A6B-4188-A1D0-0066109CF471}">
      <dgm:prSet/>
      <dgm:spPr/>
      <dgm:t>
        <a:bodyPr/>
        <a:lstStyle/>
        <a:p>
          <a:endParaRPr lang="zh-TW" altLang="en-US" baseline="0">
            <a:latin typeface="Times New Roman" panose="02020603050405020304" pitchFamily="18" charset="0"/>
            <a:ea typeface="標楷體" panose="03000509000000000000" pitchFamily="65" charset="-120"/>
          </a:endParaRPr>
        </a:p>
      </dgm:t>
    </dgm:pt>
    <dgm:pt modelId="{A48848C7-37DD-4D65-B99C-D66727398AC6}">
      <dgm:prSet custT="1">
        <dgm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zh-TW" altLang="en-US" sz="18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使用</a:t>
          </a:r>
          <a:r>
            <a:rPr lang="en-US" altLang="zh-TW" sz="18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IBM</a:t>
          </a:r>
          <a:r>
            <a:rPr lang="zh-TW" altLang="en-US" sz="18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 </a:t>
          </a:r>
          <a:r>
            <a:rPr lang="en-US" altLang="zh-TW" sz="18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CPLEX</a:t>
          </a:r>
          <a:r>
            <a:rPr lang="zh-TW" altLang="en-US" sz="18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求解</a:t>
          </a:r>
        </a:p>
      </dgm:t>
    </dgm:pt>
    <dgm:pt modelId="{7E2EEC6D-3D4B-4E95-AF2D-E337D6192D57}" type="parTrans" cxnId="{D167E250-E2A5-46A7-8931-278C79F877C3}">
      <dgm:prSet/>
      <dgm:spPr/>
      <dgm:t>
        <a:bodyPr/>
        <a:lstStyle/>
        <a:p>
          <a:endParaRPr lang="zh-TW" altLang="en-US"/>
        </a:p>
      </dgm:t>
    </dgm:pt>
    <dgm:pt modelId="{EB5FF23B-D469-43CD-807F-508A20DCEECE}" type="sibTrans" cxnId="{D167E250-E2A5-46A7-8931-278C79F877C3}">
      <dgm:prSet/>
      <dgm:spPr/>
      <dgm:t>
        <a:bodyPr/>
        <a:lstStyle/>
        <a:p>
          <a:endParaRPr lang="zh-TW" altLang="en-US" baseline="0">
            <a:latin typeface="Times New Roman" panose="02020603050405020304" pitchFamily="18" charset="0"/>
            <a:ea typeface="標楷體" panose="03000509000000000000" pitchFamily="65" charset="-120"/>
          </a:endParaRPr>
        </a:p>
      </dgm:t>
    </dgm:pt>
    <dgm:pt modelId="{933334CE-ED4F-45F4-AA19-751ACE6F5028}">
      <dgm:prSet phldrT="[文字]" custT="1">
        <dgm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zh-TW" altLang="en-US" sz="18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自動從</a:t>
          </a:r>
          <a:r>
            <a:rPr lang="en-US" altLang="zh-TW" sz="18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excel</a:t>
          </a:r>
          <a:r>
            <a:rPr lang="zh-TW" altLang="en-US" sz="18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讀入任務、地面站、日蝕軌道與資源上限等資料列表</a:t>
          </a:r>
        </a:p>
      </dgm:t>
    </dgm:pt>
    <dgm:pt modelId="{00431807-DD2E-46B5-BA69-01990543B2ED}" type="sibTrans" cxnId="{040E8F13-D34D-4E9B-B0FB-A7C3A47E6922}">
      <dgm:prSet/>
      <dgm:spPr/>
      <dgm:t>
        <a:bodyPr/>
        <a:lstStyle/>
        <a:p>
          <a:endParaRPr lang="zh-TW" altLang="en-US" baseline="0">
            <a:latin typeface="Times New Roman" panose="02020603050405020304" pitchFamily="18" charset="0"/>
            <a:ea typeface="標楷體" panose="03000509000000000000" pitchFamily="65" charset="-120"/>
          </a:endParaRPr>
        </a:p>
      </dgm:t>
    </dgm:pt>
    <dgm:pt modelId="{B386F245-DC1D-40C4-85B9-44CBBC79568C}" type="parTrans" cxnId="{040E8F13-D34D-4E9B-B0FB-A7C3A47E6922}">
      <dgm:prSet/>
      <dgm:spPr/>
      <dgm:t>
        <a:bodyPr/>
        <a:lstStyle/>
        <a:p>
          <a:endParaRPr lang="zh-TW" altLang="en-US"/>
        </a:p>
      </dgm:t>
    </dgm:pt>
    <dgm:pt modelId="{933E73B0-5846-4AA1-A658-233AB6D85628}" type="pres">
      <dgm:prSet presAssocID="{7AD0DC84-DCBE-40E2-936A-B6D14367690F}" presName="Name0" presStyleCnt="0">
        <dgm:presLayoutVars>
          <dgm:dir/>
          <dgm:resizeHandles val="exact"/>
        </dgm:presLayoutVars>
      </dgm:prSet>
      <dgm:spPr/>
    </dgm:pt>
    <dgm:pt modelId="{5CFF55FE-2243-475A-9EF6-1CAE88DDD0A3}" type="pres">
      <dgm:prSet presAssocID="{933334CE-ED4F-45F4-AA19-751ACE6F5028}" presName="node" presStyleLbl="node1" presStyleIdx="0" presStyleCnt="5" custScaleX="179105">
        <dgm:presLayoutVars>
          <dgm:bulletEnabled val="1"/>
        </dgm:presLayoutVars>
      </dgm:prSet>
      <dgm:spPr/>
    </dgm:pt>
    <dgm:pt modelId="{83BD1F54-F53E-4307-B920-717F23833AB2}" type="pres">
      <dgm:prSet presAssocID="{00431807-DD2E-46B5-BA69-01990543B2ED}" presName="sibTrans" presStyleLbl="sibTrans2D1" presStyleIdx="0" presStyleCnt="4"/>
      <dgm:spPr/>
    </dgm:pt>
    <dgm:pt modelId="{7830E7CA-CD7F-498D-8D46-677E4E98E914}" type="pres">
      <dgm:prSet presAssocID="{00431807-DD2E-46B5-BA69-01990543B2ED}" presName="connectorText" presStyleLbl="sibTrans2D1" presStyleIdx="0" presStyleCnt="4"/>
      <dgm:spPr/>
    </dgm:pt>
    <dgm:pt modelId="{C3D32A4A-F911-4D4D-BD2E-F6713EC0B26A}" type="pres">
      <dgm:prSet presAssocID="{DFA30286-C272-4E8D-BC65-1B78424C028C}" presName="node" presStyleLbl="node1" presStyleIdx="1" presStyleCnt="5" custScaleX="132100" custLinFactNeighborX="-2823" custLinFactNeighborY="-68931">
        <dgm:presLayoutVars>
          <dgm:bulletEnabled val="1"/>
        </dgm:presLayoutVars>
      </dgm:prSet>
      <dgm:spPr/>
    </dgm:pt>
    <dgm:pt modelId="{4E4D70C5-95C6-423C-BA19-218D52C72D81}" type="pres">
      <dgm:prSet presAssocID="{461BC032-348C-4BC9-BDFA-36F8D5B3D545}" presName="sibTrans" presStyleLbl="sibTrans2D1" presStyleIdx="1" presStyleCnt="4"/>
      <dgm:spPr/>
    </dgm:pt>
    <dgm:pt modelId="{A1CA9F73-7E46-4088-B4EE-BADE9DD2FE77}" type="pres">
      <dgm:prSet presAssocID="{461BC032-348C-4BC9-BDFA-36F8D5B3D545}" presName="connectorText" presStyleLbl="sibTrans2D1" presStyleIdx="1" presStyleCnt="4"/>
      <dgm:spPr/>
    </dgm:pt>
    <dgm:pt modelId="{E2AEED15-EAD2-44FC-A918-886BB5B2880D}" type="pres">
      <dgm:prSet presAssocID="{3207E5A2-471B-4FBB-B3BE-2114E7F9CD87}" presName="node" presStyleLbl="node1" presStyleIdx="2" presStyleCnt="5" custScaleX="237852" custLinFactNeighborX="1945" custLinFactNeighborY="-68654">
        <dgm:presLayoutVars>
          <dgm:bulletEnabled val="1"/>
        </dgm:presLayoutVars>
      </dgm:prSet>
      <dgm:spPr/>
    </dgm:pt>
    <dgm:pt modelId="{BABC800B-A672-4215-80C0-9EA3E77B986C}" type="pres">
      <dgm:prSet presAssocID="{447F83C3-3629-4192-B1C6-C515424EF702}" presName="sibTrans" presStyleLbl="sibTrans2D1" presStyleIdx="2" presStyleCnt="4"/>
      <dgm:spPr/>
    </dgm:pt>
    <dgm:pt modelId="{B56F5640-B7F0-4B05-BAD7-7019A5D5622B}" type="pres">
      <dgm:prSet presAssocID="{447F83C3-3629-4192-B1C6-C515424EF702}" presName="connectorText" presStyleLbl="sibTrans2D1" presStyleIdx="2" presStyleCnt="4"/>
      <dgm:spPr/>
    </dgm:pt>
    <dgm:pt modelId="{A5B6FE68-D0D2-4D00-B7BF-8D94A7130EF7}" type="pres">
      <dgm:prSet presAssocID="{A48848C7-37DD-4D65-B99C-D66727398AC6}" presName="node" presStyleLbl="node1" presStyleIdx="3" presStyleCnt="5" custLinFactNeighborX="-602" custLinFactNeighborY="-70384">
        <dgm:presLayoutVars>
          <dgm:bulletEnabled val="1"/>
        </dgm:presLayoutVars>
      </dgm:prSet>
      <dgm:spPr/>
    </dgm:pt>
    <dgm:pt modelId="{6DE9FEE6-BC69-4F2D-B20C-080A54A4199F}" type="pres">
      <dgm:prSet presAssocID="{EB5FF23B-D469-43CD-807F-508A20DCEECE}" presName="sibTrans" presStyleLbl="sibTrans2D1" presStyleIdx="3" presStyleCnt="4"/>
      <dgm:spPr/>
    </dgm:pt>
    <dgm:pt modelId="{A44DB33E-36C5-4AE6-B773-BDB79416121B}" type="pres">
      <dgm:prSet presAssocID="{EB5FF23B-D469-43CD-807F-508A20DCEECE}" presName="connectorText" presStyleLbl="sibTrans2D1" presStyleIdx="3" presStyleCnt="4"/>
      <dgm:spPr/>
    </dgm:pt>
    <dgm:pt modelId="{84D70440-C93B-4A23-9A20-E4B0FC22B0B8}" type="pres">
      <dgm:prSet presAssocID="{26AACEE0-B66A-431A-AC35-8D3A0522F998}" presName="node" presStyleLbl="node1" presStyleIdx="4" presStyleCnt="5" custScaleY="79627">
        <dgm:presLayoutVars>
          <dgm:bulletEnabled val="1"/>
        </dgm:presLayoutVars>
      </dgm:prSet>
      <dgm:spPr/>
    </dgm:pt>
  </dgm:ptLst>
  <dgm:cxnLst>
    <dgm:cxn modelId="{421DBC02-3353-401D-A64A-8B7389DFC777}" type="presOf" srcId="{A48848C7-37DD-4D65-B99C-D66727398AC6}" destId="{A5B6FE68-D0D2-4D00-B7BF-8D94A7130EF7}" srcOrd="0" destOrd="0" presId="urn:microsoft.com/office/officeart/2005/8/layout/process1"/>
    <dgm:cxn modelId="{2CD3690C-2783-4B54-AAF5-09C7D79F67C3}" type="presOf" srcId="{447F83C3-3629-4192-B1C6-C515424EF702}" destId="{B56F5640-B7F0-4B05-BAD7-7019A5D5622B}" srcOrd="1" destOrd="0" presId="urn:microsoft.com/office/officeart/2005/8/layout/process1"/>
    <dgm:cxn modelId="{7DD3CF0E-3CC9-4319-9D8D-E0AA2297ECC7}" type="presOf" srcId="{933334CE-ED4F-45F4-AA19-751ACE6F5028}" destId="{5CFF55FE-2243-475A-9EF6-1CAE88DDD0A3}" srcOrd="0" destOrd="0" presId="urn:microsoft.com/office/officeart/2005/8/layout/process1"/>
    <dgm:cxn modelId="{84BB4F11-4AFE-4481-BB2D-52CBAD7C899D}" type="presOf" srcId="{3207E5A2-471B-4FBB-B3BE-2114E7F9CD87}" destId="{E2AEED15-EAD2-44FC-A918-886BB5B2880D}" srcOrd="0" destOrd="0" presId="urn:microsoft.com/office/officeart/2005/8/layout/process1"/>
    <dgm:cxn modelId="{040E8F13-D34D-4E9B-B0FB-A7C3A47E6922}" srcId="{7AD0DC84-DCBE-40E2-936A-B6D14367690F}" destId="{933334CE-ED4F-45F4-AA19-751ACE6F5028}" srcOrd="0" destOrd="0" parTransId="{B386F245-DC1D-40C4-85B9-44CBBC79568C}" sibTransId="{00431807-DD2E-46B5-BA69-01990543B2ED}"/>
    <dgm:cxn modelId="{0E20E720-86F8-4DEB-B9D6-C246C80D40E6}" type="presOf" srcId="{00431807-DD2E-46B5-BA69-01990543B2ED}" destId="{7830E7CA-CD7F-498D-8D46-677E4E98E914}" srcOrd="1" destOrd="0" presId="urn:microsoft.com/office/officeart/2005/8/layout/process1"/>
    <dgm:cxn modelId="{D167E250-E2A5-46A7-8931-278C79F877C3}" srcId="{7AD0DC84-DCBE-40E2-936A-B6D14367690F}" destId="{A48848C7-37DD-4D65-B99C-D66727398AC6}" srcOrd="3" destOrd="0" parTransId="{7E2EEC6D-3D4B-4E95-AF2D-E337D6192D57}" sibTransId="{EB5FF23B-D469-43CD-807F-508A20DCEECE}"/>
    <dgm:cxn modelId="{48628574-1E46-4AD6-8422-C2758B071E45}" type="presOf" srcId="{7AD0DC84-DCBE-40E2-936A-B6D14367690F}" destId="{933E73B0-5846-4AA1-A658-233AB6D85628}" srcOrd="0" destOrd="0" presId="urn:microsoft.com/office/officeart/2005/8/layout/process1"/>
    <dgm:cxn modelId="{0A61EC92-3872-47FD-AE7F-788D9B1F97A9}" type="presOf" srcId="{461BC032-348C-4BC9-BDFA-36F8D5B3D545}" destId="{4E4D70C5-95C6-423C-BA19-218D52C72D81}" srcOrd="0" destOrd="0" presId="urn:microsoft.com/office/officeart/2005/8/layout/process1"/>
    <dgm:cxn modelId="{CD6EC5A9-79A0-413B-9F2F-B9696AA7774E}" type="presOf" srcId="{EB5FF23B-D469-43CD-807F-508A20DCEECE}" destId="{6DE9FEE6-BC69-4F2D-B20C-080A54A4199F}" srcOrd="0" destOrd="0" presId="urn:microsoft.com/office/officeart/2005/8/layout/process1"/>
    <dgm:cxn modelId="{1FD6C6B1-9CDB-4B7C-A61A-EEA92935F102}" type="presOf" srcId="{00431807-DD2E-46B5-BA69-01990543B2ED}" destId="{83BD1F54-F53E-4307-B920-717F23833AB2}" srcOrd="0" destOrd="0" presId="urn:microsoft.com/office/officeart/2005/8/layout/process1"/>
    <dgm:cxn modelId="{DCD79DB2-1A6B-4188-A1D0-0066109CF471}" srcId="{7AD0DC84-DCBE-40E2-936A-B6D14367690F}" destId="{3207E5A2-471B-4FBB-B3BE-2114E7F9CD87}" srcOrd="2" destOrd="0" parTransId="{325EE748-EFA4-4C69-A973-D18C53207F60}" sibTransId="{447F83C3-3629-4192-B1C6-C515424EF702}"/>
    <dgm:cxn modelId="{37CE29B7-2C73-4B78-BC1F-42A8AF54883C}" srcId="{7AD0DC84-DCBE-40E2-936A-B6D14367690F}" destId="{DFA30286-C272-4E8D-BC65-1B78424C028C}" srcOrd="1" destOrd="0" parTransId="{915DB7A3-5CBC-40DA-8D32-0759BD34FEC1}" sibTransId="{461BC032-348C-4BC9-BDFA-36F8D5B3D545}"/>
    <dgm:cxn modelId="{C8CE39BA-1316-45BE-A766-0B5FF718D264}" type="presOf" srcId="{EB5FF23B-D469-43CD-807F-508A20DCEECE}" destId="{A44DB33E-36C5-4AE6-B773-BDB79416121B}" srcOrd="1" destOrd="0" presId="urn:microsoft.com/office/officeart/2005/8/layout/process1"/>
    <dgm:cxn modelId="{F41D0BDA-5C2A-4D96-AA62-65FDEB74B594}" type="presOf" srcId="{447F83C3-3629-4192-B1C6-C515424EF702}" destId="{BABC800B-A672-4215-80C0-9EA3E77B986C}" srcOrd="0" destOrd="0" presId="urn:microsoft.com/office/officeart/2005/8/layout/process1"/>
    <dgm:cxn modelId="{404483E2-2108-4EED-9F2C-F08C0800B5D0}" type="presOf" srcId="{461BC032-348C-4BC9-BDFA-36F8D5B3D545}" destId="{A1CA9F73-7E46-4088-B4EE-BADE9DD2FE77}" srcOrd="1" destOrd="0" presId="urn:microsoft.com/office/officeart/2005/8/layout/process1"/>
    <dgm:cxn modelId="{4EA05BF3-B351-4E69-90FE-1E6D5E22E320}" type="presOf" srcId="{DFA30286-C272-4E8D-BC65-1B78424C028C}" destId="{C3D32A4A-F911-4D4D-BD2E-F6713EC0B26A}" srcOrd="0" destOrd="0" presId="urn:microsoft.com/office/officeart/2005/8/layout/process1"/>
    <dgm:cxn modelId="{CDC8D5F9-A0DF-45D5-A3BF-D5DBF9B2752C}" type="presOf" srcId="{26AACEE0-B66A-431A-AC35-8D3A0522F998}" destId="{84D70440-C93B-4A23-9A20-E4B0FC22B0B8}" srcOrd="0" destOrd="0" presId="urn:microsoft.com/office/officeart/2005/8/layout/process1"/>
    <dgm:cxn modelId="{23625FFD-1684-4C60-8480-360E70D685B6}" srcId="{7AD0DC84-DCBE-40E2-936A-B6D14367690F}" destId="{26AACEE0-B66A-431A-AC35-8D3A0522F998}" srcOrd="4" destOrd="0" parTransId="{63F974F2-749B-488D-B1D6-B8CB347DD567}" sibTransId="{64F1D438-A3D4-4628-A2A5-A704F6BB515C}"/>
    <dgm:cxn modelId="{5D728A6C-8D2D-4BBB-8D75-759D9DE7C68E}" type="presParOf" srcId="{933E73B0-5846-4AA1-A658-233AB6D85628}" destId="{5CFF55FE-2243-475A-9EF6-1CAE88DDD0A3}" srcOrd="0" destOrd="0" presId="urn:microsoft.com/office/officeart/2005/8/layout/process1"/>
    <dgm:cxn modelId="{6E523B6C-326C-4983-A7A0-49554BDFE403}" type="presParOf" srcId="{933E73B0-5846-4AA1-A658-233AB6D85628}" destId="{83BD1F54-F53E-4307-B920-717F23833AB2}" srcOrd="1" destOrd="0" presId="urn:microsoft.com/office/officeart/2005/8/layout/process1"/>
    <dgm:cxn modelId="{231D05BC-045B-4E65-82C1-30A37050B3B9}" type="presParOf" srcId="{83BD1F54-F53E-4307-B920-717F23833AB2}" destId="{7830E7CA-CD7F-498D-8D46-677E4E98E914}" srcOrd="0" destOrd="0" presId="urn:microsoft.com/office/officeart/2005/8/layout/process1"/>
    <dgm:cxn modelId="{7F6C9404-11D2-4135-B933-7C13B72121BA}" type="presParOf" srcId="{933E73B0-5846-4AA1-A658-233AB6D85628}" destId="{C3D32A4A-F911-4D4D-BD2E-F6713EC0B26A}" srcOrd="2" destOrd="0" presId="urn:microsoft.com/office/officeart/2005/8/layout/process1"/>
    <dgm:cxn modelId="{E1C68E7D-B4B2-42FD-97FA-4AB7E9EC33E4}" type="presParOf" srcId="{933E73B0-5846-4AA1-A658-233AB6D85628}" destId="{4E4D70C5-95C6-423C-BA19-218D52C72D81}" srcOrd="3" destOrd="0" presId="urn:microsoft.com/office/officeart/2005/8/layout/process1"/>
    <dgm:cxn modelId="{1D6ECD16-1A70-4B5D-A33C-9D94D12629B2}" type="presParOf" srcId="{4E4D70C5-95C6-423C-BA19-218D52C72D81}" destId="{A1CA9F73-7E46-4088-B4EE-BADE9DD2FE77}" srcOrd="0" destOrd="0" presId="urn:microsoft.com/office/officeart/2005/8/layout/process1"/>
    <dgm:cxn modelId="{C2BB9C14-EF68-4120-9FDC-6663BF386085}" type="presParOf" srcId="{933E73B0-5846-4AA1-A658-233AB6D85628}" destId="{E2AEED15-EAD2-44FC-A918-886BB5B2880D}" srcOrd="4" destOrd="0" presId="urn:microsoft.com/office/officeart/2005/8/layout/process1"/>
    <dgm:cxn modelId="{7C4E6BDC-4B33-4B88-8C04-09FF3E58F787}" type="presParOf" srcId="{933E73B0-5846-4AA1-A658-233AB6D85628}" destId="{BABC800B-A672-4215-80C0-9EA3E77B986C}" srcOrd="5" destOrd="0" presId="urn:microsoft.com/office/officeart/2005/8/layout/process1"/>
    <dgm:cxn modelId="{206DAAA6-8A88-44A5-8900-BBEA906D1357}" type="presParOf" srcId="{BABC800B-A672-4215-80C0-9EA3E77B986C}" destId="{B56F5640-B7F0-4B05-BAD7-7019A5D5622B}" srcOrd="0" destOrd="0" presId="urn:microsoft.com/office/officeart/2005/8/layout/process1"/>
    <dgm:cxn modelId="{FA0C1354-4D8E-4C2D-92C6-29E86728786D}" type="presParOf" srcId="{933E73B0-5846-4AA1-A658-233AB6D85628}" destId="{A5B6FE68-D0D2-4D00-B7BF-8D94A7130EF7}" srcOrd="6" destOrd="0" presId="urn:microsoft.com/office/officeart/2005/8/layout/process1"/>
    <dgm:cxn modelId="{81EDE6DA-BF30-4D3A-A83C-776CA4DBF0B3}" type="presParOf" srcId="{933E73B0-5846-4AA1-A658-233AB6D85628}" destId="{6DE9FEE6-BC69-4F2D-B20C-080A54A4199F}" srcOrd="7" destOrd="0" presId="urn:microsoft.com/office/officeart/2005/8/layout/process1"/>
    <dgm:cxn modelId="{6F446AE9-7313-44EB-86FD-7C05BEFC065E}" type="presParOf" srcId="{6DE9FEE6-BC69-4F2D-B20C-080A54A4199F}" destId="{A44DB33E-36C5-4AE6-B773-BDB79416121B}" srcOrd="0" destOrd="0" presId="urn:microsoft.com/office/officeart/2005/8/layout/process1"/>
    <dgm:cxn modelId="{F7FA9F7E-4530-4987-A40A-52A305A762AC}" type="presParOf" srcId="{933E73B0-5846-4AA1-A658-233AB6D85628}" destId="{84D70440-C93B-4A23-9A20-E4B0FC22B0B8}" srcOrd="8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AD0DC84-DCBE-40E2-936A-B6D14367690F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TW" altLang="en-US"/>
        </a:p>
      </dgm:t>
    </dgm:pt>
    <dgm:pt modelId="{DFA30286-C272-4E8D-BC65-1B78424C028C}">
      <dgm:prSet phldrT="[文字]" custT="1">
        <dgm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zh-TW" altLang="en-US" sz="18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將任務依種類宣告為區間變數</a:t>
          </a:r>
        </a:p>
      </dgm:t>
    </dgm:pt>
    <dgm:pt modelId="{915DB7A3-5CBC-40DA-8D32-0759BD34FEC1}" type="parTrans" cxnId="{37CE29B7-2C73-4B78-BC1F-42A8AF54883C}">
      <dgm:prSet/>
      <dgm:spPr/>
      <dgm:t>
        <a:bodyPr/>
        <a:lstStyle/>
        <a:p>
          <a:endParaRPr lang="zh-TW" altLang="en-US" baseline="0">
            <a:latin typeface="Times New Roman" panose="02020603050405020304" pitchFamily="18" charset="0"/>
            <a:ea typeface="標楷體" panose="03000509000000000000" pitchFamily="65" charset="-120"/>
          </a:endParaRPr>
        </a:p>
      </dgm:t>
    </dgm:pt>
    <dgm:pt modelId="{461BC032-348C-4BC9-BDFA-36F8D5B3D545}" type="sibTrans" cxnId="{37CE29B7-2C73-4B78-BC1F-42A8AF54883C}">
      <dgm:prSet/>
      <dgm:spPr/>
      <dgm:t>
        <a:bodyPr/>
        <a:lstStyle/>
        <a:p>
          <a:endParaRPr lang="zh-TW" altLang="en-US" baseline="0" dirty="0">
            <a:latin typeface="Times New Roman" panose="02020603050405020304" pitchFamily="18" charset="0"/>
            <a:ea typeface="標楷體" panose="03000509000000000000" pitchFamily="65" charset="-120"/>
          </a:endParaRPr>
        </a:p>
      </dgm:t>
    </dgm:pt>
    <dgm:pt modelId="{26AACEE0-B66A-431A-AC35-8D3A0522F998}">
      <dgm:prSet phldrT="[文字]" custT="1">
        <dgm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zh-TW" altLang="en-US" sz="18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將數學解轉換為排程結果匯入</a:t>
          </a:r>
          <a:r>
            <a:rPr lang="en-US" altLang="zh-TW" sz="18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excel</a:t>
          </a:r>
          <a:endParaRPr lang="zh-TW" altLang="en-US" sz="1800" baseline="0" dirty="0">
            <a:latin typeface="Times New Roman" panose="02020603050405020304" pitchFamily="18" charset="0"/>
            <a:ea typeface="標楷體" panose="03000509000000000000" pitchFamily="65" charset="-120"/>
          </a:endParaRPr>
        </a:p>
      </dgm:t>
    </dgm:pt>
    <dgm:pt modelId="{63F974F2-749B-488D-B1D6-B8CB347DD567}" type="parTrans" cxnId="{23625FFD-1684-4C60-8480-360E70D685B6}">
      <dgm:prSet/>
      <dgm:spPr/>
      <dgm:t>
        <a:bodyPr/>
        <a:lstStyle/>
        <a:p>
          <a:endParaRPr lang="zh-TW" altLang="en-US" baseline="0">
            <a:latin typeface="Times New Roman" panose="02020603050405020304" pitchFamily="18" charset="0"/>
            <a:ea typeface="標楷體" panose="03000509000000000000" pitchFamily="65" charset="-120"/>
          </a:endParaRPr>
        </a:p>
      </dgm:t>
    </dgm:pt>
    <dgm:pt modelId="{64F1D438-A3D4-4628-A2A5-A704F6BB515C}" type="sibTrans" cxnId="{23625FFD-1684-4C60-8480-360E70D685B6}">
      <dgm:prSet/>
      <dgm:spPr/>
      <dgm:t>
        <a:bodyPr/>
        <a:lstStyle/>
        <a:p>
          <a:endParaRPr lang="zh-TW" altLang="en-US" baseline="0">
            <a:latin typeface="Times New Roman" panose="02020603050405020304" pitchFamily="18" charset="0"/>
            <a:ea typeface="標楷體" panose="03000509000000000000" pitchFamily="65" charset="-120"/>
          </a:endParaRPr>
        </a:p>
      </dgm:t>
    </dgm:pt>
    <dgm:pt modelId="{3207E5A2-471B-4FBB-B3BE-2114E7F9CD87}">
      <dgm:prSet custT="1">
        <dgm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zh-TW" altLang="en-US" sz="16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將</a:t>
          </a:r>
          <a:r>
            <a:rPr lang="en-US" altLang="zh-TW" sz="16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MILP</a:t>
          </a:r>
          <a:r>
            <a:rPr lang="zh-TW" altLang="en-US" sz="16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模型之限制式轉換為全域限制式</a:t>
          </a:r>
          <a:endParaRPr lang="en-US" altLang="en-US" sz="1600" baseline="0" dirty="0">
            <a:latin typeface="Times New Roman" panose="02020603050405020304" pitchFamily="18" charset="0"/>
            <a:ea typeface="標楷體" panose="03000509000000000000" pitchFamily="65" charset="-120"/>
          </a:endParaRPr>
        </a:p>
        <a:p>
          <a:r>
            <a:rPr lang="zh-TW" altLang="en-US" sz="16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建立目標式：最大任務數 </a:t>
          </a:r>
          <a:r>
            <a:rPr lang="en-US" altLang="en-US" sz="16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&amp; </a:t>
          </a:r>
          <a:r>
            <a:rPr lang="zh-TW" altLang="en-US" sz="16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最小化任務開始時間</a:t>
          </a:r>
        </a:p>
      </dgm:t>
    </dgm:pt>
    <dgm:pt modelId="{325EE748-EFA4-4C69-A973-D18C53207F60}" type="parTrans" cxnId="{DCD79DB2-1A6B-4188-A1D0-0066109CF471}">
      <dgm:prSet/>
      <dgm:spPr/>
      <dgm:t>
        <a:bodyPr/>
        <a:lstStyle/>
        <a:p>
          <a:endParaRPr lang="zh-TW" altLang="en-US" baseline="0">
            <a:latin typeface="Times New Roman" panose="02020603050405020304" pitchFamily="18" charset="0"/>
            <a:ea typeface="標楷體" panose="03000509000000000000" pitchFamily="65" charset="-120"/>
          </a:endParaRPr>
        </a:p>
      </dgm:t>
    </dgm:pt>
    <dgm:pt modelId="{447F83C3-3629-4192-B1C6-C515424EF702}" type="sibTrans" cxnId="{DCD79DB2-1A6B-4188-A1D0-0066109CF471}">
      <dgm:prSet/>
      <dgm:spPr/>
      <dgm:t>
        <a:bodyPr/>
        <a:lstStyle/>
        <a:p>
          <a:endParaRPr lang="zh-TW" altLang="en-US" baseline="0">
            <a:latin typeface="Times New Roman" panose="02020603050405020304" pitchFamily="18" charset="0"/>
            <a:ea typeface="標楷體" panose="03000509000000000000" pitchFamily="65" charset="-120"/>
          </a:endParaRPr>
        </a:p>
      </dgm:t>
    </dgm:pt>
    <dgm:pt modelId="{A48848C7-37DD-4D65-B99C-D66727398AC6}">
      <dgm:prSet custT="1">
        <dgm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zh-TW" altLang="en-US" sz="18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使用</a:t>
          </a:r>
          <a:r>
            <a:rPr lang="en-US" altLang="zh-TW" sz="18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IBM</a:t>
          </a:r>
          <a:r>
            <a:rPr lang="zh-TW" altLang="en-US" sz="18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 </a:t>
          </a:r>
          <a:r>
            <a:rPr lang="en-US" altLang="zh-TW" sz="18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CP</a:t>
          </a:r>
          <a:r>
            <a:rPr lang="zh-TW" altLang="en-US" sz="18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 </a:t>
          </a:r>
          <a:r>
            <a:rPr lang="en-US" altLang="zh-TW" sz="18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Optimizer</a:t>
          </a:r>
          <a:r>
            <a:rPr lang="zh-TW" altLang="en-US" sz="18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求解</a:t>
          </a:r>
        </a:p>
      </dgm:t>
    </dgm:pt>
    <dgm:pt modelId="{7E2EEC6D-3D4B-4E95-AF2D-E337D6192D57}" type="parTrans" cxnId="{D167E250-E2A5-46A7-8931-278C79F877C3}">
      <dgm:prSet/>
      <dgm:spPr/>
      <dgm:t>
        <a:bodyPr/>
        <a:lstStyle/>
        <a:p>
          <a:endParaRPr lang="zh-TW" altLang="en-US" baseline="0">
            <a:latin typeface="Times New Roman" panose="02020603050405020304" pitchFamily="18" charset="0"/>
            <a:ea typeface="標楷體" panose="03000509000000000000" pitchFamily="65" charset="-120"/>
          </a:endParaRPr>
        </a:p>
      </dgm:t>
    </dgm:pt>
    <dgm:pt modelId="{EB5FF23B-D469-43CD-807F-508A20DCEECE}" type="sibTrans" cxnId="{D167E250-E2A5-46A7-8931-278C79F877C3}">
      <dgm:prSet/>
      <dgm:spPr/>
      <dgm:t>
        <a:bodyPr/>
        <a:lstStyle/>
        <a:p>
          <a:endParaRPr lang="zh-TW" altLang="en-US" baseline="0">
            <a:latin typeface="Times New Roman" panose="02020603050405020304" pitchFamily="18" charset="0"/>
            <a:ea typeface="標楷體" panose="03000509000000000000" pitchFamily="65" charset="-120"/>
          </a:endParaRPr>
        </a:p>
      </dgm:t>
    </dgm:pt>
    <dgm:pt modelId="{933334CE-ED4F-45F4-AA19-751ACE6F5028}">
      <dgm:prSet phldrT="[文字]" custT="1">
        <dgm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zh-TW" altLang="en-US" sz="18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自動從</a:t>
          </a:r>
          <a:r>
            <a:rPr lang="en-US" altLang="zh-TW" sz="18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excel</a:t>
          </a:r>
          <a:r>
            <a:rPr lang="zh-TW" altLang="en-US" sz="18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讀入任務、地面站日蝕軌道與資源上限等資料列表</a:t>
          </a:r>
        </a:p>
      </dgm:t>
    </dgm:pt>
    <dgm:pt modelId="{00431807-DD2E-46B5-BA69-01990543B2ED}" type="sibTrans" cxnId="{040E8F13-D34D-4E9B-B0FB-A7C3A47E6922}">
      <dgm:prSet/>
      <dgm:spPr/>
      <dgm:t>
        <a:bodyPr/>
        <a:lstStyle/>
        <a:p>
          <a:endParaRPr lang="zh-TW" altLang="en-US" baseline="0">
            <a:latin typeface="Times New Roman" panose="02020603050405020304" pitchFamily="18" charset="0"/>
            <a:ea typeface="標楷體" panose="03000509000000000000" pitchFamily="65" charset="-120"/>
          </a:endParaRPr>
        </a:p>
      </dgm:t>
    </dgm:pt>
    <dgm:pt modelId="{B386F245-DC1D-40C4-85B9-44CBBC79568C}" type="parTrans" cxnId="{040E8F13-D34D-4E9B-B0FB-A7C3A47E6922}">
      <dgm:prSet/>
      <dgm:spPr/>
      <dgm:t>
        <a:bodyPr/>
        <a:lstStyle/>
        <a:p>
          <a:endParaRPr lang="zh-TW" altLang="en-US" baseline="0">
            <a:latin typeface="Times New Roman" panose="02020603050405020304" pitchFamily="18" charset="0"/>
            <a:ea typeface="標楷體" panose="03000509000000000000" pitchFamily="65" charset="-120"/>
          </a:endParaRPr>
        </a:p>
      </dgm:t>
    </dgm:pt>
    <dgm:pt modelId="{933E73B0-5846-4AA1-A658-233AB6D85628}" type="pres">
      <dgm:prSet presAssocID="{7AD0DC84-DCBE-40E2-936A-B6D14367690F}" presName="Name0" presStyleCnt="0">
        <dgm:presLayoutVars>
          <dgm:dir/>
          <dgm:resizeHandles val="exact"/>
        </dgm:presLayoutVars>
      </dgm:prSet>
      <dgm:spPr/>
    </dgm:pt>
    <dgm:pt modelId="{5CFF55FE-2243-475A-9EF6-1CAE88DDD0A3}" type="pres">
      <dgm:prSet presAssocID="{933334CE-ED4F-45F4-AA19-751ACE6F5028}" presName="node" presStyleLbl="node1" presStyleIdx="0" presStyleCnt="5" custScaleX="186454" custScaleY="115860" custLinFactNeighborX="-1466" custLinFactNeighborY="8194">
        <dgm:presLayoutVars>
          <dgm:bulletEnabled val="1"/>
        </dgm:presLayoutVars>
      </dgm:prSet>
      <dgm:spPr/>
    </dgm:pt>
    <dgm:pt modelId="{83BD1F54-F53E-4307-B920-717F23833AB2}" type="pres">
      <dgm:prSet presAssocID="{00431807-DD2E-46B5-BA69-01990543B2ED}" presName="sibTrans" presStyleLbl="sibTrans2D1" presStyleIdx="0" presStyleCnt="4"/>
      <dgm:spPr/>
    </dgm:pt>
    <dgm:pt modelId="{7830E7CA-CD7F-498D-8D46-677E4E98E914}" type="pres">
      <dgm:prSet presAssocID="{00431807-DD2E-46B5-BA69-01990543B2ED}" presName="connectorText" presStyleLbl="sibTrans2D1" presStyleIdx="0" presStyleCnt="4"/>
      <dgm:spPr/>
    </dgm:pt>
    <dgm:pt modelId="{C3D32A4A-F911-4D4D-BD2E-F6713EC0B26A}" type="pres">
      <dgm:prSet presAssocID="{DFA30286-C272-4E8D-BC65-1B78424C028C}" presName="node" presStyleLbl="node1" presStyleIdx="1" presStyleCnt="5" custScaleX="131971" custLinFactNeighborX="-956" custLinFactNeighborY="56138">
        <dgm:presLayoutVars>
          <dgm:bulletEnabled val="1"/>
        </dgm:presLayoutVars>
      </dgm:prSet>
      <dgm:spPr/>
    </dgm:pt>
    <dgm:pt modelId="{4E4D70C5-95C6-423C-BA19-218D52C72D81}" type="pres">
      <dgm:prSet presAssocID="{461BC032-348C-4BC9-BDFA-36F8D5B3D545}" presName="sibTrans" presStyleLbl="sibTrans2D1" presStyleIdx="1" presStyleCnt="4"/>
      <dgm:spPr/>
    </dgm:pt>
    <dgm:pt modelId="{A1CA9F73-7E46-4088-B4EE-BADE9DD2FE77}" type="pres">
      <dgm:prSet presAssocID="{461BC032-348C-4BC9-BDFA-36F8D5B3D545}" presName="connectorText" presStyleLbl="sibTrans2D1" presStyleIdx="1" presStyleCnt="4"/>
      <dgm:spPr/>
    </dgm:pt>
    <dgm:pt modelId="{E2AEED15-EAD2-44FC-A918-886BB5B2880D}" type="pres">
      <dgm:prSet presAssocID="{3207E5A2-471B-4FBB-B3BE-2114E7F9CD87}" presName="node" presStyleLbl="node1" presStyleIdx="2" presStyleCnt="5" custScaleX="252603" custLinFactNeighborX="-14" custLinFactNeighborY="58601">
        <dgm:presLayoutVars>
          <dgm:bulletEnabled val="1"/>
        </dgm:presLayoutVars>
      </dgm:prSet>
      <dgm:spPr/>
    </dgm:pt>
    <dgm:pt modelId="{BABC800B-A672-4215-80C0-9EA3E77B986C}" type="pres">
      <dgm:prSet presAssocID="{447F83C3-3629-4192-B1C6-C515424EF702}" presName="sibTrans" presStyleLbl="sibTrans2D1" presStyleIdx="2" presStyleCnt="4"/>
      <dgm:spPr/>
    </dgm:pt>
    <dgm:pt modelId="{B56F5640-B7F0-4B05-BAD7-7019A5D5622B}" type="pres">
      <dgm:prSet presAssocID="{447F83C3-3629-4192-B1C6-C515424EF702}" presName="connectorText" presStyleLbl="sibTrans2D1" presStyleIdx="2" presStyleCnt="4"/>
      <dgm:spPr/>
    </dgm:pt>
    <dgm:pt modelId="{A5B6FE68-D0D2-4D00-B7BF-8D94A7130EF7}" type="pres">
      <dgm:prSet presAssocID="{A48848C7-37DD-4D65-B99C-D66727398AC6}" presName="node" presStyleLbl="node1" presStyleIdx="3" presStyleCnt="5" custScaleX="133447" custScaleY="97952" custLinFactNeighborX="8045" custLinFactNeighborY="57600">
        <dgm:presLayoutVars>
          <dgm:bulletEnabled val="1"/>
        </dgm:presLayoutVars>
      </dgm:prSet>
      <dgm:spPr/>
    </dgm:pt>
    <dgm:pt modelId="{6DE9FEE6-BC69-4F2D-B20C-080A54A4199F}" type="pres">
      <dgm:prSet presAssocID="{EB5FF23B-D469-43CD-807F-508A20DCEECE}" presName="sibTrans" presStyleLbl="sibTrans2D1" presStyleIdx="3" presStyleCnt="4"/>
      <dgm:spPr/>
    </dgm:pt>
    <dgm:pt modelId="{A44DB33E-36C5-4AE6-B773-BDB79416121B}" type="pres">
      <dgm:prSet presAssocID="{EB5FF23B-D469-43CD-807F-508A20DCEECE}" presName="connectorText" presStyleLbl="sibTrans2D1" presStyleIdx="3" presStyleCnt="4"/>
      <dgm:spPr/>
    </dgm:pt>
    <dgm:pt modelId="{84D70440-C93B-4A23-9A20-E4B0FC22B0B8}" type="pres">
      <dgm:prSet presAssocID="{26AACEE0-B66A-431A-AC35-8D3A0522F998}" presName="node" presStyleLbl="node1" presStyleIdx="4" presStyleCnt="5" custScaleX="108225" custLinFactNeighborX="1394" custLinFactNeighborY="8624">
        <dgm:presLayoutVars>
          <dgm:bulletEnabled val="1"/>
        </dgm:presLayoutVars>
      </dgm:prSet>
      <dgm:spPr/>
    </dgm:pt>
  </dgm:ptLst>
  <dgm:cxnLst>
    <dgm:cxn modelId="{421DBC02-3353-401D-A64A-8B7389DFC777}" type="presOf" srcId="{A48848C7-37DD-4D65-B99C-D66727398AC6}" destId="{A5B6FE68-D0D2-4D00-B7BF-8D94A7130EF7}" srcOrd="0" destOrd="0" presId="urn:microsoft.com/office/officeart/2005/8/layout/process1"/>
    <dgm:cxn modelId="{2CD3690C-2783-4B54-AAF5-09C7D79F67C3}" type="presOf" srcId="{447F83C3-3629-4192-B1C6-C515424EF702}" destId="{B56F5640-B7F0-4B05-BAD7-7019A5D5622B}" srcOrd="1" destOrd="0" presId="urn:microsoft.com/office/officeart/2005/8/layout/process1"/>
    <dgm:cxn modelId="{7DD3CF0E-3CC9-4319-9D8D-E0AA2297ECC7}" type="presOf" srcId="{933334CE-ED4F-45F4-AA19-751ACE6F5028}" destId="{5CFF55FE-2243-475A-9EF6-1CAE88DDD0A3}" srcOrd="0" destOrd="0" presId="urn:microsoft.com/office/officeart/2005/8/layout/process1"/>
    <dgm:cxn modelId="{84BB4F11-4AFE-4481-BB2D-52CBAD7C899D}" type="presOf" srcId="{3207E5A2-471B-4FBB-B3BE-2114E7F9CD87}" destId="{E2AEED15-EAD2-44FC-A918-886BB5B2880D}" srcOrd="0" destOrd="0" presId="urn:microsoft.com/office/officeart/2005/8/layout/process1"/>
    <dgm:cxn modelId="{040E8F13-D34D-4E9B-B0FB-A7C3A47E6922}" srcId="{7AD0DC84-DCBE-40E2-936A-B6D14367690F}" destId="{933334CE-ED4F-45F4-AA19-751ACE6F5028}" srcOrd="0" destOrd="0" parTransId="{B386F245-DC1D-40C4-85B9-44CBBC79568C}" sibTransId="{00431807-DD2E-46B5-BA69-01990543B2ED}"/>
    <dgm:cxn modelId="{0E20E720-86F8-4DEB-B9D6-C246C80D40E6}" type="presOf" srcId="{00431807-DD2E-46B5-BA69-01990543B2ED}" destId="{7830E7CA-CD7F-498D-8D46-677E4E98E914}" srcOrd="1" destOrd="0" presId="urn:microsoft.com/office/officeart/2005/8/layout/process1"/>
    <dgm:cxn modelId="{D167E250-E2A5-46A7-8931-278C79F877C3}" srcId="{7AD0DC84-DCBE-40E2-936A-B6D14367690F}" destId="{A48848C7-37DD-4D65-B99C-D66727398AC6}" srcOrd="3" destOrd="0" parTransId="{7E2EEC6D-3D4B-4E95-AF2D-E337D6192D57}" sibTransId="{EB5FF23B-D469-43CD-807F-508A20DCEECE}"/>
    <dgm:cxn modelId="{48628574-1E46-4AD6-8422-C2758B071E45}" type="presOf" srcId="{7AD0DC84-DCBE-40E2-936A-B6D14367690F}" destId="{933E73B0-5846-4AA1-A658-233AB6D85628}" srcOrd="0" destOrd="0" presId="urn:microsoft.com/office/officeart/2005/8/layout/process1"/>
    <dgm:cxn modelId="{0A61EC92-3872-47FD-AE7F-788D9B1F97A9}" type="presOf" srcId="{461BC032-348C-4BC9-BDFA-36F8D5B3D545}" destId="{4E4D70C5-95C6-423C-BA19-218D52C72D81}" srcOrd="0" destOrd="0" presId="urn:microsoft.com/office/officeart/2005/8/layout/process1"/>
    <dgm:cxn modelId="{CD6EC5A9-79A0-413B-9F2F-B9696AA7774E}" type="presOf" srcId="{EB5FF23B-D469-43CD-807F-508A20DCEECE}" destId="{6DE9FEE6-BC69-4F2D-B20C-080A54A4199F}" srcOrd="0" destOrd="0" presId="urn:microsoft.com/office/officeart/2005/8/layout/process1"/>
    <dgm:cxn modelId="{1FD6C6B1-9CDB-4B7C-A61A-EEA92935F102}" type="presOf" srcId="{00431807-DD2E-46B5-BA69-01990543B2ED}" destId="{83BD1F54-F53E-4307-B920-717F23833AB2}" srcOrd="0" destOrd="0" presId="urn:microsoft.com/office/officeart/2005/8/layout/process1"/>
    <dgm:cxn modelId="{DCD79DB2-1A6B-4188-A1D0-0066109CF471}" srcId="{7AD0DC84-DCBE-40E2-936A-B6D14367690F}" destId="{3207E5A2-471B-4FBB-B3BE-2114E7F9CD87}" srcOrd="2" destOrd="0" parTransId="{325EE748-EFA4-4C69-A973-D18C53207F60}" sibTransId="{447F83C3-3629-4192-B1C6-C515424EF702}"/>
    <dgm:cxn modelId="{37CE29B7-2C73-4B78-BC1F-42A8AF54883C}" srcId="{7AD0DC84-DCBE-40E2-936A-B6D14367690F}" destId="{DFA30286-C272-4E8D-BC65-1B78424C028C}" srcOrd="1" destOrd="0" parTransId="{915DB7A3-5CBC-40DA-8D32-0759BD34FEC1}" sibTransId="{461BC032-348C-4BC9-BDFA-36F8D5B3D545}"/>
    <dgm:cxn modelId="{C8CE39BA-1316-45BE-A766-0B5FF718D264}" type="presOf" srcId="{EB5FF23B-D469-43CD-807F-508A20DCEECE}" destId="{A44DB33E-36C5-4AE6-B773-BDB79416121B}" srcOrd="1" destOrd="0" presId="urn:microsoft.com/office/officeart/2005/8/layout/process1"/>
    <dgm:cxn modelId="{F41D0BDA-5C2A-4D96-AA62-65FDEB74B594}" type="presOf" srcId="{447F83C3-3629-4192-B1C6-C515424EF702}" destId="{BABC800B-A672-4215-80C0-9EA3E77B986C}" srcOrd="0" destOrd="0" presId="urn:microsoft.com/office/officeart/2005/8/layout/process1"/>
    <dgm:cxn modelId="{404483E2-2108-4EED-9F2C-F08C0800B5D0}" type="presOf" srcId="{461BC032-348C-4BC9-BDFA-36F8D5B3D545}" destId="{A1CA9F73-7E46-4088-B4EE-BADE9DD2FE77}" srcOrd="1" destOrd="0" presId="urn:microsoft.com/office/officeart/2005/8/layout/process1"/>
    <dgm:cxn modelId="{4EA05BF3-B351-4E69-90FE-1E6D5E22E320}" type="presOf" srcId="{DFA30286-C272-4E8D-BC65-1B78424C028C}" destId="{C3D32A4A-F911-4D4D-BD2E-F6713EC0B26A}" srcOrd="0" destOrd="0" presId="urn:microsoft.com/office/officeart/2005/8/layout/process1"/>
    <dgm:cxn modelId="{CDC8D5F9-A0DF-45D5-A3BF-D5DBF9B2752C}" type="presOf" srcId="{26AACEE0-B66A-431A-AC35-8D3A0522F998}" destId="{84D70440-C93B-4A23-9A20-E4B0FC22B0B8}" srcOrd="0" destOrd="0" presId="urn:microsoft.com/office/officeart/2005/8/layout/process1"/>
    <dgm:cxn modelId="{23625FFD-1684-4C60-8480-360E70D685B6}" srcId="{7AD0DC84-DCBE-40E2-936A-B6D14367690F}" destId="{26AACEE0-B66A-431A-AC35-8D3A0522F998}" srcOrd="4" destOrd="0" parTransId="{63F974F2-749B-488D-B1D6-B8CB347DD567}" sibTransId="{64F1D438-A3D4-4628-A2A5-A704F6BB515C}"/>
    <dgm:cxn modelId="{5D728A6C-8D2D-4BBB-8D75-759D9DE7C68E}" type="presParOf" srcId="{933E73B0-5846-4AA1-A658-233AB6D85628}" destId="{5CFF55FE-2243-475A-9EF6-1CAE88DDD0A3}" srcOrd="0" destOrd="0" presId="urn:microsoft.com/office/officeart/2005/8/layout/process1"/>
    <dgm:cxn modelId="{6E523B6C-326C-4983-A7A0-49554BDFE403}" type="presParOf" srcId="{933E73B0-5846-4AA1-A658-233AB6D85628}" destId="{83BD1F54-F53E-4307-B920-717F23833AB2}" srcOrd="1" destOrd="0" presId="urn:microsoft.com/office/officeart/2005/8/layout/process1"/>
    <dgm:cxn modelId="{231D05BC-045B-4E65-82C1-30A37050B3B9}" type="presParOf" srcId="{83BD1F54-F53E-4307-B920-717F23833AB2}" destId="{7830E7CA-CD7F-498D-8D46-677E4E98E914}" srcOrd="0" destOrd="0" presId="urn:microsoft.com/office/officeart/2005/8/layout/process1"/>
    <dgm:cxn modelId="{7F6C9404-11D2-4135-B933-7C13B72121BA}" type="presParOf" srcId="{933E73B0-5846-4AA1-A658-233AB6D85628}" destId="{C3D32A4A-F911-4D4D-BD2E-F6713EC0B26A}" srcOrd="2" destOrd="0" presId="urn:microsoft.com/office/officeart/2005/8/layout/process1"/>
    <dgm:cxn modelId="{E1C68E7D-B4B2-42FD-97FA-4AB7E9EC33E4}" type="presParOf" srcId="{933E73B0-5846-4AA1-A658-233AB6D85628}" destId="{4E4D70C5-95C6-423C-BA19-218D52C72D81}" srcOrd="3" destOrd="0" presId="urn:microsoft.com/office/officeart/2005/8/layout/process1"/>
    <dgm:cxn modelId="{1D6ECD16-1A70-4B5D-A33C-9D94D12629B2}" type="presParOf" srcId="{4E4D70C5-95C6-423C-BA19-218D52C72D81}" destId="{A1CA9F73-7E46-4088-B4EE-BADE9DD2FE77}" srcOrd="0" destOrd="0" presId="urn:microsoft.com/office/officeart/2005/8/layout/process1"/>
    <dgm:cxn modelId="{C2BB9C14-EF68-4120-9FDC-6663BF386085}" type="presParOf" srcId="{933E73B0-5846-4AA1-A658-233AB6D85628}" destId="{E2AEED15-EAD2-44FC-A918-886BB5B2880D}" srcOrd="4" destOrd="0" presId="urn:microsoft.com/office/officeart/2005/8/layout/process1"/>
    <dgm:cxn modelId="{7C4E6BDC-4B33-4B88-8C04-09FF3E58F787}" type="presParOf" srcId="{933E73B0-5846-4AA1-A658-233AB6D85628}" destId="{BABC800B-A672-4215-80C0-9EA3E77B986C}" srcOrd="5" destOrd="0" presId="urn:microsoft.com/office/officeart/2005/8/layout/process1"/>
    <dgm:cxn modelId="{206DAAA6-8A88-44A5-8900-BBEA906D1357}" type="presParOf" srcId="{BABC800B-A672-4215-80C0-9EA3E77B986C}" destId="{B56F5640-B7F0-4B05-BAD7-7019A5D5622B}" srcOrd="0" destOrd="0" presId="urn:microsoft.com/office/officeart/2005/8/layout/process1"/>
    <dgm:cxn modelId="{FA0C1354-4D8E-4C2D-92C6-29E86728786D}" type="presParOf" srcId="{933E73B0-5846-4AA1-A658-233AB6D85628}" destId="{A5B6FE68-D0D2-4D00-B7BF-8D94A7130EF7}" srcOrd="6" destOrd="0" presId="urn:microsoft.com/office/officeart/2005/8/layout/process1"/>
    <dgm:cxn modelId="{81EDE6DA-BF30-4D3A-A83C-776CA4DBF0B3}" type="presParOf" srcId="{933E73B0-5846-4AA1-A658-233AB6D85628}" destId="{6DE9FEE6-BC69-4F2D-B20C-080A54A4199F}" srcOrd="7" destOrd="0" presId="urn:microsoft.com/office/officeart/2005/8/layout/process1"/>
    <dgm:cxn modelId="{6F446AE9-7313-44EB-86FD-7C05BEFC065E}" type="presParOf" srcId="{6DE9FEE6-BC69-4F2D-B20C-080A54A4199F}" destId="{A44DB33E-36C5-4AE6-B773-BDB79416121B}" srcOrd="0" destOrd="0" presId="urn:microsoft.com/office/officeart/2005/8/layout/process1"/>
    <dgm:cxn modelId="{F7FA9F7E-4530-4987-A40A-52A305A762AC}" type="presParOf" srcId="{933E73B0-5846-4AA1-A658-233AB6D85628}" destId="{84D70440-C93B-4A23-9A20-E4B0FC22B0B8}" srcOrd="8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AD0DC84-DCBE-40E2-936A-B6D14367690F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TW" altLang="en-US"/>
        </a:p>
      </dgm:t>
    </dgm:pt>
    <dgm:pt modelId="{DFA30286-C272-4E8D-BC65-1B78424C028C}">
      <dgm:prSet phldrT="[文字]" custT="1">
        <dgm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zh-TW" altLang="en-US" sz="18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將任務依種類宣告為二元與連續變數</a:t>
          </a:r>
        </a:p>
      </dgm:t>
    </dgm:pt>
    <dgm:pt modelId="{915DB7A3-5CBC-40DA-8D32-0759BD34FEC1}" type="parTrans" cxnId="{37CE29B7-2C73-4B78-BC1F-42A8AF54883C}">
      <dgm:prSet/>
      <dgm:spPr/>
      <dgm:t>
        <a:bodyPr/>
        <a:lstStyle/>
        <a:p>
          <a:endParaRPr lang="zh-TW" altLang="en-US"/>
        </a:p>
      </dgm:t>
    </dgm:pt>
    <dgm:pt modelId="{461BC032-348C-4BC9-BDFA-36F8D5B3D545}" type="sibTrans" cxnId="{37CE29B7-2C73-4B78-BC1F-42A8AF54883C}">
      <dgm:prSet/>
      <dgm:spPr/>
      <dgm:t>
        <a:bodyPr/>
        <a:lstStyle/>
        <a:p>
          <a:endParaRPr lang="zh-TW" altLang="en-US" baseline="0" dirty="0">
            <a:latin typeface="Times New Roman" panose="02020603050405020304" pitchFamily="18" charset="0"/>
            <a:ea typeface="標楷體" panose="03000509000000000000" pitchFamily="65" charset="-120"/>
          </a:endParaRPr>
        </a:p>
      </dgm:t>
    </dgm:pt>
    <dgm:pt modelId="{26AACEE0-B66A-431A-AC35-8D3A0522F998}">
      <dgm:prSet phldrT="[文字]" custT="1">
        <dgm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zh-TW" altLang="en-US" sz="18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將排程結果匯入</a:t>
          </a:r>
          <a:r>
            <a:rPr lang="en-US" altLang="zh-TW" sz="18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excel</a:t>
          </a:r>
          <a:endParaRPr lang="zh-TW" altLang="en-US" sz="1800" baseline="0" dirty="0">
            <a:latin typeface="Times New Roman" panose="02020603050405020304" pitchFamily="18" charset="0"/>
            <a:ea typeface="標楷體" panose="03000509000000000000" pitchFamily="65" charset="-120"/>
          </a:endParaRPr>
        </a:p>
      </dgm:t>
    </dgm:pt>
    <dgm:pt modelId="{63F974F2-749B-488D-B1D6-B8CB347DD567}" type="parTrans" cxnId="{23625FFD-1684-4C60-8480-360E70D685B6}">
      <dgm:prSet/>
      <dgm:spPr/>
      <dgm:t>
        <a:bodyPr/>
        <a:lstStyle/>
        <a:p>
          <a:endParaRPr lang="zh-TW" altLang="en-US"/>
        </a:p>
      </dgm:t>
    </dgm:pt>
    <dgm:pt modelId="{64F1D438-A3D4-4628-A2A5-A704F6BB515C}" type="sibTrans" cxnId="{23625FFD-1684-4C60-8480-360E70D685B6}">
      <dgm:prSet/>
      <dgm:spPr/>
      <dgm:t>
        <a:bodyPr/>
        <a:lstStyle/>
        <a:p>
          <a:endParaRPr lang="zh-TW" altLang="en-US"/>
        </a:p>
      </dgm:t>
    </dgm:pt>
    <dgm:pt modelId="{3207E5A2-471B-4FBB-B3BE-2114E7F9CD87}">
      <dgm:prSet custT="1">
        <dgm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zh-TW" altLang="en-US" sz="16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建立線性限制式：記憶體</a:t>
          </a:r>
          <a:r>
            <a:rPr lang="en-US" altLang="en-US" sz="16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/</a:t>
          </a:r>
          <a:r>
            <a:rPr lang="zh-TW" altLang="en-US" sz="16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檔名容量限制、執行時間不重疊</a:t>
          </a:r>
          <a:r>
            <a:rPr lang="en-US" altLang="zh-TW" sz="16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...</a:t>
          </a:r>
          <a:r>
            <a:rPr lang="en-US" altLang="en-US" sz="16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 </a:t>
          </a:r>
        </a:p>
        <a:p>
          <a:r>
            <a:rPr lang="zh-TW" altLang="en-US" sz="16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建立目標式：最大任務數 </a:t>
          </a:r>
          <a:r>
            <a:rPr lang="en-US" altLang="en-US" sz="16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+ </a:t>
          </a:r>
          <a:r>
            <a:rPr lang="zh-TW" altLang="en-US" sz="16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優先提早 </a:t>
          </a:r>
          <a:r>
            <a:rPr lang="en-US" altLang="en-US" sz="16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Download/Remove</a:t>
          </a:r>
          <a:endParaRPr lang="zh-TW" altLang="en-US" sz="1600" baseline="0" dirty="0">
            <a:latin typeface="Times New Roman" panose="02020603050405020304" pitchFamily="18" charset="0"/>
            <a:ea typeface="標楷體" panose="03000509000000000000" pitchFamily="65" charset="-120"/>
          </a:endParaRPr>
        </a:p>
      </dgm:t>
    </dgm:pt>
    <dgm:pt modelId="{325EE748-EFA4-4C69-A973-D18C53207F60}" type="parTrans" cxnId="{DCD79DB2-1A6B-4188-A1D0-0066109CF471}">
      <dgm:prSet/>
      <dgm:spPr/>
      <dgm:t>
        <a:bodyPr/>
        <a:lstStyle/>
        <a:p>
          <a:endParaRPr lang="zh-TW" altLang="en-US"/>
        </a:p>
      </dgm:t>
    </dgm:pt>
    <dgm:pt modelId="{447F83C3-3629-4192-B1C6-C515424EF702}" type="sibTrans" cxnId="{DCD79DB2-1A6B-4188-A1D0-0066109CF471}">
      <dgm:prSet/>
      <dgm:spPr/>
      <dgm:t>
        <a:bodyPr/>
        <a:lstStyle/>
        <a:p>
          <a:endParaRPr lang="zh-TW" altLang="en-US" baseline="0">
            <a:latin typeface="Times New Roman" panose="02020603050405020304" pitchFamily="18" charset="0"/>
            <a:ea typeface="標楷體" panose="03000509000000000000" pitchFamily="65" charset="-120"/>
          </a:endParaRPr>
        </a:p>
      </dgm:t>
    </dgm:pt>
    <dgm:pt modelId="{A48848C7-37DD-4D65-B99C-D66727398AC6}">
      <dgm:prSet custT="1">
        <dgm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zh-TW" altLang="en-US" sz="18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使用</a:t>
          </a:r>
          <a:r>
            <a:rPr lang="en-US" altLang="zh-TW" sz="18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IBM</a:t>
          </a:r>
          <a:r>
            <a:rPr lang="zh-TW" altLang="en-US" sz="18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 </a:t>
          </a:r>
          <a:r>
            <a:rPr lang="en-US" altLang="zh-TW" sz="18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CPLEX</a:t>
          </a:r>
          <a:r>
            <a:rPr lang="zh-TW" altLang="en-US" sz="18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求解</a:t>
          </a:r>
        </a:p>
      </dgm:t>
    </dgm:pt>
    <dgm:pt modelId="{7E2EEC6D-3D4B-4E95-AF2D-E337D6192D57}" type="parTrans" cxnId="{D167E250-E2A5-46A7-8931-278C79F877C3}">
      <dgm:prSet/>
      <dgm:spPr/>
      <dgm:t>
        <a:bodyPr/>
        <a:lstStyle/>
        <a:p>
          <a:endParaRPr lang="zh-TW" altLang="en-US"/>
        </a:p>
      </dgm:t>
    </dgm:pt>
    <dgm:pt modelId="{EB5FF23B-D469-43CD-807F-508A20DCEECE}" type="sibTrans" cxnId="{D167E250-E2A5-46A7-8931-278C79F877C3}">
      <dgm:prSet/>
      <dgm:spPr/>
      <dgm:t>
        <a:bodyPr/>
        <a:lstStyle/>
        <a:p>
          <a:endParaRPr lang="zh-TW" altLang="en-US" baseline="0">
            <a:latin typeface="Times New Roman" panose="02020603050405020304" pitchFamily="18" charset="0"/>
            <a:ea typeface="標楷體" panose="03000509000000000000" pitchFamily="65" charset="-120"/>
          </a:endParaRPr>
        </a:p>
      </dgm:t>
    </dgm:pt>
    <dgm:pt modelId="{933334CE-ED4F-45F4-AA19-751ACE6F5028}">
      <dgm:prSet phldrT="[文字]" custT="1">
        <dgm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zh-TW" altLang="en-US" sz="18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自動從</a:t>
          </a:r>
          <a:r>
            <a:rPr lang="en-US" altLang="zh-TW" sz="18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excel</a:t>
          </a:r>
          <a:r>
            <a:rPr lang="zh-TW" altLang="en-US" sz="18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讀入任務、地面站、日蝕軌道與資源上限等資料列表</a:t>
          </a:r>
        </a:p>
      </dgm:t>
    </dgm:pt>
    <dgm:pt modelId="{00431807-DD2E-46B5-BA69-01990543B2ED}" type="sibTrans" cxnId="{040E8F13-D34D-4E9B-B0FB-A7C3A47E6922}">
      <dgm:prSet/>
      <dgm:spPr/>
      <dgm:t>
        <a:bodyPr/>
        <a:lstStyle/>
        <a:p>
          <a:endParaRPr lang="zh-TW" altLang="en-US" baseline="0">
            <a:latin typeface="Times New Roman" panose="02020603050405020304" pitchFamily="18" charset="0"/>
            <a:ea typeface="標楷體" panose="03000509000000000000" pitchFamily="65" charset="-120"/>
          </a:endParaRPr>
        </a:p>
      </dgm:t>
    </dgm:pt>
    <dgm:pt modelId="{B386F245-DC1D-40C4-85B9-44CBBC79568C}" type="parTrans" cxnId="{040E8F13-D34D-4E9B-B0FB-A7C3A47E6922}">
      <dgm:prSet/>
      <dgm:spPr/>
      <dgm:t>
        <a:bodyPr/>
        <a:lstStyle/>
        <a:p>
          <a:endParaRPr lang="zh-TW" altLang="en-US"/>
        </a:p>
      </dgm:t>
    </dgm:pt>
    <dgm:pt modelId="{933E73B0-5846-4AA1-A658-233AB6D85628}" type="pres">
      <dgm:prSet presAssocID="{7AD0DC84-DCBE-40E2-936A-B6D14367690F}" presName="Name0" presStyleCnt="0">
        <dgm:presLayoutVars>
          <dgm:dir/>
          <dgm:resizeHandles val="exact"/>
        </dgm:presLayoutVars>
      </dgm:prSet>
      <dgm:spPr/>
    </dgm:pt>
    <dgm:pt modelId="{5CFF55FE-2243-475A-9EF6-1CAE88DDD0A3}" type="pres">
      <dgm:prSet presAssocID="{933334CE-ED4F-45F4-AA19-751ACE6F5028}" presName="node" presStyleLbl="node1" presStyleIdx="0" presStyleCnt="5" custScaleX="179105">
        <dgm:presLayoutVars>
          <dgm:bulletEnabled val="1"/>
        </dgm:presLayoutVars>
      </dgm:prSet>
      <dgm:spPr/>
    </dgm:pt>
    <dgm:pt modelId="{83BD1F54-F53E-4307-B920-717F23833AB2}" type="pres">
      <dgm:prSet presAssocID="{00431807-DD2E-46B5-BA69-01990543B2ED}" presName="sibTrans" presStyleLbl="sibTrans2D1" presStyleIdx="0" presStyleCnt="4"/>
      <dgm:spPr/>
    </dgm:pt>
    <dgm:pt modelId="{7830E7CA-CD7F-498D-8D46-677E4E98E914}" type="pres">
      <dgm:prSet presAssocID="{00431807-DD2E-46B5-BA69-01990543B2ED}" presName="connectorText" presStyleLbl="sibTrans2D1" presStyleIdx="0" presStyleCnt="4"/>
      <dgm:spPr/>
    </dgm:pt>
    <dgm:pt modelId="{C3D32A4A-F911-4D4D-BD2E-F6713EC0B26A}" type="pres">
      <dgm:prSet presAssocID="{DFA30286-C272-4E8D-BC65-1B78424C028C}" presName="node" presStyleLbl="node1" presStyleIdx="1" presStyleCnt="5" custScaleX="132100" custLinFactNeighborX="-2823" custLinFactNeighborY="-68931">
        <dgm:presLayoutVars>
          <dgm:bulletEnabled val="1"/>
        </dgm:presLayoutVars>
      </dgm:prSet>
      <dgm:spPr/>
    </dgm:pt>
    <dgm:pt modelId="{4E4D70C5-95C6-423C-BA19-218D52C72D81}" type="pres">
      <dgm:prSet presAssocID="{461BC032-348C-4BC9-BDFA-36F8D5B3D545}" presName="sibTrans" presStyleLbl="sibTrans2D1" presStyleIdx="1" presStyleCnt="4"/>
      <dgm:spPr/>
    </dgm:pt>
    <dgm:pt modelId="{A1CA9F73-7E46-4088-B4EE-BADE9DD2FE77}" type="pres">
      <dgm:prSet presAssocID="{461BC032-348C-4BC9-BDFA-36F8D5B3D545}" presName="connectorText" presStyleLbl="sibTrans2D1" presStyleIdx="1" presStyleCnt="4"/>
      <dgm:spPr/>
    </dgm:pt>
    <dgm:pt modelId="{E2AEED15-EAD2-44FC-A918-886BB5B2880D}" type="pres">
      <dgm:prSet presAssocID="{3207E5A2-471B-4FBB-B3BE-2114E7F9CD87}" presName="node" presStyleLbl="node1" presStyleIdx="2" presStyleCnt="5" custScaleX="237852" custLinFactNeighborX="1945" custLinFactNeighborY="-68654">
        <dgm:presLayoutVars>
          <dgm:bulletEnabled val="1"/>
        </dgm:presLayoutVars>
      </dgm:prSet>
      <dgm:spPr/>
    </dgm:pt>
    <dgm:pt modelId="{BABC800B-A672-4215-80C0-9EA3E77B986C}" type="pres">
      <dgm:prSet presAssocID="{447F83C3-3629-4192-B1C6-C515424EF702}" presName="sibTrans" presStyleLbl="sibTrans2D1" presStyleIdx="2" presStyleCnt="4"/>
      <dgm:spPr/>
    </dgm:pt>
    <dgm:pt modelId="{B56F5640-B7F0-4B05-BAD7-7019A5D5622B}" type="pres">
      <dgm:prSet presAssocID="{447F83C3-3629-4192-B1C6-C515424EF702}" presName="connectorText" presStyleLbl="sibTrans2D1" presStyleIdx="2" presStyleCnt="4"/>
      <dgm:spPr/>
    </dgm:pt>
    <dgm:pt modelId="{A5B6FE68-D0D2-4D00-B7BF-8D94A7130EF7}" type="pres">
      <dgm:prSet presAssocID="{A48848C7-37DD-4D65-B99C-D66727398AC6}" presName="node" presStyleLbl="node1" presStyleIdx="3" presStyleCnt="5" custLinFactNeighborX="-602" custLinFactNeighborY="-70384">
        <dgm:presLayoutVars>
          <dgm:bulletEnabled val="1"/>
        </dgm:presLayoutVars>
      </dgm:prSet>
      <dgm:spPr/>
    </dgm:pt>
    <dgm:pt modelId="{6DE9FEE6-BC69-4F2D-B20C-080A54A4199F}" type="pres">
      <dgm:prSet presAssocID="{EB5FF23B-D469-43CD-807F-508A20DCEECE}" presName="sibTrans" presStyleLbl="sibTrans2D1" presStyleIdx="3" presStyleCnt="4"/>
      <dgm:spPr/>
    </dgm:pt>
    <dgm:pt modelId="{A44DB33E-36C5-4AE6-B773-BDB79416121B}" type="pres">
      <dgm:prSet presAssocID="{EB5FF23B-D469-43CD-807F-508A20DCEECE}" presName="connectorText" presStyleLbl="sibTrans2D1" presStyleIdx="3" presStyleCnt="4"/>
      <dgm:spPr/>
    </dgm:pt>
    <dgm:pt modelId="{84D70440-C93B-4A23-9A20-E4B0FC22B0B8}" type="pres">
      <dgm:prSet presAssocID="{26AACEE0-B66A-431A-AC35-8D3A0522F998}" presName="node" presStyleLbl="node1" presStyleIdx="4" presStyleCnt="5" custScaleY="79627">
        <dgm:presLayoutVars>
          <dgm:bulletEnabled val="1"/>
        </dgm:presLayoutVars>
      </dgm:prSet>
      <dgm:spPr/>
    </dgm:pt>
  </dgm:ptLst>
  <dgm:cxnLst>
    <dgm:cxn modelId="{421DBC02-3353-401D-A64A-8B7389DFC777}" type="presOf" srcId="{A48848C7-37DD-4D65-B99C-D66727398AC6}" destId="{A5B6FE68-D0D2-4D00-B7BF-8D94A7130EF7}" srcOrd="0" destOrd="0" presId="urn:microsoft.com/office/officeart/2005/8/layout/process1"/>
    <dgm:cxn modelId="{2CD3690C-2783-4B54-AAF5-09C7D79F67C3}" type="presOf" srcId="{447F83C3-3629-4192-B1C6-C515424EF702}" destId="{B56F5640-B7F0-4B05-BAD7-7019A5D5622B}" srcOrd="1" destOrd="0" presId="urn:microsoft.com/office/officeart/2005/8/layout/process1"/>
    <dgm:cxn modelId="{7DD3CF0E-3CC9-4319-9D8D-E0AA2297ECC7}" type="presOf" srcId="{933334CE-ED4F-45F4-AA19-751ACE6F5028}" destId="{5CFF55FE-2243-475A-9EF6-1CAE88DDD0A3}" srcOrd="0" destOrd="0" presId="urn:microsoft.com/office/officeart/2005/8/layout/process1"/>
    <dgm:cxn modelId="{84BB4F11-4AFE-4481-BB2D-52CBAD7C899D}" type="presOf" srcId="{3207E5A2-471B-4FBB-B3BE-2114E7F9CD87}" destId="{E2AEED15-EAD2-44FC-A918-886BB5B2880D}" srcOrd="0" destOrd="0" presId="urn:microsoft.com/office/officeart/2005/8/layout/process1"/>
    <dgm:cxn modelId="{040E8F13-D34D-4E9B-B0FB-A7C3A47E6922}" srcId="{7AD0DC84-DCBE-40E2-936A-B6D14367690F}" destId="{933334CE-ED4F-45F4-AA19-751ACE6F5028}" srcOrd="0" destOrd="0" parTransId="{B386F245-DC1D-40C4-85B9-44CBBC79568C}" sibTransId="{00431807-DD2E-46B5-BA69-01990543B2ED}"/>
    <dgm:cxn modelId="{0E20E720-86F8-4DEB-B9D6-C246C80D40E6}" type="presOf" srcId="{00431807-DD2E-46B5-BA69-01990543B2ED}" destId="{7830E7CA-CD7F-498D-8D46-677E4E98E914}" srcOrd="1" destOrd="0" presId="urn:microsoft.com/office/officeart/2005/8/layout/process1"/>
    <dgm:cxn modelId="{D167E250-E2A5-46A7-8931-278C79F877C3}" srcId="{7AD0DC84-DCBE-40E2-936A-B6D14367690F}" destId="{A48848C7-37DD-4D65-B99C-D66727398AC6}" srcOrd="3" destOrd="0" parTransId="{7E2EEC6D-3D4B-4E95-AF2D-E337D6192D57}" sibTransId="{EB5FF23B-D469-43CD-807F-508A20DCEECE}"/>
    <dgm:cxn modelId="{48628574-1E46-4AD6-8422-C2758B071E45}" type="presOf" srcId="{7AD0DC84-DCBE-40E2-936A-B6D14367690F}" destId="{933E73B0-5846-4AA1-A658-233AB6D85628}" srcOrd="0" destOrd="0" presId="urn:microsoft.com/office/officeart/2005/8/layout/process1"/>
    <dgm:cxn modelId="{0A61EC92-3872-47FD-AE7F-788D9B1F97A9}" type="presOf" srcId="{461BC032-348C-4BC9-BDFA-36F8D5B3D545}" destId="{4E4D70C5-95C6-423C-BA19-218D52C72D81}" srcOrd="0" destOrd="0" presId="urn:microsoft.com/office/officeart/2005/8/layout/process1"/>
    <dgm:cxn modelId="{CD6EC5A9-79A0-413B-9F2F-B9696AA7774E}" type="presOf" srcId="{EB5FF23B-D469-43CD-807F-508A20DCEECE}" destId="{6DE9FEE6-BC69-4F2D-B20C-080A54A4199F}" srcOrd="0" destOrd="0" presId="urn:microsoft.com/office/officeart/2005/8/layout/process1"/>
    <dgm:cxn modelId="{1FD6C6B1-9CDB-4B7C-A61A-EEA92935F102}" type="presOf" srcId="{00431807-DD2E-46B5-BA69-01990543B2ED}" destId="{83BD1F54-F53E-4307-B920-717F23833AB2}" srcOrd="0" destOrd="0" presId="urn:microsoft.com/office/officeart/2005/8/layout/process1"/>
    <dgm:cxn modelId="{DCD79DB2-1A6B-4188-A1D0-0066109CF471}" srcId="{7AD0DC84-DCBE-40E2-936A-B6D14367690F}" destId="{3207E5A2-471B-4FBB-B3BE-2114E7F9CD87}" srcOrd="2" destOrd="0" parTransId="{325EE748-EFA4-4C69-A973-D18C53207F60}" sibTransId="{447F83C3-3629-4192-B1C6-C515424EF702}"/>
    <dgm:cxn modelId="{37CE29B7-2C73-4B78-BC1F-42A8AF54883C}" srcId="{7AD0DC84-DCBE-40E2-936A-B6D14367690F}" destId="{DFA30286-C272-4E8D-BC65-1B78424C028C}" srcOrd="1" destOrd="0" parTransId="{915DB7A3-5CBC-40DA-8D32-0759BD34FEC1}" sibTransId="{461BC032-348C-4BC9-BDFA-36F8D5B3D545}"/>
    <dgm:cxn modelId="{C8CE39BA-1316-45BE-A766-0B5FF718D264}" type="presOf" srcId="{EB5FF23B-D469-43CD-807F-508A20DCEECE}" destId="{A44DB33E-36C5-4AE6-B773-BDB79416121B}" srcOrd="1" destOrd="0" presId="urn:microsoft.com/office/officeart/2005/8/layout/process1"/>
    <dgm:cxn modelId="{F41D0BDA-5C2A-4D96-AA62-65FDEB74B594}" type="presOf" srcId="{447F83C3-3629-4192-B1C6-C515424EF702}" destId="{BABC800B-A672-4215-80C0-9EA3E77B986C}" srcOrd="0" destOrd="0" presId="urn:microsoft.com/office/officeart/2005/8/layout/process1"/>
    <dgm:cxn modelId="{404483E2-2108-4EED-9F2C-F08C0800B5D0}" type="presOf" srcId="{461BC032-348C-4BC9-BDFA-36F8D5B3D545}" destId="{A1CA9F73-7E46-4088-B4EE-BADE9DD2FE77}" srcOrd="1" destOrd="0" presId="urn:microsoft.com/office/officeart/2005/8/layout/process1"/>
    <dgm:cxn modelId="{4EA05BF3-B351-4E69-90FE-1E6D5E22E320}" type="presOf" srcId="{DFA30286-C272-4E8D-BC65-1B78424C028C}" destId="{C3D32A4A-F911-4D4D-BD2E-F6713EC0B26A}" srcOrd="0" destOrd="0" presId="urn:microsoft.com/office/officeart/2005/8/layout/process1"/>
    <dgm:cxn modelId="{CDC8D5F9-A0DF-45D5-A3BF-D5DBF9B2752C}" type="presOf" srcId="{26AACEE0-B66A-431A-AC35-8D3A0522F998}" destId="{84D70440-C93B-4A23-9A20-E4B0FC22B0B8}" srcOrd="0" destOrd="0" presId="urn:microsoft.com/office/officeart/2005/8/layout/process1"/>
    <dgm:cxn modelId="{23625FFD-1684-4C60-8480-360E70D685B6}" srcId="{7AD0DC84-DCBE-40E2-936A-B6D14367690F}" destId="{26AACEE0-B66A-431A-AC35-8D3A0522F998}" srcOrd="4" destOrd="0" parTransId="{63F974F2-749B-488D-B1D6-B8CB347DD567}" sibTransId="{64F1D438-A3D4-4628-A2A5-A704F6BB515C}"/>
    <dgm:cxn modelId="{5D728A6C-8D2D-4BBB-8D75-759D9DE7C68E}" type="presParOf" srcId="{933E73B0-5846-4AA1-A658-233AB6D85628}" destId="{5CFF55FE-2243-475A-9EF6-1CAE88DDD0A3}" srcOrd="0" destOrd="0" presId="urn:microsoft.com/office/officeart/2005/8/layout/process1"/>
    <dgm:cxn modelId="{6E523B6C-326C-4983-A7A0-49554BDFE403}" type="presParOf" srcId="{933E73B0-5846-4AA1-A658-233AB6D85628}" destId="{83BD1F54-F53E-4307-B920-717F23833AB2}" srcOrd="1" destOrd="0" presId="urn:microsoft.com/office/officeart/2005/8/layout/process1"/>
    <dgm:cxn modelId="{231D05BC-045B-4E65-82C1-30A37050B3B9}" type="presParOf" srcId="{83BD1F54-F53E-4307-B920-717F23833AB2}" destId="{7830E7CA-CD7F-498D-8D46-677E4E98E914}" srcOrd="0" destOrd="0" presId="urn:microsoft.com/office/officeart/2005/8/layout/process1"/>
    <dgm:cxn modelId="{7F6C9404-11D2-4135-B933-7C13B72121BA}" type="presParOf" srcId="{933E73B0-5846-4AA1-A658-233AB6D85628}" destId="{C3D32A4A-F911-4D4D-BD2E-F6713EC0B26A}" srcOrd="2" destOrd="0" presId="urn:microsoft.com/office/officeart/2005/8/layout/process1"/>
    <dgm:cxn modelId="{E1C68E7D-B4B2-42FD-97FA-4AB7E9EC33E4}" type="presParOf" srcId="{933E73B0-5846-4AA1-A658-233AB6D85628}" destId="{4E4D70C5-95C6-423C-BA19-218D52C72D81}" srcOrd="3" destOrd="0" presId="urn:microsoft.com/office/officeart/2005/8/layout/process1"/>
    <dgm:cxn modelId="{1D6ECD16-1A70-4B5D-A33C-9D94D12629B2}" type="presParOf" srcId="{4E4D70C5-95C6-423C-BA19-218D52C72D81}" destId="{A1CA9F73-7E46-4088-B4EE-BADE9DD2FE77}" srcOrd="0" destOrd="0" presId="urn:microsoft.com/office/officeart/2005/8/layout/process1"/>
    <dgm:cxn modelId="{C2BB9C14-EF68-4120-9FDC-6663BF386085}" type="presParOf" srcId="{933E73B0-5846-4AA1-A658-233AB6D85628}" destId="{E2AEED15-EAD2-44FC-A918-886BB5B2880D}" srcOrd="4" destOrd="0" presId="urn:microsoft.com/office/officeart/2005/8/layout/process1"/>
    <dgm:cxn modelId="{7C4E6BDC-4B33-4B88-8C04-09FF3E58F787}" type="presParOf" srcId="{933E73B0-5846-4AA1-A658-233AB6D85628}" destId="{BABC800B-A672-4215-80C0-9EA3E77B986C}" srcOrd="5" destOrd="0" presId="urn:microsoft.com/office/officeart/2005/8/layout/process1"/>
    <dgm:cxn modelId="{206DAAA6-8A88-44A5-8900-BBEA906D1357}" type="presParOf" srcId="{BABC800B-A672-4215-80C0-9EA3E77B986C}" destId="{B56F5640-B7F0-4B05-BAD7-7019A5D5622B}" srcOrd="0" destOrd="0" presId="urn:microsoft.com/office/officeart/2005/8/layout/process1"/>
    <dgm:cxn modelId="{FA0C1354-4D8E-4C2D-92C6-29E86728786D}" type="presParOf" srcId="{933E73B0-5846-4AA1-A658-233AB6D85628}" destId="{A5B6FE68-D0D2-4D00-B7BF-8D94A7130EF7}" srcOrd="6" destOrd="0" presId="urn:microsoft.com/office/officeart/2005/8/layout/process1"/>
    <dgm:cxn modelId="{81EDE6DA-BF30-4D3A-A83C-776CA4DBF0B3}" type="presParOf" srcId="{933E73B0-5846-4AA1-A658-233AB6D85628}" destId="{6DE9FEE6-BC69-4F2D-B20C-080A54A4199F}" srcOrd="7" destOrd="0" presId="urn:microsoft.com/office/officeart/2005/8/layout/process1"/>
    <dgm:cxn modelId="{6F446AE9-7313-44EB-86FD-7C05BEFC065E}" type="presParOf" srcId="{6DE9FEE6-BC69-4F2D-B20C-080A54A4199F}" destId="{A44DB33E-36C5-4AE6-B773-BDB79416121B}" srcOrd="0" destOrd="0" presId="urn:microsoft.com/office/officeart/2005/8/layout/process1"/>
    <dgm:cxn modelId="{F7FA9F7E-4530-4987-A40A-52A305A762AC}" type="presParOf" srcId="{933E73B0-5846-4AA1-A658-233AB6D85628}" destId="{84D70440-C93B-4A23-9A20-E4B0FC22B0B8}" srcOrd="8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AD0DC84-DCBE-40E2-936A-B6D14367690F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TW" altLang="en-US"/>
        </a:p>
      </dgm:t>
    </dgm:pt>
    <dgm:pt modelId="{DFA30286-C272-4E8D-BC65-1B78424C028C}">
      <dgm:prSet phldrT="[文字]" custT="1">
        <dgm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zh-TW" altLang="en-US" sz="18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將任務依種類宣告為區間變數</a:t>
          </a:r>
        </a:p>
      </dgm:t>
    </dgm:pt>
    <dgm:pt modelId="{915DB7A3-5CBC-40DA-8D32-0759BD34FEC1}" type="parTrans" cxnId="{37CE29B7-2C73-4B78-BC1F-42A8AF54883C}">
      <dgm:prSet/>
      <dgm:spPr/>
      <dgm:t>
        <a:bodyPr/>
        <a:lstStyle/>
        <a:p>
          <a:endParaRPr lang="zh-TW" altLang="en-US" baseline="0">
            <a:latin typeface="Times New Roman" panose="02020603050405020304" pitchFamily="18" charset="0"/>
            <a:ea typeface="標楷體" panose="03000509000000000000" pitchFamily="65" charset="-120"/>
          </a:endParaRPr>
        </a:p>
      </dgm:t>
    </dgm:pt>
    <dgm:pt modelId="{461BC032-348C-4BC9-BDFA-36F8D5B3D545}" type="sibTrans" cxnId="{37CE29B7-2C73-4B78-BC1F-42A8AF54883C}">
      <dgm:prSet/>
      <dgm:spPr/>
      <dgm:t>
        <a:bodyPr/>
        <a:lstStyle/>
        <a:p>
          <a:endParaRPr lang="zh-TW" altLang="en-US" baseline="0" dirty="0">
            <a:latin typeface="Times New Roman" panose="02020603050405020304" pitchFamily="18" charset="0"/>
            <a:ea typeface="標楷體" panose="03000509000000000000" pitchFamily="65" charset="-120"/>
          </a:endParaRPr>
        </a:p>
      </dgm:t>
    </dgm:pt>
    <dgm:pt modelId="{26AACEE0-B66A-431A-AC35-8D3A0522F998}">
      <dgm:prSet phldrT="[文字]" custT="1">
        <dgm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zh-TW" altLang="en-US" sz="18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將數學解轉換為排程結果匯入</a:t>
          </a:r>
          <a:r>
            <a:rPr lang="en-US" altLang="zh-TW" sz="18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excel</a:t>
          </a:r>
          <a:endParaRPr lang="zh-TW" altLang="en-US" sz="1800" baseline="0" dirty="0">
            <a:latin typeface="Times New Roman" panose="02020603050405020304" pitchFamily="18" charset="0"/>
            <a:ea typeface="標楷體" panose="03000509000000000000" pitchFamily="65" charset="-120"/>
          </a:endParaRPr>
        </a:p>
      </dgm:t>
    </dgm:pt>
    <dgm:pt modelId="{63F974F2-749B-488D-B1D6-B8CB347DD567}" type="parTrans" cxnId="{23625FFD-1684-4C60-8480-360E70D685B6}">
      <dgm:prSet/>
      <dgm:spPr/>
      <dgm:t>
        <a:bodyPr/>
        <a:lstStyle/>
        <a:p>
          <a:endParaRPr lang="zh-TW" altLang="en-US" baseline="0">
            <a:latin typeface="Times New Roman" panose="02020603050405020304" pitchFamily="18" charset="0"/>
            <a:ea typeface="標楷體" panose="03000509000000000000" pitchFamily="65" charset="-120"/>
          </a:endParaRPr>
        </a:p>
      </dgm:t>
    </dgm:pt>
    <dgm:pt modelId="{64F1D438-A3D4-4628-A2A5-A704F6BB515C}" type="sibTrans" cxnId="{23625FFD-1684-4C60-8480-360E70D685B6}">
      <dgm:prSet/>
      <dgm:spPr/>
      <dgm:t>
        <a:bodyPr/>
        <a:lstStyle/>
        <a:p>
          <a:endParaRPr lang="zh-TW" altLang="en-US" baseline="0">
            <a:latin typeface="Times New Roman" panose="02020603050405020304" pitchFamily="18" charset="0"/>
            <a:ea typeface="標楷體" panose="03000509000000000000" pitchFamily="65" charset="-120"/>
          </a:endParaRPr>
        </a:p>
      </dgm:t>
    </dgm:pt>
    <dgm:pt modelId="{3207E5A2-471B-4FBB-B3BE-2114E7F9CD87}">
      <dgm:prSet custT="1">
        <dgm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zh-TW" altLang="en-US" sz="16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將</a:t>
          </a:r>
          <a:r>
            <a:rPr lang="en-US" altLang="zh-TW" sz="16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MILP</a:t>
          </a:r>
          <a:r>
            <a:rPr lang="zh-TW" altLang="en-US" sz="16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模型之限制式轉換為全域限制式</a:t>
          </a:r>
          <a:endParaRPr lang="en-US" altLang="en-US" sz="1600" baseline="0" dirty="0">
            <a:latin typeface="Times New Roman" panose="02020603050405020304" pitchFamily="18" charset="0"/>
            <a:ea typeface="標楷體" panose="03000509000000000000" pitchFamily="65" charset="-120"/>
          </a:endParaRPr>
        </a:p>
        <a:p>
          <a:r>
            <a:rPr lang="zh-TW" altLang="en-US" sz="16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建立目標式：最大任務數 </a:t>
          </a:r>
          <a:r>
            <a:rPr lang="en-US" altLang="en-US" sz="16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&amp; </a:t>
          </a:r>
          <a:r>
            <a:rPr lang="zh-TW" altLang="en-US" sz="16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最小化任務開始時間</a:t>
          </a:r>
        </a:p>
      </dgm:t>
    </dgm:pt>
    <dgm:pt modelId="{325EE748-EFA4-4C69-A973-D18C53207F60}" type="parTrans" cxnId="{DCD79DB2-1A6B-4188-A1D0-0066109CF471}">
      <dgm:prSet/>
      <dgm:spPr/>
      <dgm:t>
        <a:bodyPr/>
        <a:lstStyle/>
        <a:p>
          <a:endParaRPr lang="zh-TW" altLang="en-US" baseline="0">
            <a:latin typeface="Times New Roman" panose="02020603050405020304" pitchFamily="18" charset="0"/>
            <a:ea typeface="標楷體" panose="03000509000000000000" pitchFamily="65" charset="-120"/>
          </a:endParaRPr>
        </a:p>
      </dgm:t>
    </dgm:pt>
    <dgm:pt modelId="{447F83C3-3629-4192-B1C6-C515424EF702}" type="sibTrans" cxnId="{DCD79DB2-1A6B-4188-A1D0-0066109CF471}">
      <dgm:prSet/>
      <dgm:spPr/>
      <dgm:t>
        <a:bodyPr/>
        <a:lstStyle/>
        <a:p>
          <a:endParaRPr lang="zh-TW" altLang="en-US" baseline="0">
            <a:latin typeface="Times New Roman" panose="02020603050405020304" pitchFamily="18" charset="0"/>
            <a:ea typeface="標楷體" panose="03000509000000000000" pitchFamily="65" charset="-120"/>
          </a:endParaRPr>
        </a:p>
      </dgm:t>
    </dgm:pt>
    <dgm:pt modelId="{A48848C7-37DD-4D65-B99C-D66727398AC6}">
      <dgm:prSet custT="1">
        <dgm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zh-TW" altLang="en-US" sz="18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使用</a:t>
          </a:r>
          <a:r>
            <a:rPr lang="en-US" altLang="zh-TW" sz="18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IBM</a:t>
          </a:r>
          <a:r>
            <a:rPr lang="zh-TW" altLang="en-US" sz="18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 </a:t>
          </a:r>
          <a:r>
            <a:rPr lang="en-US" altLang="zh-TW" sz="18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CP</a:t>
          </a:r>
          <a:r>
            <a:rPr lang="zh-TW" altLang="en-US" sz="18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 </a:t>
          </a:r>
          <a:r>
            <a:rPr lang="en-US" altLang="zh-TW" sz="18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Optimizer</a:t>
          </a:r>
          <a:r>
            <a:rPr lang="zh-TW" altLang="en-US" sz="18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求解</a:t>
          </a:r>
        </a:p>
      </dgm:t>
    </dgm:pt>
    <dgm:pt modelId="{7E2EEC6D-3D4B-4E95-AF2D-E337D6192D57}" type="parTrans" cxnId="{D167E250-E2A5-46A7-8931-278C79F877C3}">
      <dgm:prSet/>
      <dgm:spPr/>
      <dgm:t>
        <a:bodyPr/>
        <a:lstStyle/>
        <a:p>
          <a:endParaRPr lang="zh-TW" altLang="en-US" baseline="0">
            <a:latin typeface="Times New Roman" panose="02020603050405020304" pitchFamily="18" charset="0"/>
            <a:ea typeface="標楷體" panose="03000509000000000000" pitchFamily="65" charset="-120"/>
          </a:endParaRPr>
        </a:p>
      </dgm:t>
    </dgm:pt>
    <dgm:pt modelId="{EB5FF23B-D469-43CD-807F-508A20DCEECE}" type="sibTrans" cxnId="{D167E250-E2A5-46A7-8931-278C79F877C3}">
      <dgm:prSet/>
      <dgm:spPr/>
      <dgm:t>
        <a:bodyPr/>
        <a:lstStyle/>
        <a:p>
          <a:endParaRPr lang="zh-TW" altLang="en-US" baseline="0">
            <a:latin typeface="Times New Roman" panose="02020603050405020304" pitchFamily="18" charset="0"/>
            <a:ea typeface="標楷體" panose="03000509000000000000" pitchFamily="65" charset="-120"/>
          </a:endParaRPr>
        </a:p>
      </dgm:t>
    </dgm:pt>
    <dgm:pt modelId="{933334CE-ED4F-45F4-AA19-751ACE6F5028}">
      <dgm:prSet phldrT="[文字]" custT="1">
        <dgm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zh-TW" altLang="en-US" sz="18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自動從</a:t>
          </a:r>
          <a:r>
            <a:rPr lang="en-US" altLang="zh-TW" sz="18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excel</a:t>
          </a:r>
          <a:r>
            <a:rPr lang="zh-TW" altLang="en-US" sz="18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讀入任務、地面站日蝕軌道與資源上限等資料列表</a:t>
          </a:r>
        </a:p>
      </dgm:t>
    </dgm:pt>
    <dgm:pt modelId="{00431807-DD2E-46B5-BA69-01990543B2ED}" type="sibTrans" cxnId="{040E8F13-D34D-4E9B-B0FB-A7C3A47E6922}">
      <dgm:prSet/>
      <dgm:spPr/>
      <dgm:t>
        <a:bodyPr/>
        <a:lstStyle/>
        <a:p>
          <a:endParaRPr lang="zh-TW" altLang="en-US" baseline="0">
            <a:latin typeface="Times New Roman" panose="02020603050405020304" pitchFamily="18" charset="0"/>
            <a:ea typeface="標楷體" panose="03000509000000000000" pitchFamily="65" charset="-120"/>
          </a:endParaRPr>
        </a:p>
      </dgm:t>
    </dgm:pt>
    <dgm:pt modelId="{B386F245-DC1D-40C4-85B9-44CBBC79568C}" type="parTrans" cxnId="{040E8F13-D34D-4E9B-B0FB-A7C3A47E6922}">
      <dgm:prSet/>
      <dgm:spPr/>
      <dgm:t>
        <a:bodyPr/>
        <a:lstStyle/>
        <a:p>
          <a:endParaRPr lang="zh-TW" altLang="en-US" baseline="0">
            <a:latin typeface="Times New Roman" panose="02020603050405020304" pitchFamily="18" charset="0"/>
            <a:ea typeface="標楷體" panose="03000509000000000000" pitchFamily="65" charset="-120"/>
          </a:endParaRPr>
        </a:p>
      </dgm:t>
    </dgm:pt>
    <dgm:pt modelId="{933E73B0-5846-4AA1-A658-233AB6D85628}" type="pres">
      <dgm:prSet presAssocID="{7AD0DC84-DCBE-40E2-936A-B6D14367690F}" presName="Name0" presStyleCnt="0">
        <dgm:presLayoutVars>
          <dgm:dir/>
          <dgm:resizeHandles val="exact"/>
        </dgm:presLayoutVars>
      </dgm:prSet>
      <dgm:spPr/>
    </dgm:pt>
    <dgm:pt modelId="{5CFF55FE-2243-475A-9EF6-1CAE88DDD0A3}" type="pres">
      <dgm:prSet presAssocID="{933334CE-ED4F-45F4-AA19-751ACE6F5028}" presName="node" presStyleLbl="node1" presStyleIdx="0" presStyleCnt="5" custScaleX="186454" custScaleY="115860" custLinFactNeighborX="-1466" custLinFactNeighborY="8194">
        <dgm:presLayoutVars>
          <dgm:bulletEnabled val="1"/>
        </dgm:presLayoutVars>
      </dgm:prSet>
      <dgm:spPr/>
    </dgm:pt>
    <dgm:pt modelId="{83BD1F54-F53E-4307-B920-717F23833AB2}" type="pres">
      <dgm:prSet presAssocID="{00431807-DD2E-46B5-BA69-01990543B2ED}" presName="sibTrans" presStyleLbl="sibTrans2D1" presStyleIdx="0" presStyleCnt="4"/>
      <dgm:spPr/>
    </dgm:pt>
    <dgm:pt modelId="{7830E7CA-CD7F-498D-8D46-677E4E98E914}" type="pres">
      <dgm:prSet presAssocID="{00431807-DD2E-46B5-BA69-01990543B2ED}" presName="connectorText" presStyleLbl="sibTrans2D1" presStyleIdx="0" presStyleCnt="4"/>
      <dgm:spPr/>
    </dgm:pt>
    <dgm:pt modelId="{C3D32A4A-F911-4D4D-BD2E-F6713EC0B26A}" type="pres">
      <dgm:prSet presAssocID="{DFA30286-C272-4E8D-BC65-1B78424C028C}" presName="node" presStyleLbl="node1" presStyleIdx="1" presStyleCnt="5" custScaleX="131971" custLinFactNeighborX="-956" custLinFactNeighborY="56138">
        <dgm:presLayoutVars>
          <dgm:bulletEnabled val="1"/>
        </dgm:presLayoutVars>
      </dgm:prSet>
      <dgm:spPr/>
    </dgm:pt>
    <dgm:pt modelId="{4E4D70C5-95C6-423C-BA19-218D52C72D81}" type="pres">
      <dgm:prSet presAssocID="{461BC032-348C-4BC9-BDFA-36F8D5B3D545}" presName="sibTrans" presStyleLbl="sibTrans2D1" presStyleIdx="1" presStyleCnt="4"/>
      <dgm:spPr/>
    </dgm:pt>
    <dgm:pt modelId="{A1CA9F73-7E46-4088-B4EE-BADE9DD2FE77}" type="pres">
      <dgm:prSet presAssocID="{461BC032-348C-4BC9-BDFA-36F8D5B3D545}" presName="connectorText" presStyleLbl="sibTrans2D1" presStyleIdx="1" presStyleCnt="4"/>
      <dgm:spPr/>
    </dgm:pt>
    <dgm:pt modelId="{E2AEED15-EAD2-44FC-A918-886BB5B2880D}" type="pres">
      <dgm:prSet presAssocID="{3207E5A2-471B-4FBB-B3BE-2114E7F9CD87}" presName="node" presStyleLbl="node1" presStyleIdx="2" presStyleCnt="5" custScaleX="252603" custLinFactNeighborX="-14" custLinFactNeighborY="58601">
        <dgm:presLayoutVars>
          <dgm:bulletEnabled val="1"/>
        </dgm:presLayoutVars>
      </dgm:prSet>
      <dgm:spPr/>
    </dgm:pt>
    <dgm:pt modelId="{BABC800B-A672-4215-80C0-9EA3E77B986C}" type="pres">
      <dgm:prSet presAssocID="{447F83C3-3629-4192-B1C6-C515424EF702}" presName="sibTrans" presStyleLbl="sibTrans2D1" presStyleIdx="2" presStyleCnt="4"/>
      <dgm:spPr/>
    </dgm:pt>
    <dgm:pt modelId="{B56F5640-B7F0-4B05-BAD7-7019A5D5622B}" type="pres">
      <dgm:prSet presAssocID="{447F83C3-3629-4192-B1C6-C515424EF702}" presName="connectorText" presStyleLbl="sibTrans2D1" presStyleIdx="2" presStyleCnt="4"/>
      <dgm:spPr/>
    </dgm:pt>
    <dgm:pt modelId="{A5B6FE68-D0D2-4D00-B7BF-8D94A7130EF7}" type="pres">
      <dgm:prSet presAssocID="{A48848C7-37DD-4D65-B99C-D66727398AC6}" presName="node" presStyleLbl="node1" presStyleIdx="3" presStyleCnt="5" custScaleX="131326" custScaleY="97952" custLinFactNeighborX="8045" custLinFactNeighborY="57600">
        <dgm:presLayoutVars>
          <dgm:bulletEnabled val="1"/>
        </dgm:presLayoutVars>
      </dgm:prSet>
      <dgm:spPr/>
    </dgm:pt>
    <dgm:pt modelId="{6DE9FEE6-BC69-4F2D-B20C-080A54A4199F}" type="pres">
      <dgm:prSet presAssocID="{EB5FF23B-D469-43CD-807F-508A20DCEECE}" presName="sibTrans" presStyleLbl="sibTrans2D1" presStyleIdx="3" presStyleCnt="4"/>
      <dgm:spPr/>
    </dgm:pt>
    <dgm:pt modelId="{A44DB33E-36C5-4AE6-B773-BDB79416121B}" type="pres">
      <dgm:prSet presAssocID="{EB5FF23B-D469-43CD-807F-508A20DCEECE}" presName="connectorText" presStyleLbl="sibTrans2D1" presStyleIdx="3" presStyleCnt="4"/>
      <dgm:spPr/>
    </dgm:pt>
    <dgm:pt modelId="{84D70440-C93B-4A23-9A20-E4B0FC22B0B8}" type="pres">
      <dgm:prSet presAssocID="{26AACEE0-B66A-431A-AC35-8D3A0522F998}" presName="node" presStyleLbl="node1" presStyleIdx="4" presStyleCnt="5" custScaleX="108225" custLinFactNeighborX="1394" custLinFactNeighborY="8624">
        <dgm:presLayoutVars>
          <dgm:bulletEnabled val="1"/>
        </dgm:presLayoutVars>
      </dgm:prSet>
      <dgm:spPr/>
    </dgm:pt>
  </dgm:ptLst>
  <dgm:cxnLst>
    <dgm:cxn modelId="{421DBC02-3353-401D-A64A-8B7389DFC777}" type="presOf" srcId="{A48848C7-37DD-4D65-B99C-D66727398AC6}" destId="{A5B6FE68-D0D2-4D00-B7BF-8D94A7130EF7}" srcOrd="0" destOrd="0" presId="urn:microsoft.com/office/officeart/2005/8/layout/process1"/>
    <dgm:cxn modelId="{2CD3690C-2783-4B54-AAF5-09C7D79F67C3}" type="presOf" srcId="{447F83C3-3629-4192-B1C6-C515424EF702}" destId="{B56F5640-B7F0-4B05-BAD7-7019A5D5622B}" srcOrd="1" destOrd="0" presId="urn:microsoft.com/office/officeart/2005/8/layout/process1"/>
    <dgm:cxn modelId="{7DD3CF0E-3CC9-4319-9D8D-E0AA2297ECC7}" type="presOf" srcId="{933334CE-ED4F-45F4-AA19-751ACE6F5028}" destId="{5CFF55FE-2243-475A-9EF6-1CAE88DDD0A3}" srcOrd="0" destOrd="0" presId="urn:microsoft.com/office/officeart/2005/8/layout/process1"/>
    <dgm:cxn modelId="{84BB4F11-4AFE-4481-BB2D-52CBAD7C899D}" type="presOf" srcId="{3207E5A2-471B-4FBB-B3BE-2114E7F9CD87}" destId="{E2AEED15-EAD2-44FC-A918-886BB5B2880D}" srcOrd="0" destOrd="0" presId="urn:microsoft.com/office/officeart/2005/8/layout/process1"/>
    <dgm:cxn modelId="{040E8F13-D34D-4E9B-B0FB-A7C3A47E6922}" srcId="{7AD0DC84-DCBE-40E2-936A-B6D14367690F}" destId="{933334CE-ED4F-45F4-AA19-751ACE6F5028}" srcOrd="0" destOrd="0" parTransId="{B386F245-DC1D-40C4-85B9-44CBBC79568C}" sibTransId="{00431807-DD2E-46B5-BA69-01990543B2ED}"/>
    <dgm:cxn modelId="{0E20E720-86F8-4DEB-B9D6-C246C80D40E6}" type="presOf" srcId="{00431807-DD2E-46B5-BA69-01990543B2ED}" destId="{7830E7CA-CD7F-498D-8D46-677E4E98E914}" srcOrd="1" destOrd="0" presId="urn:microsoft.com/office/officeart/2005/8/layout/process1"/>
    <dgm:cxn modelId="{D167E250-E2A5-46A7-8931-278C79F877C3}" srcId="{7AD0DC84-DCBE-40E2-936A-B6D14367690F}" destId="{A48848C7-37DD-4D65-B99C-D66727398AC6}" srcOrd="3" destOrd="0" parTransId="{7E2EEC6D-3D4B-4E95-AF2D-E337D6192D57}" sibTransId="{EB5FF23B-D469-43CD-807F-508A20DCEECE}"/>
    <dgm:cxn modelId="{48628574-1E46-4AD6-8422-C2758B071E45}" type="presOf" srcId="{7AD0DC84-DCBE-40E2-936A-B6D14367690F}" destId="{933E73B0-5846-4AA1-A658-233AB6D85628}" srcOrd="0" destOrd="0" presId="urn:microsoft.com/office/officeart/2005/8/layout/process1"/>
    <dgm:cxn modelId="{0A61EC92-3872-47FD-AE7F-788D9B1F97A9}" type="presOf" srcId="{461BC032-348C-4BC9-BDFA-36F8D5B3D545}" destId="{4E4D70C5-95C6-423C-BA19-218D52C72D81}" srcOrd="0" destOrd="0" presId="urn:microsoft.com/office/officeart/2005/8/layout/process1"/>
    <dgm:cxn modelId="{CD6EC5A9-79A0-413B-9F2F-B9696AA7774E}" type="presOf" srcId="{EB5FF23B-D469-43CD-807F-508A20DCEECE}" destId="{6DE9FEE6-BC69-4F2D-B20C-080A54A4199F}" srcOrd="0" destOrd="0" presId="urn:microsoft.com/office/officeart/2005/8/layout/process1"/>
    <dgm:cxn modelId="{1FD6C6B1-9CDB-4B7C-A61A-EEA92935F102}" type="presOf" srcId="{00431807-DD2E-46B5-BA69-01990543B2ED}" destId="{83BD1F54-F53E-4307-B920-717F23833AB2}" srcOrd="0" destOrd="0" presId="urn:microsoft.com/office/officeart/2005/8/layout/process1"/>
    <dgm:cxn modelId="{DCD79DB2-1A6B-4188-A1D0-0066109CF471}" srcId="{7AD0DC84-DCBE-40E2-936A-B6D14367690F}" destId="{3207E5A2-471B-4FBB-B3BE-2114E7F9CD87}" srcOrd="2" destOrd="0" parTransId="{325EE748-EFA4-4C69-A973-D18C53207F60}" sibTransId="{447F83C3-3629-4192-B1C6-C515424EF702}"/>
    <dgm:cxn modelId="{37CE29B7-2C73-4B78-BC1F-42A8AF54883C}" srcId="{7AD0DC84-DCBE-40E2-936A-B6D14367690F}" destId="{DFA30286-C272-4E8D-BC65-1B78424C028C}" srcOrd="1" destOrd="0" parTransId="{915DB7A3-5CBC-40DA-8D32-0759BD34FEC1}" sibTransId="{461BC032-348C-4BC9-BDFA-36F8D5B3D545}"/>
    <dgm:cxn modelId="{C8CE39BA-1316-45BE-A766-0B5FF718D264}" type="presOf" srcId="{EB5FF23B-D469-43CD-807F-508A20DCEECE}" destId="{A44DB33E-36C5-4AE6-B773-BDB79416121B}" srcOrd="1" destOrd="0" presId="urn:microsoft.com/office/officeart/2005/8/layout/process1"/>
    <dgm:cxn modelId="{F41D0BDA-5C2A-4D96-AA62-65FDEB74B594}" type="presOf" srcId="{447F83C3-3629-4192-B1C6-C515424EF702}" destId="{BABC800B-A672-4215-80C0-9EA3E77B986C}" srcOrd="0" destOrd="0" presId="urn:microsoft.com/office/officeart/2005/8/layout/process1"/>
    <dgm:cxn modelId="{404483E2-2108-4EED-9F2C-F08C0800B5D0}" type="presOf" srcId="{461BC032-348C-4BC9-BDFA-36F8D5B3D545}" destId="{A1CA9F73-7E46-4088-B4EE-BADE9DD2FE77}" srcOrd="1" destOrd="0" presId="urn:microsoft.com/office/officeart/2005/8/layout/process1"/>
    <dgm:cxn modelId="{4EA05BF3-B351-4E69-90FE-1E6D5E22E320}" type="presOf" srcId="{DFA30286-C272-4E8D-BC65-1B78424C028C}" destId="{C3D32A4A-F911-4D4D-BD2E-F6713EC0B26A}" srcOrd="0" destOrd="0" presId="urn:microsoft.com/office/officeart/2005/8/layout/process1"/>
    <dgm:cxn modelId="{CDC8D5F9-A0DF-45D5-A3BF-D5DBF9B2752C}" type="presOf" srcId="{26AACEE0-B66A-431A-AC35-8D3A0522F998}" destId="{84D70440-C93B-4A23-9A20-E4B0FC22B0B8}" srcOrd="0" destOrd="0" presId="urn:microsoft.com/office/officeart/2005/8/layout/process1"/>
    <dgm:cxn modelId="{23625FFD-1684-4C60-8480-360E70D685B6}" srcId="{7AD0DC84-DCBE-40E2-936A-B6D14367690F}" destId="{26AACEE0-B66A-431A-AC35-8D3A0522F998}" srcOrd="4" destOrd="0" parTransId="{63F974F2-749B-488D-B1D6-B8CB347DD567}" sibTransId="{64F1D438-A3D4-4628-A2A5-A704F6BB515C}"/>
    <dgm:cxn modelId="{5D728A6C-8D2D-4BBB-8D75-759D9DE7C68E}" type="presParOf" srcId="{933E73B0-5846-4AA1-A658-233AB6D85628}" destId="{5CFF55FE-2243-475A-9EF6-1CAE88DDD0A3}" srcOrd="0" destOrd="0" presId="urn:microsoft.com/office/officeart/2005/8/layout/process1"/>
    <dgm:cxn modelId="{6E523B6C-326C-4983-A7A0-49554BDFE403}" type="presParOf" srcId="{933E73B0-5846-4AA1-A658-233AB6D85628}" destId="{83BD1F54-F53E-4307-B920-717F23833AB2}" srcOrd="1" destOrd="0" presId="urn:microsoft.com/office/officeart/2005/8/layout/process1"/>
    <dgm:cxn modelId="{231D05BC-045B-4E65-82C1-30A37050B3B9}" type="presParOf" srcId="{83BD1F54-F53E-4307-B920-717F23833AB2}" destId="{7830E7CA-CD7F-498D-8D46-677E4E98E914}" srcOrd="0" destOrd="0" presId="urn:microsoft.com/office/officeart/2005/8/layout/process1"/>
    <dgm:cxn modelId="{7F6C9404-11D2-4135-B933-7C13B72121BA}" type="presParOf" srcId="{933E73B0-5846-4AA1-A658-233AB6D85628}" destId="{C3D32A4A-F911-4D4D-BD2E-F6713EC0B26A}" srcOrd="2" destOrd="0" presId="urn:microsoft.com/office/officeart/2005/8/layout/process1"/>
    <dgm:cxn modelId="{E1C68E7D-B4B2-42FD-97FA-4AB7E9EC33E4}" type="presParOf" srcId="{933E73B0-5846-4AA1-A658-233AB6D85628}" destId="{4E4D70C5-95C6-423C-BA19-218D52C72D81}" srcOrd="3" destOrd="0" presId="urn:microsoft.com/office/officeart/2005/8/layout/process1"/>
    <dgm:cxn modelId="{1D6ECD16-1A70-4B5D-A33C-9D94D12629B2}" type="presParOf" srcId="{4E4D70C5-95C6-423C-BA19-218D52C72D81}" destId="{A1CA9F73-7E46-4088-B4EE-BADE9DD2FE77}" srcOrd="0" destOrd="0" presId="urn:microsoft.com/office/officeart/2005/8/layout/process1"/>
    <dgm:cxn modelId="{C2BB9C14-EF68-4120-9FDC-6663BF386085}" type="presParOf" srcId="{933E73B0-5846-4AA1-A658-233AB6D85628}" destId="{E2AEED15-EAD2-44FC-A918-886BB5B2880D}" srcOrd="4" destOrd="0" presId="urn:microsoft.com/office/officeart/2005/8/layout/process1"/>
    <dgm:cxn modelId="{7C4E6BDC-4B33-4B88-8C04-09FF3E58F787}" type="presParOf" srcId="{933E73B0-5846-4AA1-A658-233AB6D85628}" destId="{BABC800B-A672-4215-80C0-9EA3E77B986C}" srcOrd="5" destOrd="0" presId="urn:microsoft.com/office/officeart/2005/8/layout/process1"/>
    <dgm:cxn modelId="{206DAAA6-8A88-44A5-8900-BBEA906D1357}" type="presParOf" srcId="{BABC800B-A672-4215-80C0-9EA3E77B986C}" destId="{B56F5640-B7F0-4B05-BAD7-7019A5D5622B}" srcOrd="0" destOrd="0" presId="urn:microsoft.com/office/officeart/2005/8/layout/process1"/>
    <dgm:cxn modelId="{FA0C1354-4D8E-4C2D-92C6-29E86728786D}" type="presParOf" srcId="{933E73B0-5846-4AA1-A658-233AB6D85628}" destId="{A5B6FE68-D0D2-4D00-B7BF-8D94A7130EF7}" srcOrd="6" destOrd="0" presId="urn:microsoft.com/office/officeart/2005/8/layout/process1"/>
    <dgm:cxn modelId="{81EDE6DA-BF30-4D3A-A83C-776CA4DBF0B3}" type="presParOf" srcId="{933E73B0-5846-4AA1-A658-233AB6D85628}" destId="{6DE9FEE6-BC69-4F2D-B20C-080A54A4199F}" srcOrd="7" destOrd="0" presId="urn:microsoft.com/office/officeart/2005/8/layout/process1"/>
    <dgm:cxn modelId="{6F446AE9-7313-44EB-86FD-7C05BEFC065E}" type="presParOf" srcId="{6DE9FEE6-BC69-4F2D-B20C-080A54A4199F}" destId="{A44DB33E-36C5-4AE6-B773-BDB79416121B}" srcOrd="0" destOrd="0" presId="urn:microsoft.com/office/officeart/2005/8/layout/process1"/>
    <dgm:cxn modelId="{F7FA9F7E-4530-4987-A40A-52A305A762AC}" type="presParOf" srcId="{933E73B0-5846-4AA1-A658-233AB6D85628}" destId="{84D70440-C93B-4A23-9A20-E4B0FC22B0B8}" srcOrd="8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AD0DC84-DCBE-40E2-936A-B6D14367690F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TW" altLang="en-US"/>
        </a:p>
      </dgm:t>
    </dgm:pt>
    <dgm:pt modelId="{DFA30286-C272-4E8D-BC65-1B78424C028C}">
      <dgm:prSet phldrT="[文字]" custT="1">
        <dgm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zh-TW" altLang="en-US" sz="18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將任務依種類宣告為二元與連續變數</a:t>
          </a:r>
        </a:p>
      </dgm:t>
    </dgm:pt>
    <dgm:pt modelId="{915DB7A3-5CBC-40DA-8D32-0759BD34FEC1}" type="parTrans" cxnId="{37CE29B7-2C73-4B78-BC1F-42A8AF54883C}">
      <dgm:prSet/>
      <dgm:spPr/>
      <dgm:t>
        <a:bodyPr/>
        <a:lstStyle/>
        <a:p>
          <a:endParaRPr lang="zh-TW" altLang="en-US"/>
        </a:p>
      </dgm:t>
    </dgm:pt>
    <dgm:pt modelId="{461BC032-348C-4BC9-BDFA-36F8D5B3D545}" type="sibTrans" cxnId="{37CE29B7-2C73-4B78-BC1F-42A8AF54883C}">
      <dgm:prSet/>
      <dgm:spPr/>
      <dgm:t>
        <a:bodyPr/>
        <a:lstStyle/>
        <a:p>
          <a:endParaRPr lang="zh-TW" altLang="en-US" baseline="0" dirty="0">
            <a:latin typeface="Times New Roman" panose="02020603050405020304" pitchFamily="18" charset="0"/>
            <a:ea typeface="標楷體" panose="03000509000000000000" pitchFamily="65" charset="-120"/>
          </a:endParaRPr>
        </a:p>
      </dgm:t>
    </dgm:pt>
    <dgm:pt modelId="{26AACEE0-B66A-431A-AC35-8D3A0522F998}">
      <dgm:prSet phldrT="[文字]" custT="1">
        <dgm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zh-TW" altLang="en-US" sz="18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將排程結果匯入</a:t>
          </a:r>
          <a:r>
            <a:rPr lang="en-US" altLang="zh-TW" sz="18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excel</a:t>
          </a:r>
          <a:endParaRPr lang="zh-TW" altLang="en-US" sz="1800" baseline="0" dirty="0">
            <a:latin typeface="Times New Roman" panose="02020603050405020304" pitchFamily="18" charset="0"/>
            <a:ea typeface="標楷體" panose="03000509000000000000" pitchFamily="65" charset="-120"/>
          </a:endParaRPr>
        </a:p>
      </dgm:t>
    </dgm:pt>
    <dgm:pt modelId="{63F974F2-749B-488D-B1D6-B8CB347DD567}" type="parTrans" cxnId="{23625FFD-1684-4C60-8480-360E70D685B6}">
      <dgm:prSet/>
      <dgm:spPr/>
      <dgm:t>
        <a:bodyPr/>
        <a:lstStyle/>
        <a:p>
          <a:endParaRPr lang="zh-TW" altLang="en-US"/>
        </a:p>
      </dgm:t>
    </dgm:pt>
    <dgm:pt modelId="{64F1D438-A3D4-4628-A2A5-A704F6BB515C}" type="sibTrans" cxnId="{23625FFD-1684-4C60-8480-360E70D685B6}">
      <dgm:prSet/>
      <dgm:spPr/>
      <dgm:t>
        <a:bodyPr/>
        <a:lstStyle/>
        <a:p>
          <a:endParaRPr lang="zh-TW" altLang="en-US"/>
        </a:p>
      </dgm:t>
    </dgm:pt>
    <dgm:pt modelId="{3207E5A2-471B-4FBB-B3BE-2114E7F9CD87}">
      <dgm:prSet custT="1">
        <dgm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zh-TW" altLang="en-US" sz="16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建立線性限制式：記憶體</a:t>
          </a:r>
          <a:r>
            <a:rPr lang="en-US" altLang="en-US" sz="16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/</a:t>
          </a:r>
          <a:r>
            <a:rPr lang="zh-TW" altLang="en-US" sz="16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檔名容量限制、執行時間不重疊</a:t>
          </a:r>
          <a:r>
            <a:rPr lang="en-US" altLang="zh-TW" sz="16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...</a:t>
          </a:r>
          <a:r>
            <a:rPr lang="en-US" altLang="en-US" sz="16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 </a:t>
          </a:r>
        </a:p>
        <a:p>
          <a:r>
            <a:rPr lang="zh-TW" altLang="en-US" sz="16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建立目標式：最大任務數 </a:t>
          </a:r>
          <a:r>
            <a:rPr lang="en-US" altLang="en-US" sz="16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+ </a:t>
          </a:r>
          <a:r>
            <a:rPr lang="zh-TW" altLang="en-US" sz="16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優先提早 </a:t>
          </a:r>
          <a:r>
            <a:rPr lang="en-US" altLang="en-US" sz="16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Download/Remove</a:t>
          </a:r>
          <a:endParaRPr lang="zh-TW" altLang="en-US" sz="1600" baseline="0" dirty="0">
            <a:latin typeface="Times New Roman" panose="02020603050405020304" pitchFamily="18" charset="0"/>
            <a:ea typeface="標楷體" panose="03000509000000000000" pitchFamily="65" charset="-120"/>
          </a:endParaRPr>
        </a:p>
      </dgm:t>
    </dgm:pt>
    <dgm:pt modelId="{325EE748-EFA4-4C69-A973-D18C53207F60}" type="parTrans" cxnId="{DCD79DB2-1A6B-4188-A1D0-0066109CF471}">
      <dgm:prSet/>
      <dgm:spPr/>
      <dgm:t>
        <a:bodyPr/>
        <a:lstStyle/>
        <a:p>
          <a:endParaRPr lang="zh-TW" altLang="en-US"/>
        </a:p>
      </dgm:t>
    </dgm:pt>
    <dgm:pt modelId="{447F83C3-3629-4192-B1C6-C515424EF702}" type="sibTrans" cxnId="{DCD79DB2-1A6B-4188-A1D0-0066109CF471}">
      <dgm:prSet/>
      <dgm:spPr/>
      <dgm:t>
        <a:bodyPr/>
        <a:lstStyle/>
        <a:p>
          <a:endParaRPr lang="zh-TW" altLang="en-US" baseline="0">
            <a:latin typeface="Times New Roman" panose="02020603050405020304" pitchFamily="18" charset="0"/>
            <a:ea typeface="標楷體" panose="03000509000000000000" pitchFamily="65" charset="-120"/>
          </a:endParaRPr>
        </a:p>
      </dgm:t>
    </dgm:pt>
    <dgm:pt modelId="{A48848C7-37DD-4D65-B99C-D66727398AC6}">
      <dgm:prSet custT="1">
        <dgm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zh-TW" altLang="en-US" sz="18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使用</a:t>
          </a:r>
          <a:r>
            <a:rPr lang="en-US" altLang="zh-TW" sz="18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IBM</a:t>
          </a:r>
          <a:r>
            <a:rPr lang="zh-TW" altLang="en-US" sz="18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 </a:t>
          </a:r>
          <a:r>
            <a:rPr lang="en-US" altLang="zh-TW" sz="18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CPLEX</a:t>
          </a:r>
          <a:r>
            <a:rPr lang="zh-TW" altLang="en-US" sz="18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求解</a:t>
          </a:r>
        </a:p>
      </dgm:t>
    </dgm:pt>
    <dgm:pt modelId="{7E2EEC6D-3D4B-4E95-AF2D-E337D6192D57}" type="parTrans" cxnId="{D167E250-E2A5-46A7-8931-278C79F877C3}">
      <dgm:prSet/>
      <dgm:spPr/>
      <dgm:t>
        <a:bodyPr/>
        <a:lstStyle/>
        <a:p>
          <a:endParaRPr lang="zh-TW" altLang="en-US"/>
        </a:p>
      </dgm:t>
    </dgm:pt>
    <dgm:pt modelId="{EB5FF23B-D469-43CD-807F-508A20DCEECE}" type="sibTrans" cxnId="{D167E250-E2A5-46A7-8931-278C79F877C3}">
      <dgm:prSet/>
      <dgm:spPr/>
      <dgm:t>
        <a:bodyPr/>
        <a:lstStyle/>
        <a:p>
          <a:endParaRPr lang="zh-TW" altLang="en-US" baseline="0">
            <a:latin typeface="Times New Roman" panose="02020603050405020304" pitchFamily="18" charset="0"/>
            <a:ea typeface="標楷體" panose="03000509000000000000" pitchFamily="65" charset="-120"/>
          </a:endParaRPr>
        </a:p>
      </dgm:t>
    </dgm:pt>
    <dgm:pt modelId="{933334CE-ED4F-45F4-AA19-751ACE6F5028}">
      <dgm:prSet phldrT="[文字]" custT="1">
        <dgm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zh-TW" altLang="en-US" sz="18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自動從</a:t>
          </a:r>
          <a:r>
            <a:rPr lang="en-US" altLang="zh-TW" sz="18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excel</a:t>
          </a:r>
          <a:r>
            <a:rPr lang="zh-TW" altLang="en-US" sz="18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讀入任務、地面站、日蝕軌道與資源上限等資料列表</a:t>
          </a:r>
        </a:p>
      </dgm:t>
    </dgm:pt>
    <dgm:pt modelId="{00431807-DD2E-46B5-BA69-01990543B2ED}" type="sibTrans" cxnId="{040E8F13-D34D-4E9B-B0FB-A7C3A47E6922}">
      <dgm:prSet/>
      <dgm:spPr/>
      <dgm:t>
        <a:bodyPr/>
        <a:lstStyle/>
        <a:p>
          <a:endParaRPr lang="zh-TW" altLang="en-US" baseline="0">
            <a:latin typeface="Times New Roman" panose="02020603050405020304" pitchFamily="18" charset="0"/>
            <a:ea typeface="標楷體" panose="03000509000000000000" pitchFamily="65" charset="-120"/>
          </a:endParaRPr>
        </a:p>
      </dgm:t>
    </dgm:pt>
    <dgm:pt modelId="{B386F245-DC1D-40C4-85B9-44CBBC79568C}" type="parTrans" cxnId="{040E8F13-D34D-4E9B-B0FB-A7C3A47E6922}">
      <dgm:prSet/>
      <dgm:spPr/>
      <dgm:t>
        <a:bodyPr/>
        <a:lstStyle/>
        <a:p>
          <a:endParaRPr lang="zh-TW" altLang="en-US"/>
        </a:p>
      </dgm:t>
    </dgm:pt>
    <dgm:pt modelId="{933E73B0-5846-4AA1-A658-233AB6D85628}" type="pres">
      <dgm:prSet presAssocID="{7AD0DC84-DCBE-40E2-936A-B6D14367690F}" presName="Name0" presStyleCnt="0">
        <dgm:presLayoutVars>
          <dgm:dir/>
          <dgm:resizeHandles val="exact"/>
        </dgm:presLayoutVars>
      </dgm:prSet>
      <dgm:spPr/>
    </dgm:pt>
    <dgm:pt modelId="{5CFF55FE-2243-475A-9EF6-1CAE88DDD0A3}" type="pres">
      <dgm:prSet presAssocID="{933334CE-ED4F-45F4-AA19-751ACE6F5028}" presName="node" presStyleLbl="node1" presStyleIdx="0" presStyleCnt="5" custScaleX="179105">
        <dgm:presLayoutVars>
          <dgm:bulletEnabled val="1"/>
        </dgm:presLayoutVars>
      </dgm:prSet>
      <dgm:spPr/>
    </dgm:pt>
    <dgm:pt modelId="{83BD1F54-F53E-4307-B920-717F23833AB2}" type="pres">
      <dgm:prSet presAssocID="{00431807-DD2E-46B5-BA69-01990543B2ED}" presName="sibTrans" presStyleLbl="sibTrans2D1" presStyleIdx="0" presStyleCnt="4"/>
      <dgm:spPr/>
    </dgm:pt>
    <dgm:pt modelId="{7830E7CA-CD7F-498D-8D46-677E4E98E914}" type="pres">
      <dgm:prSet presAssocID="{00431807-DD2E-46B5-BA69-01990543B2ED}" presName="connectorText" presStyleLbl="sibTrans2D1" presStyleIdx="0" presStyleCnt="4"/>
      <dgm:spPr/>
    </dgm:pt>
    <dgm:pt modelId="{C3D32A4A-F911-4D4D-BD2E-F6713EC0B26A}" type="pres">
      <dgm:prSet presAssocID="{DFA30286-C272-4E8D-BC65-1B78424C028C}" presName="node" presStyleLbl="node1" presStyleIdx="1" presStyleCnt="5" custScaleX="132100" custLinFactNeighborX="-2823" custLinFactNeighborY="-68931">
        <dgm:presLayoutVars>
          <dgm:bulletEnabled val="1"/>
        </dgm:presLayoutVars>
      </dgm:prSet>
      <dgm:spPr/>
    </dgm:pt>
    <dgm:pt modelId="{4E4D70C5-95C6-423C-BA19-218D52C72D81}" type="pres">
      <dgm:prSet presAssocID="{461BC032-348C-4BC9-BDFA-36F8D5B3D545}" presName="sibTrans" presStyleLbl="sibTrans2D1" presStyleIdx="1" presStyleCnt="4"/>
      <dgm:spPr/>
    </dgm:pt>
    <dgm:pt modelId="{A1CA9F73-7E46-4088-B4EE-BADE9DD2FE77}" type="pres">
      <dgm:prSet presAssocID="{461BC032-348C-4BC9-BDFA-36F8D5B3D545}" presName="connectorText" presStyleLbl="sibTrans2D1" presStyleIdx="1" presStyleCnt="4"/>
      <dgm:spPr/>
    </dgm:pt>
    <dgm:pt modelId="{E2AEED15-EAD2-44FC-A918-886BB5B2880D}" type="pres">
      <dgm:prSet presAssocID="{3207E5A2-471B-4FBB-B3BE-2114E7F9CD87}" presName="node" presStyleLbl="node1" presStyleIdx="2" presStyleCnt="5" custScaleX="237852" custLinFactNeighborX="1945" custLinFactNeighborY="-68654">
        <dgm:presLayoutVars>
          <dgm:bulletEnabled val="1"/>
        </dgm:presLayoutVars>
      </dgm:prSet>
      <dgm:spPr/>
    </dgm:pt>
    <dgm:pt modelId="{BABC800B-A672-4215-80C0-9EA3E77B986C}" type="pres">
      <dgm:prSet presAssocID="{447F83C3-3629-4192-B1C6-C515424EF702}" presName="sibTrans" presStyleLbl="sibTrans2D1" presStyleIdx="2" presStyleCnt="4"/>
      <dgm:spPr/>
    </dgm:pt>
    <dgm:pt modelId="{B56F5640-B7F0-4B05-BAD7-7019A5D5622B}" type="pres">
      <dgm:prSet presAssocID="{447F83C3-3629-4192-B1C6-C515424EF702}" presName="connectorText" presStyleLbl="sibTrans2D1" presStyleIdx="2" presStyleCnt="4"/>
      <dgm:spPr/>
    </dgm:pt>
    <dgm:pt modelId="{A5B6FE68-D0D2-4D00-B7BF-8D94A7130EF7}" type="pres">
      <dgm:prSet presAssocID="{A48848C7-37DD-4D65-B99C-D66727398AC6}" presName="node" presStyleLbl="node1" presStyleIdx="3" presStyleCnt="5" custLinFactNeighborX="-602" custLinFactNeighborY="-70384">
        <dgm:presLayoutVars>
          <dgm:bulletEnabled val="1"/>
        </dgm:presLayoutVars>
      </dgm:prSet>
      <dgm:spPr/>
    </dgm:pt>
    <dgm:pt modelId="{6DE9FEE6-BC69-4F2D-B20C-080A54A4199F}" type="pres">
      <dgm:prSet presAssocID="{EB5FF23B-D469-43CD-807F-508A20DCEECE}" presName="sibTrans" presStyleLbl="sibTrans2D1" presStyleIdx="3" presStyleCnt="4"/>
      <dgm:spPr/>
    </dgm:pt>
    <dgm:pt modelId="{A44DB33E-36C5-4AE6-B773-BDB79416121B}" type="pres">
      <dgm:prSet presAssocID="{EB5FF23B-D469-43CD-807F-508A20DCEECE}" presName="connectorText" presStyleLbl="sibTrans2D1" presStyleIdx="3" presStyleCnt="4"/>
      <dgm:spPr/>
    </dgm:pt>
    <dgm:pt modelId="{84D70440-C93B-4A23-9A20-E4B0FC22B0B8}" type="pres">
      <dgm:prSet presAssocID="{26AACEE0-B66A-431A-AC35-8D3A0522F998}" presName="node" presStyleLbl="node1" presStyleIdx="4" presStyleCnt="5" custScaleY="79627">
        <dgm:presLayoutVars>
          <dgm:bulletEnabled val="1"/>
        </dgm:presLayoutVars>
      </dgm:prSet>
      <dgm:spPr/>
    </dgm:pt>
  </dgm:ptLst>
  <dgm:cxnLst>
    <dgm:cxn modelId="{421DBC02-3353-401D-A64A-8B7389DFC777}" type="presOf" srcId="{A48848C7-37DD-4D65-B99C-D66727398AC6}" destId="{A5B6FE68-D0D2-4D00-B7BF-8D94A7130EF7}" srcOrd="0" destOrd="0" presId="urn:microsoft.com/office/officeart/2005/8/layout/process1"/>
    <dgm:cxn modelId="{2CD3690C-2783-4B54-AAF5-09C7D79F67C3}" type="presOf" srcId="{447F83C3-3629-4192-B1C6-C515424EF702}" destId="{B56F5640-B7F0-4B05-BAD7-7019A5D5622B}" srcOrd="1" destOrd="0" presId="urn:microsoft.com/office/officeart/2005/8/layout/process1"/>
    <dgm:cxn modelId="{7DD3CF0E-3CC9-4319-9D8D-E0AA2297ECC7}" type="presOf" srcId="{933334CE-ED4F-45F4-AA19-751ACE6F5028}" destId="{5CFF55FE-2243-475A-9EF6-1CAE88DDD0A3}" srcOrd="0" destOrd="0" presId="urn:microsoft.com/office/officeart/2005/8/layout/process1"/>
    <dgm:cxn modelId="{84BB4F11-4AFE-4481-BB2D-52CBAD7C899D}" type="presOf" srcId="{3207E5A2-471B-4FBB-B3BE-2114E7F9CD87}" destId="{E2AEED15-EAD2-44FC-A918-886BB5B2880D}" srcOrd="0" destOrd="0" presId="urn:microsoft.com/office/officeart/2005/8/layout/process1"/>
    <dgm:cxn modelId="{040E8F13-D34D-4E9B-B0FB-A7C3A47E6922}" srcId="{7AD0DC84-DCBE-40E2-936A-B6D14367690F}" destId="{933334CE-ED4F-45F4-AA19-751ACE6F5028}" srcOrd="0" destOrd="0" parTransId="{B386F245-DC1D-40C4-85B9-44CBBC79568C}" sibTransId="{00431807-DD2E-46B5-BA69-01990543B2ED}"/>
    <dgm:cxn modelId="{0E20E720-86F8-4DEB-B9D6-C246C80D40E6}" type="presOf" srcId="{00431807-DD2E-46B5-BA69-01990543B2ED}" destId="{7830E7CA-CD7F-498D-8D46-677E4E98E914}" srcOrd="1" destOrd="0" presId="urn:microsoft.com/office/officeart/2005/8/layout/process1"/>
    <dgm:cxn modelId="{D167E250-E2A5-46A7-8931-278C79F877C3}" srcId="{7AD0DC84-DCBE-40E2-936A-B6D14367690F}" destId="{A48848C7-37DD-4D65-B99C-D66727398AC6}" srcOrd="3" destOrd="0" parTransId="{7E2EEC6D-3D4B-4E95-AF2D-E337D6192D57}" sibTransId="{EB5FF23B-D469-43CD-807F-508A20DCEECE}"/>
    <dgm:cxn modelId="{48628574-1E46-4AD6-8422-C2758B071E45}" type="presOf" srcId="{7AD0DC84-DCBE-40E2-936A-B6D14367690F}" destId="{933E73B0-5846-4AA1-A658-233AB6D85628}" srcOrd="0" destOrd="0" presId="urn:microsoft.com/office/officeart/2005/8/layout/process1"/>
    <dgm:cxn modelId="{0A61EC92-3872-47FD-AE7F-788D9B1F97A9}" type="presOf" srcId="{461BC032-348C-4BC9-BDFA-36F8D5B3D545}" destId="{4E4D70C5-95C6-423C-BA19-218D52C72D81}" srcOrd="0" destOrd="0" presId="urn:microsoft.com/office/officeart/2005/8/layout/process1"/>
    <dgm:cxn modelId="{CD6EC5A9-79A0-413B-9F2F-B9696AA7774E}" type="presOf" srcId="{EB5FF23B-D469-43CD-807F-508A20DCEECE}" destId="{6DE9FEE6-BC69-4F2D-B20C-080A54A4199F}" srcOrd="0" destOrd="0" presId="urn:microsoft.com/office/officeart/2005/8/layout/process1"/>
    <dgm:cxn modelId="{1FD6C6B1-9CDB-4B7C-A61A-EEA92935F102}" type="presOf" srcId="{00431807-DD2E-46B5-BA69-01990543B2ED}" destId="{83BD1F54-F53E-4307-B920-717F23833AB2}" srcOrd="0" destOrd="0" presId="urn:microsoft.com/office/officeart/2005/8/layout/process1"/>
    <dgm:cxn modelId="{DCD79DB2-1A6B-4188-A1D0-0066109CF471}" srcId="{7AD0DC84-DCBE-40E2-936A-B6D14367690F}" destId="{3207E5A2-471B-4FBB-B3BE-2114E7F9CD87}" srcOrd="2" destOrd="0" parTransId="{325EE748-EFA4-4C69-A973-D18C53207F60}" sibTransId="{447F83C3-3629-4192-B1C6-C515424EF702}"/>
    <dgm:cxn modelId="{37CE29B7-2C73-4B78-BC1F-42A8AF54883C}" srcId="{7AD0DC84-DCBE-40E2-936A-B6D14367690F}" destId="{DFA30286-C272-4E8D-BC65-1B78424C028C}" srcOrd="1" destOrd="0" parTransId="{915DB7A3-5CBC-40DA-8D32-0759BD34FEC1}" sibTransId="{461BC032-348C-4BC9-BDFA-36F8D5B3D545}"/>
    <dgm:cxn modelId="{C8CE39BA-1316-45BE-A766-0B5FF718D264}" type="presOf" srcId="{EB5FF23B-D469-43CD-807F-508A20DCEECE}" destId="{A44DB33E-36C5-4AE6-B773-BDB79416121B}" srcOrd="1" destOrd="0" presId="urn:microsoft.com/office/officeart/2005/8/layout/process1"/>
    <dgm:cxn modelId="{F41D0BDA-5C2A-4D96-AA62-65FDEB74B594}" type="presOf" srcId="{447F83C3-3629-4192-B1C6-C515424EF702}" destId="{BABC800B-A672-4215-80C0-9EA3E77B986C}" srcOrd="0" destOrd="0" presId="urn:microsoft.com/office/officeart/2005/8/layout/process1"/>
    <dgm:cxn modelId="{404483E2-2108-4EED-9F2C-F08C0800B5D0}" type="presOf" srcId="{461BC032-348C-4BC9-BDFA-36F8D5B3D545}" destId="{A1CA9F73-7E46-4088-B4EE-BADE9DD2FE77}" srcOrd="1" destOrd="0" presId="urn:microsoft.com/office/officeart/2005/8/layout/process1"/>
    <dgm:cxn modelId="{4EA05BF3-B351-4E69-90FE-1E6D5E22E320}" type="presOf" srcId="{DFA30286-C272-4E8D-BC65-1B78424C028C}" destId="{C3D32A4A-F911-4D4D-BD2E-F6713EC0B26A}" srcOrd="0" destOrd="0" presId="urn:microsoft.com/office/officeart/2005/8/layout/process1"/>
    <dgm:cxn modelId="{CDC8D5F9-A0DF-45D5-A3BF-D5DBF9B2752C}" type="presOf" srcId="{26AACEE0-B66A-431A-AC35-8D3A0522F998}" destId="{84D70440-C93B-4A23-9A20-E4B0FC22B0B8}" srcOrd="0" destOrd="0" presId="urn:microsoft.com/office/officeart/2005/8/layout/process1"/>
    <dgm:cxn modelId="{23625FFD-1684-4C60-8480-360E70D685B6}" srcId="{7AD0DC84-DCBE-40E2-936A-B6D14367690F}" destId="{26AACEE0-B66A-431A-AC35-8D3A0522F998}" srcOrd="4" destOrd="0" parTransId="{63F974F2-749B-488D-B1D6-B8CB347DD567}" sibTransId="{64F1D438-A3D4-4628-A2A5-A704F6BB515C}"/>
    <dgm:cxn modelId="{5D728A6C-8D2D-4BBB-8D75-759D9DE7C68E}" type="presParOf" srcId="{933E73B0-5846-4AA1-A658-233AB6D85628}" destId="{5CFF55FE-2243-475A-9EF6-1CAE88DDD0A3}" srcOrd="0" destOrd="0" presId="urn:microsoft.com/office/officeart/2005/8/layout/process1"/>
    <dgm:cxn modelId="{6E523B6C-326C-4983-A7A0-49554BDFE403}" type="presParOf" srcId="{933E73B0-5846-4AA1-A658-233AB6D85628}" destId="{83BD1F54-F53E-4307-B920-717F23833AB2}" srcOrd="1" destOrd="0" presId="urn:microsoft.com/office/officeart/2005/8/layout/process1"/>
    <dgm:cxn modelId="{231D05BC-045B-4E65-82C1-30A37050B3B9}" type="presParOf" srcId="{83BD1F54-F53E-4307-B920-717F23833AB2}" destId="{7830E7CA-CD7F-498D-8D46-677E4E98E914}" srcOrd="0" destOrd="0" presId="urn:microsoft.com/office/officeart/2005/8/layout/process1"/>
    <dgm:cxn modelId="{7F6C9404-11D2-4135-B933-7C13B72121BA}" type="presParOf" srcId="{933E73B0-5846-4AA1-A658-233AB6D85628}" destId="{C3D32A4A-F911-4D4D-BD2E-F6713EC0B26A}" srcOrd="2" destOrd="0" presId="urn:microsoft.com/office/officeart/2005/8/layout/process1"/>
    <dgm:cxn modelId="{E1C68E7D-B4B2-42FD-97FA-4AB7E9EC33E4}" type="presParOf" srcId="{933E73B0-5846-4AA1-A658-233AB6D85628}" destId="{4E4D70C5-95C6-423C-BA19-218D52C72D81}" srcOrd="3" destOrd="0" presId="urn:microsoft.com/office/officeart/2005/8/layout/process1"/>
    <dgm:cxn modelId="{1D6ECD16-1A70-4B5D-A33C-9D94D12629B2}" type="presParOf" srcId="{4E4D70C5-95C6-423C-BA19-218D52C72D81}" destId="{A1CA9F73-7E46-4088-B4EE-BADE9DD2FE77}" srcOrd="0" destOrd="0" presId="urn:microsoft.com/office/officeart/2005/8/layout/process1"/>
    <dgm:cxn modelId="{C2BB9C14-EF68-4120-9FDC-6663BF386085}" type="presParOf" srcId="{933E73B0-5846-4AA1-A658-233AB6D85628}" destId="{E2AEED15-EAD2-44FC-A918-886BB5B2880D}" srcOrd="4" destOrd="0" presId="urn:microsoft.com/office/officeart/2005/8/layout/process1"/>
    <dgm:cxn modelId="{7C4E6BDC-4B33-4B88-8C04-09FF3E58F787}" type="presParOf" srcId="{933E73B0-5846-4AA1-A658-233AB6D85628}" destId="{BABC800B-A672-4215-80C0-9EA3E77B986C}" srcOrd="5" destOrd="0" presId="urn:microsoft.com/office/officeart/2005/8/layout/process1"/>
    <dgm:cxn modelId="{206DAAA6-8A88-44A5-8900-BBEA906D1357}" type="presParOf" srcId="{BABC800B-A672-4215-80C0-9EA3E77B986C}" destId="{B56F5640-B7F0-4B05-BAD7-7019A5D5622B}" srcOrd="0" destOrd="0" presId="urn:microsoft.com/office/officeart/2005/8/layout/process1"/>
    <dgm:cxn modelId="{FA0C1354-4D8E-4C2D-92C6-29E86728786D}" type="presParOf" srcId="{933E73B0-5846-4AA1-A658-233AB6D85628}" destId="{A5B6FE68-D0D2-4D00-B7BF-8D94A7130EF7}" srcOrd="6" destOrd="0" presId="urn:microsoft.com/office/officeart/2005/8/layout/process1"/>
    <dgm:cxn modelId="{81EDE6DA-BF30-4D3A-A83C-776CA4DBF0B3}" type="presParOf" srcId="{933E73B0-5846-4AA1-A658-233AB6D85628}" destId="{6DE9FEE6-BC69-4F2D-B20C-080A54A4199F}" srcOrd="7" destOrd="0" presId="urn:microsoft.com/office/officeart/2005/8/layout/process1"/>
    <dgm:cxn modelId="{6F446AE9-7313-44EB-86FD-7C05BEFC065E}" type="presParOf" srcId="{6DE9FEE6-BC69-4F2D-B20C-080A54A4199F}" destId="{A44DB33E-36C5-4AE6-B773-BDB79416121B}" srcOrd="0" destOrd="0" presId="urn:microsoft.com/office/officeart/2005/8/layout/process1"/>
    <dgm:cxn modelId="{F7FA9F7E-4530-4987-A40A-52A305A762AC}" type="presParOf" srcId="{933E73B0-5846-4AA1-A658-233AB6D85628}" destId="{84D70440-C93B-4A23-9A20-E4B0FC22B0B8}" srcOrd="8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7AD0DC84-DCBE-40E2-936A-B6D14367690F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TW" altLang="en-US"/>
        </a:p>
      </dgm:t>
    </dgm:pt>
    <dgm:pt modelId="{DFA30286-C272-4E8D-BC65-1B78424C028C}">
      <dgm:prSet phldrT="[文字]" custT="1">
        <dgm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zh-TW" altLang="en-US" sz="18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將任務依種類宣告為區間變數</a:t>
          </a:r>
        </a:p>
      </dgm:t>
    </dgm:pt>
    <dgm:pt modelId="{915DB7A3-5CBC-40DA-8D32-0759BD34FEC1}" type="parTrans" cxnId="{37CE29B7-2C73-4B78-BC1F-42A8AF54883C}">
      <dgm:prSet/>
      <dgm:spPr/>
      <dgm:t>
        <a:bodyPr/>
        <a:lstStyle/>
        <a:p>
          <a:endParaRPr lang="zh-TW" altLang="en-US" baseline="0">
            <a:latin typeface="Times New Roman" panose="02020603050405020304" pitchFamily="18" charset="0"/>
            <a:ea typeface="標楷體" panose="03000509000000000000" pitchFamily="65" charset="-120"/>
          </a:endParaRPr>
        </a:p>
      </dgm:t>
    </dgm:pt>
    <dgm:pt modelId="{461BC032-348C-4BC9-BDFA-36F8D5B3D545}" type="sibTrans" cxnId="{37CE29B7-2C73-4B78-BC1F-42A8AF54883C}">
      <dgm:prSet/>
      <dgm:spPr/>
      <dgm:t>
        <a:bodyPr/>
        <a:lstStyle/>
        <a:p>
          <a:endParaRPr lang="zh-TW" altLang="en-US" baseline="0" dirty="0">
            <a:latin typeface="Times New Roman" panose="02020603050405020304" pitchFamily="18" charset="0"/>
            <a:ea typeface="標楷體" panose="03000509000000000000" pitchFamily="65" charset="-120"/>
          </a:endParaRPr>
        </a:p>
      </dgm:t>
    </dgm:pt>
    <dgm:pt modelId="{26AACEE0-B66A-431A-AC35-8D3A0522F998}">
      <dgm:prSet phldrT="[文字]" custT="1">
        <dgm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zh-TW" altLang="en-US" sz="18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將數學解轉換為排程結果匯入</a:t>
          </a:r>
          <a:r>
            <a:rPr lang="en-US" altLang="zh-TW" sz="18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excel</a:t>
          </a:r>
          <a:endParaRPr lang="zh-TW" altLang="en-US" sz="1800" baseline="0" dirty="0">
            <a:latin typeface="Times New Roman" panose="02020603050405020304" pitchFamily="18" charset="0"/>
            <a:ea typeface="標楷體" panose="03000509000000000000" pitchFamily="65" charset="-120"/>
          </a:endParaRPr>
        </a:p>
      </dgm:t>
    </dgm:pt>
    <dgm:pt modelId="{63F974F2-749B-488D-B1D6-B8CB347DD567}" type="parTrans" cxnId="{23625FFD-1684-4C60-8480-360E70D685B6}">
      <dgm:prSet/>
      <dgm:spPr/>
      <dgm:t>
        <a:bodyPr/>
        <a:lstStyle/>
        <a:p>
          <a:endParaRPr lang="zh-TW" altLang="en-US" baseline="0">
            <a:latin typeface="Times New Roman" panose="02020603050405020304" pitchFamily="18" charset="0"/>
            <a:ea typeface="標楷體" panose="03000509000000000000" pitchFamily="65" charset="-120"/>
          </a:endParaRPr>
        </a:p>
      </dgm:t>
    </dgm:pt>
    <dgm:pt modelId="{64F1D438-A3D4-4628-A2A5-A704F6BB515C}" type="sibTrans" cxnId="{23625FFD-1684-4C60-8480-360E70D685B6}">
      <dgm:prSet/>
      <dgm:spPr/>
      <dgm:t>
        <a:bodyPr/>
        <a:lstStyle/>
        <a:p>
          <a:endParaRPr lang="zh-TW" altLang="en-US" baseline="0">
            <a:latin typeface="Times New Roman" panose="02020603050405020304" pitchFamily="18" charset="0"/>
            <a:ea typeface="標楷體" panose="03000509000000000000" pitchFamily="65" charset="-120"/>
          </a:endParaRPr>
        </a:p>
      </dgm:t>
    </dgm:pt>
    <dgm:pt modelId="{3207E5A2-471B-4FBB-B3BE-2114E7F9CD87}">
      <dgm:prSet custT="1">
        <dgm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zh-TW" altLang="en-US" sz="16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將</a:t>
          </a:r>
          <a:r>
            <a:rPr lang="en-US" altLang="zh-TW" sz="16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MILP</a:t>
          </a:r>
          <a:r>
            <a:rPr lang="zh-TW" altLang="en-US" sz="16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模型之限制式轉換為全域限制式</a:t>
          </a:r>
          <a:endParaRPr lang="en-US" altLang="en-US" sz="1600" baseline="0" dirty="0">
            <a:latin typeface="Times New Roman" panose="02020603050405020304" pitchFamily="18" charset="0"/>
            <a:ea typeface="標楷體" panose="03000509000000000000" pitchFamily="65" charset="-120"/>
          </a:endParaRPr>
        </a:p>
        <a:p>
          <a:r>
            <a:rPr lang="zh-TW" altLang="en-US" sz="16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建立目標式：最大任務數 </a:t>
          </a:r>
          <a:r>
            <a:rPr lang="en-US" altLang="en-US" sz="16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&amp; </a:t>
          </a:r>
          <a:r>
            <a:rPr lang="zh-TW" altLang="en-US" sz="16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最小化任務開始時間</a:t>
          </a:r>
        </a:p>
      </dgm:t>
    </dgm:pt>
    <dgm:pt modelId="{325EE748-EFA4-4C69-A973-D18C53207F60}" type="parTrans" cxnId="{DCD79DB2-1A6B-4188-A1D0-0066109CF471}">
      <dgm:prSet/>
      <dgm:spPr/>
      <dgm:t>
        <a:bodyPr/>
        <a:lstStyle/>
        <a:p>
          <a:endParaRPr lang="zh-TW" altLang="en-US" baseline="0">
            <a:latin typeface="Times New Roman" panose="02020603050405020304" pitchFamily="18" charset="0"/>
            <a:ea typeface="標楷體" panose="03000509000000000000" pitchFamily="65" charset="-120"/>
          </a:endParaRPr>
        </a:p>
      </dgm:t>
    </dgm:pt>
    <dgm:pt modelId="{447F83C3-3629-4192-B1C6-C515424EF702}" type="sibTrans" cxnId="{DCD79DB2-1A6B-4188-A1D0-0066109CF471}">
      <dgm:prSet/>
      <dgm:spPr/>
      <dgm:t>
        <a:bodyPr/>
        <a:lstStyle/>
        <a:p>
          <a:endParaRPr lang="zh-TW" altLang="en-US" baseline="0">
            <a:latin typeface="Times New Roman" panose="02020603050405020304" pitchFamily="18" charset="0"/>
            <a:ea typeface="標楷體" panose="03000509000000000000" pitchFamily="65" charset="-120"/>
          </a:endParaRPr>
        </a:p>
      </dgm:t>
    </dgm:pt>
    <dgm:pt modelId="{A48848C7-37DD-4D65-B99C-D66727398AC6}">
      <dgm:prSet custT="1">
        <dgm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zh-TW" altLang="en-US" sz="18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使用</a:t>
          </a:r>
          <a:r>
            <a:rPr lang="en-US" altLang="zh-TW" sz="18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IBM</a:t>
          </a:r>
          <a:r>
            <a:rPr lang="zh-TW" altLang="en-US" sz="18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 </a:t>
          </a:r>
          <a:r>
            <a:rPr lang="en-US" altLang="zh-TW" sz="18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CP</a:t>
          </a:r>
          <a:r>
            <a:rPr lang="zh-TW" altLang="en-US" sz="18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 </a:t>
          </a:r>
          <a:r>
            <a:rPr lang="en-US" altLang="zh-TW" sz="18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Optimizer</a:t>
          </a:r>
          <a:r>
            <a:rPr lang="zh-TW" altLang="en-US" sz="18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求解</a:t>
          </a:r>
        </a:p>
      </dgm:t>
    </dgm:pt>
    <dgm:pt modelId="{7E2EEC6D-3D4B-4E95-AF2D-E337D6192D57}" type="parTrans" cxnId="{D167E250-E2A5-46A7-8931-278C79F877C3}">
      <dgm:prSet/>
      <dgm:spPr/>
      <dgm:t>
        <a:bodyPr/>
        <a:lstStyle/>
        <a:p>
          <a:endParaRPr lang="zh-TW" altLang="en-US" baseline="0">
            <a:latin typeface="Times New Roman" panose="02020603050405020304" pitchFamily="18" charset="0"/>
            <a:ea typeface="標楷體" panose="03000509000000000000" pitchFamily="65" charset="-120"/>
          </a:endParaRPr>
        </a:p>
      </dgm:t>
    </dgm:pt>
    <dgm:pt modelId="{EB5FF23B-D469-43CD-807F-508A20DCEECE}" type="sibTrans" cxnId="{D167E250-E2A5-46A7-8931-278C79F877C3}">
      <dgm:prSet/>
      <dgm:spPr/>
      <dgm:t>
        <a:bodyPr/>
        <a:lstStyle/>
        <a:p>
          <a:endParaRPr lang="zh-TW" altLang="en-US" baseline="0">
            <a:latin typeface="Times New Roman" panose="02020603050405020304" pitchFamily="18" charset="0"/>
            <a:ea typeface="標楷體" panose="03000509000000000000" pitchFamily="65" charset="-120"/>
          </a:endParaRPr>
        </a:p>
      </dgm:t>
    </dgm:pt>
    <dgm:pt modelId="{933334CE-ED4F-45F4-AA19-751ACE6F5028}">
      <dgm:prSet phldrT="[文字]" custT="1">
        <dgm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zh-TW" altLang="en-US" sz="18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自動從</a:t>
          </a:r>
          <a:r>
            <a:rPr lang="en-US" altLang="zh-TW" sz="18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excel</a:t>
          </a:r>
          <a:r>
            <a:rPr lang="zh-TW" altLang="en-US" sz="18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讀入任務、地面站日蝕軌道與資源上限等資料列表</a:t>
          </a:r>
        </a:p>
      </dgm:t>
    </dgm:pt>
    <dgm:pt modelId="{00431807-DD2E-46B5-BA69-01990543B2ED}" type="sibTrans" cxnId="{040E8F13-D34D-4E9B-B0FB-A7C3A47E6922}">
      <dgm:prSet/>
      <dgm:spPr/>
      <dgm:t>
        <a:bodyPr/>
        <a:lstStyle/>
        <a:p>
          <a:endParaRPr lang="zh-TW" altLang="en-US" baseline="0">
            <a:latin typeface="Times New Roman" panose="02020603050405020304" pitchFamily="18" charset="0"/>
            <a:ea typeface="標楷體" panose="03000509000000000000" pitchFamily="65" charset="-120"/>
          </a:endParaRPr>
        </a:p>
      </dgm:t>
    </dgm:pt>
    <dgm:pt modelId="{B386F245-DC1D-40C4-85B9-44CBBC79568C}" type="parTrans" cxnId="{040E8F13-D34D-4E9B-B0FB-A7C3A47E6922}">
      <dgm:prSet/>
      <dgm:spPr/>
      <dgm:t>
        <a:bodyPr/>
        <a:lstStyle/>
        <a:p>
          <a:endParaRPr lang="zh-TW" altLang="en-US" baseline="0">
            <a:latin typeface="Times New Roman" panose="02020603050405020304" pitchFamily="18" charset="0"/>
            <a:ea typeface="標楷體" panose="03000509000000000000" pitchFamily="65" charset="-120"/>
          </a:endParaRPr>
        </a:p>
      </dgm:t>
    </dgm:pt>
    <dgm:pt modelId="{933E73B0-5846-4AA1-A658-233AB6D85628}" type="pres">
      <dgm:prSet presAssocID="{7AD0DC84-DCBE-40E2-936A-B6D14367690F}" presName="Name0" presStyleCnt="0">
        <dgm:presLayoutVars>
          <dgm:dir/>
          <dgm:resizeHandles val="exact"/>
        </dgm:presLayoutVars>
      </dgm:prSet>
      <dgm:spPr/>
    </dgm:pt>
    <dgm:pt modelId="{5CFF55FE-2243-475A-9EF6-1CAE88DDD0A3}" type="pres">
      <dgm:prSet presAssocID="{933334CE-ED4F-45F4-AA19-751ACE6F5028}" presName="node" presStyleLbl="node1" presStyleIdx="0" presStyleCnt="5" custScaleX="186454" custScaleY="115860" custLinFactNeighborX="-1466" custLinFactNeighborY="8194">
        <dgm:presLayoutVars>
          <dgm:bulletEnabled val="1"/>
        </dgm:presLayoutVars>
      </dgm:prSet>
      <dgm:spPr/>
    </dgm:pt>
    <dgm:pt modelId="{83BD1F54-F53E-4307-B920-717F23833AB2}" type="pres">
      <dgm:prSet presAssocID="{00431807-DD2E-46B5-BA69-01990543B2ED}" presName="sibTrans" presStyleLbl="sibTrans2D1" presStyleIdx="0" presStyleCnt="4"/>
      <dgm:spPr/>
    </dgm:pt>
    <dgm:pt modelId="{7830E7CA-CD7F-498D-8D46-677E4E98E914}" type="pres">
      <dgm:prSet presAssocID="{00431807-DD2E-46B5-BA69-01990543B2ED}" presName="connectorText" presStyleLbl="sibTrans2D1" presStyleIdx="0" presStyleCnt="4"/>
      <dgm:spPr/>
    </dgm:pt>
    <dgm:pt modelId="{C3D32A4A-F911-4D4D-BD2E-F6713EC0B26A}" type="pres">
      <dgm:prSet presAssocID="{DFA30286-C272-4E8D-BC65-1B78424C028C}" presName="node" presStyleLbl="node1" presStyleIdx="1" presStyleCnt="5" custScaleX="131971" custLinFactNeighborX="-956" custLinFactNeighborY="56138">
        <dgm:presLayoutVars>
          <dgm:bulletEnabled val="1"/>
        </dgm:presLayoutVars>
      </dgm:prSet>
      <dgm:spPr/>
    </dgm:pt>
    <dgm:pt modelId="{4E4D70C5-95C6-423C-BA19-218D52C72D81}" type="pres">
      <dgm:prSet presAssocID="{461BC032-348C-4BC9-BDFA-36F8D5B3D545}" presName="sibTrans" presStyleLbl="sibTrans2D1" presStyleIdx="1" presStyleCnt="4"/>
      <dgm:spPr/>
    </dgm:pt>
    <dgm:pt modelId="{A1CA9F73-7E46-4088-B4EE-BADE9DD2FE77}" type="pres">
      <dgm:prSet presAssocID="{461BC032-348C-4BC9-BDFA-36F8D5B3D545}" presName="connectorText" presStyleLbl="sibTrans2D1" presStyleIdx="1" presStyleCnt="4"/>
      <dgm:spPr/>
    </dgm:pt>
    <dgm:pt modelId="{E2AEED15-EAD2-44FC-A918-886BB5B2880D}" type="pres">
      <dgm:prSet presAssocID="{3207E5A2-471B-4FBB-B3BE-2114E7F9CD87}" presName="node" presStyleLbl="node1" presStyleIdx="2" presStyleCnt="5" custScaleX="252603" custLinFactNeighborX="-14" custLinFactNeighborY="58601">
        <dgm:presLayoutVars>
          <dgm:bulletEnabled val="1"/>
        </dgm:presLayoutVars>
      </dgm:prSet>
      <dgm:spPr/>
    </dgm:pt>
    <dgm:pt modelId="{BABC800B-A672-4215-80C0-9EA3E77B986C}" type="pres">
      <dgm:prSet presAssocID="{447F83C3-3629-4192-B1C6-C515424EF702}" presName="sibTrans" presStyleLbl="sibTrans2D1" presStyleIdx="2" presStyleCnt="4"/>
      <dgm:spPr/>
    </dgm:pt>
    <dgm:pt modelId="{B56F5640-B7F0-4B05-BAD7-7019A5D5622B}" type="pres">
      <dgm:prSet presAssocID="{447F83C3-3629-4192-B1C6-C515424EF702}" presName="connectorText" presStyleLbl="sibTrans2D1" presStyleIdx="2" presStyleCnt="4"/>
      <dgm:spPr/>
    </dgm:pt>
    <dgm:pt modelId="{A5B6FE68-D0D2-4D00-B7BF-8D94A7130EF7}" type="pres">
      <dgm:prSet presAssocID="{A48848C7-37DD-4D65-B99C-D66727398AC6}" presName="node" presStyleLbl="node1" presStyleIdx="3" presStyleCnt="5" custScaleX="127132" custScaleY="97952" custLinFactNeighborX="8045" custLinFactNeighborY="57600">
        <dgm:presLayoutVars>
          <dgm:bulletEnabled val="1"/>
        </dgm:presLayoutVars>
      </dgm:prSet>
      <dgm:spPr/>
    </dgm:pt>
    <dgm:pt modelId="{6DE9FEE6-BC69-4F2D-B20C-080A54A4199F}" type="pres">
      <dgm:prSet presAssocID="{EB5FF23B-D469-43CD-807F-508A20DCEECE}" presName="sibTrans" presStyleLbl="sibTrans2D1" presStyleIdx="3" presStyleCnt="4"/>
      <dgm:spPr/>
    </dgm:pt>
    <dgm:pt modelId="{A44DB33E-36C5-4AE6-B773-BDB79416121B}" type="pres">
      <dgm:prSet presAssocID="{EB5FF23B-D469-43CD-807F-508A20DCEECE}" presName="connectorText" presStyleLbl="sibTrans2D1" presStyleIdx="3" presStyleCnt="4"/>
      <dgm:spPr/>
    </dgm:pt>
    <dgm:pt modelId="{84D70440-C93B-4A23-9A20-E4B0FC22B0B8}" type="pres">
      <dgm:prSet presAssocID="{26AACEE0-B66A-431A-AC35-8D3A0522F998}" presName="node" presStyleLbl="node1" presStyleIdx="4" presStyleCnt="5" custScaleX="108225" custLinFactNeighborX="1394" custLinFactNeighborY="8624">
        <dgm:presLayoutVars>
          <dgm:bulletEnabled val="1"/>
        </dgm:presLayoutVars>
      </dgm:prSet>
      <dgm:spPr/>
    </dgm:pt>
  </dgm:ptLst>
  <dgm:cxnLst>
    <dgm:cxn modelId="{421DBC02-3353-401D-A64A-8B7389DFC777}" type="presOf" srcId="{A48848C7-37DD-4D65-B99C-D66727398AC6}" destId="{A5B6FE68-D0D2-4D00-B7BF-8D94A7130EF7}" srcOrd="0" destOrd="0" presId="urn:microsoft.com/office/officeart/2005/8/layout/process1"/>
    <dgm:cxn modelId="{2CD3690C-2783-4B54-AAF5-09C7D79F67C3}" type="presOf" srcId="{447F83C3-3629-4192-B1C6-C515424EF702}" destId="{B56F5640-B7F0-4B05-BAD7-7019A5D5622B}" srcOrd="1" destOrd="0" presId="urn:microsoft.com/office/officeart/2005/8/layout/process1"/>
    <dgm:cxn modelId="{7DD3CF0E-3CC9-4319-9D8D-E0AA2297ECC7}" type="presOf" srcId="{933334CE-ED4F-45F4-AA19-751ACE6F5028}" destId="{5CFF55FE-2243-475A-9EF6-1CAE88DDD0A3}" srcOrd="0" destOrd="0" presId="urn:microsoft.com/office/officeart/2005/8/layout/process1"/>
    <dgm:cxn modelId="{84BB4F11-4AFE-4481-BB2D-52CBAD7C899D}" type="presOf" srcId="{3207E5A2-471B-4FBB-B3BE-2114E7F9CD87}" destId="{E2AEED15-EAD2-44FC-A918-886BB5B2880D}" srcOrd="0" destOrd="0" presId="urn:microsoft.com/office/officeart/2005/8/layout/process1"/>
    <dgm:cxn modelId="{040E8F13-D34D-4E9B-B0FB-A7C3A47E6922}" srcId="{7AD0DC84-DCBE-40E2-936A-B6D14367690F}" destId="{933334CE-ED4F-45F4-AA19-751ACE6F5028}" srcOrd="0" destOrd="0" parTransId="{B386F245-DC1D-40C4-85B9-44CBBC79568C}" sibTransId="{00431807-DD2E-46B5-BA69-01990543B2ED}"/>
    <dgm:cxn modelId="{0E20E720-86F8-4DEB-B9D6-C246C80D40E6}" type="presOf" srcId="{00431807-DD2E-46B5-BA69-01990543B2ED}" destId="{7830E7CA-CD7F-498D-8D46-677E4E98E914}" srcOrd="1" destOrd="0" presId="urn:microsoft.com/office/officeart/2005/8/layout/process1"/>
    <dgm:cxn modelId="{D167E250-E2A5-46A7-8931-278C79F877C3}" srcId="{7AD0DC84-DCBE-40E2-936A-B6D14367690F}" destId="{A48848C7-37DD-4D65-B99C-D66727398AC6}" srcOrd="3" destOrd="0" parTransId="{7E2EEC6D-3D4B-4E95-AF2D-E337D6192D57}" sibTransId="{EB5FF23B-D469-43CD-807F-508A20DCEECE}"/>
    <dgm:cxn modelId="{48628574-1E46-4AD6-8422-C2758B071E45}" type="presOf" srcId="{7AD0DC84-DCBE-40E2-936A-B6D14367690F}" destId="{933E73B0-5846-4AA1-A658-233AB6D85628}" srcOrd="0" destOrd="0" presId="urn:microsoft.com/office/officeart/2005/8/layout/process1"/>
    <dgm:cxn modelId="{0A61EC92-3872-47FD-AE7F-788D9B1F97A9}" type="presOf" srcId="{461BC032-348C-4BC9-BDFA-36F8D5B3D545}" destId="{4E4D70C5-95C6-423C-BA19-218D52C72D81}" srcOrd="0" destOrd="0" presId="urn:microsoft.com/office/officeart/2005/8/layout/process1"/>
    <dgm:cxn modelId="{CD6EC5A9-79A0-413B-9F2F-B9696AA7774E}" type="presOf" srcId="{EB5FF23B-D469-43CD-807F-508A20DCEECE}" destId="{6DE9FEE6-BC69-4F2D-B20C-080A54A4199F}" srcOrd="0" destOrd="0" presId="urn:microsoft.com/office/officeart/2005/8/layout/process1"/>
    <dgm:cxn modelId="{1FD6C6B1-9CDB-4B7C-A61A-EEA92935F102}" type="presOf" srcId="{00431807-DD2E-46B5-BA69-01990543B2ED}" destId="{83BD1F54-F53E-4307-B920-717F23833AB2}" srcOrd="0" destOrd="0" presId="urn:microsoft.com/office/officeart/2005/8/layout/process1"/>
    <dgm:cxn modelId="{DCD79DB2-1A6B-4188-A1D0-0066109CF471}" srcId="{7AD0DC84-DCBE-40E2-936A-B6D14367690F}" destId="{3207E5A2-471B-4FBB-B3BE-2114E7F9CD87}" srcOrd="2" destOrd="0" parTransId="{325EE748-EFA4-4C69-A973-D18C53207F60}" sibTransId="{447F83C3-3629-4192-B1C6-C515424EF702}"/>
    <dgm:cxn modelId="{37CE29B7-2C73-4B78-BC1F-42A8AF54883C}" srcId="{7AD0DC84-DCBE-40E2-936A-B6D14367690F}" destId="{DFA30286-C272-4E8D-BC65-1B78424C028C}" srcOrd="1" destOrd="0" parTransId="{915DB7A3-5CBC-40DA-8D32-0759BD34FEC1}" sibTransId="{461BC032-348C-4BC9-BDFA-36F8D5B3D545}"/>
    <dgm:cxn modelId="{C8CE39BA-1316-45BE-A766-0B5FF718D264}" type="presOf" srcId="{EB5FF23B-D469-43CD-807F-508A20DCEECE}" destId="{A44DB33E-36C5-4AE6-B773-BDB79416121B}" srcOrd="1" destOrd="0" presId="urn:microsoft.com/office/officeart/2005/8/layout/process1"/>
    <dgm:cxn modelId="{F41D0BDA-5C2A-4D96-AA62-65FDEB74B594}" type="presOf" srcId="{447F83C3-3629-4192-B1C6-C515424EF702}" destId="{BABC800B-A672-4215-80C0-9EA3E77B986C}" srcOrd="0" destOrd="0" presId="urn:microsoft.com/office/officeart/2005/8/layout/process1"/>
    <dgm:cxn modelId="{404483E2-2108-4EED-9F2C-F08C0800B5D0}" type="presOf" srcId="{461BC032-348C-4BC9-BDFA-36F8D5B3D545}" destId="{A1CA9F73-7E46-4088-B4EE-BADE9DD2FE77}" srcOrd="1" destOrd="0" presId="urn:microsoft.com/office/officeart/2005/8/layout/process1"/>
    <dgm:cxn modelId="{4EA05BF3-B351-4E69-90FE-1E6D5E22E320}" type="presOf" srcId="{DFA30286-C272-4E8D-BC65-1B78424C028C}" destId="{C3D32A4A-F911-4D4D-BD2E-F6713EC0B26A}" srcOrd="0" destOrd="0" presId="urn:microsoft.com/office/officeart/2005/8/layout/process1"/>
    <dgm:cxn modelId="{CDC8D5F9-A0DF-45D5-A3BF-D5DBF9B2752C}" type="presOf" srcId="{26AACEE0-B66A-431A-AC35-8D3A0522F998}" destId="{84D70440-C93B-4A23-9A20-E4B0FC22B0B8}" srcOrd="0" destOrd="0" presId="urn:microsoft.com/office/officeart/2005/8/layout/process1"/>
    <dgm:cxn modelId="{23625FFD-1684-4C60-8480-360E70D685B6}" srcId="{7AD0DC84-DCBE-40E2-936A-B6D14367690F}" destId="{26AACEE0-B66A-431A-AC35-8D3A0522F998}" srcOrd="4" destOrd="0" parTransId="{63F974F2-749B-488D-B1D6-B8CB347DD567}" sibTransId="{64F1D438-A3D4-4628-A2A5-A704F6BB515C}"/>
    <dgm:cxn modelId="{5D728A6C-8D2D-4BBB-8D75-759D9DE7C68E}" type="presParOf" srcId="{933E73B0-5846-4AA1-A658-233AB6D85628}" destId="{5CFF55FE-2243-475A-9EF6-1CAE88DDD0A3}" srcOrd="0" destOrd="0" presId="urn:microsoft.com/office/officeart/2005/8/layout/process1"/>
    <dgm:cxn modelId="{6E523B6C-326C-4983-A7A0-49554BDFE403}" type="presParOf" srcId="{933E73B0-5846-4AA1-A658-233AB6D85628}" destId="{83BD1F54-F53E-4307-B920-717F23833AB2}" srcOrd="1" destOrd="0" presId="urn:microsoft.com/office/officeart/2005/8/layout/process1"/>
    <dgm:cxn modelId="{231D05BC-045B-4E65-82C1-30A37050B3B9}" type="presParOf" srcId="{83BD1F54-F53E-4307-B920-717F23833AB2}" destId="{7830E7CA-CD7F-498D-8D46-677E4E98E914}" srcOrd="0" destOrd="0" presId="urn:microsoft.com/office/officeart/2005/8/layout/process1"/>
    <dgm:cxn modelId="{7F6C9404-11D2-4135-B933-7C13B72121BA}" type="presParOf" srcId="{933E73B0-5846-4AA1-A658-233AB6D85628}" destId="{C3D32A4A-F911-4D4D-BD2E-F6713EC0B26A}" srcOrd="2" destOrd="0" presId="urn:microsoft.com/office/officeart/2005/8/layout/process1"/>
    <dgm:cxn modelId="{E1C68E7D-B4B2-42FD-97FA-4AB7E9EC33E4}" type="presParOf" srcId="{933E73B0-5846-4AA1-A658-233AB6D85628}" destId="{4E4D70C5-95C6-423C-BA19-218D52C72D81}" srcOrd="3" destOrd="0" presId="urn:microsoft.com/office/officeart/2005/8/layout/process1"/>
    <dgm:cxn modelId="{1D6ECD16-1A70-4B5D-A33C-9D94D12629B2}" type="presParOf" srcId="{4E4D70C5-95C6-423C-BA19-218D52C72D81}" destId="{A1CA9F73-7E46-4088-B4EE-BADE9DD2FE77}" srcOrd="0" destOrd="0" presId="urn:microsoft.com/office/officeart/2005/8/layout/process1"/>
    <dgm:cxn modelId="{C2BB9C14-EF68-4120-9FDC-6663BF386085}" type="presParOf" srcId="{933E73B0-5846-4AA1-A658-233AB6D85628}" destId="{E2AEED15-EAD2-44FC-A918-886BB5B2880D}" srcOrd="4" destOrd="0" presId="urn:microsoft.com/office/officeart/2005/8/layout/process1"/>
    <dgm:cxn modelId="{7C4E6BDC-4B33-4B88-8C04-09FF3E58F787}" type="presParOf" srcId="{933E73B0-5846-4AA1-A658-233AB6D85628}" destId="{BABC800B-A672-4215-80C0-9EA3E77B986C}" srcOrd="5" destOrd="0" presId="urn:microsoft.com/office/officeart/2005/8/layout/process1"/>
    <dgm:cxn modelId="{206DAAA6-8A88-44A5-8900-BBEA906D1357}" type="presParOf" srcId="{BABC800B-A672-4215-80C0-9EA3E77B986C}" destId="{B56F5640-B7F0-4B05-BAD7-7019A5D5622B}" srcOrd="0" destOrd="0" presId="urn:microsoft.com/office/officeart/2005/8/layout/process1"/>
    <dgm:cxn modelId="{FA0C1354-4D8E-4C2D-92C6-29E86728786D}" type="presParOf" srcId="{933E73B0-5846-4AA1-A658-233AB6D85628}" destId="{A5B6FE68-D0D2-4D00-B7BF-8D94A7130EF7}" srcOrd="6" destOrd="0" presId="urn:microsoft.com/office/officeart/2005/8/layout/process1"/>
    <dgm:cxn modelId="{81EDE6DA-BF30-4D3A-A83C-776CA4DBF0B3}" type="presParOf" srcId="{933E73B0-5846-4AA1-A658-233AB6D85628}" destId="{6DE9FEE6-BC69-4F2D-B20C-080A54A4199F}" srcOrd="7" destOrd="0" presId="urn:microsoft.com/office/officeart/2005/8/layout/process1"/>
    <dgm:cxn modelId="{6F446AE9-7313-44EB-86FD-7C05BEFC065E}" type="presParOf" srcId="{6DE9FEE6-BC69-4F2D-B20C-080A54A4199F}" destId="{A44DB33E-36C5-4AE6-B773-BDB79416121B}" srcOrd="0" destOrd="0" presId="urn:microsoft.com/office/officeart/2005/8/layout/process1"/>
    <dgm:cxn modelId="{F7FA9F7E-4530-4987-A40A-52A305A762AC}" type="presParOf" srcId="{933E73B0-5846-4AA1-A658-233AB6D85628}" destId="{84D70440-C93B-4A23-9A20-E4B0FC22B0B8}" srcOrd="8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CFF55FE-2243-475A-9EF6-1CAE88DDD0A3}">
      <dsp:nvSpPr>
        <dsp:cNvPr id="0" name=""/>
        <dsp:cNvSpPr/>
      </dsp:nvSpPr>
      <dsp:spPr>
        <a:xfrm>
          <a:off x="5299" y="1454997"/>
          <a:ext cx="1818639" cy="1806005"/>
        </a:xfrm>
        <a:prstGeom prst="roundRect">
          <a:avLst>
            <a:gd name="adj" fmla="val 10000"/>
          </a:avLst>
        </a:prstGeom>
        <a:solidFill>
          <a:schemeClr val="lt1"/>
        </a:solidFill>
        <a:ln w="19050" cap="rnd" cmpd="sng" algn="ctr">
          <a:solidFill>
            <a:schemeClr val="accent2"/>
          </a:solidFill>
          <a:prstDash val="solid"/>
        </a:ln>
        <a:effectLst/>
      </dsp:spPr>
      <dsp:style>
        <a:lnRef idx="2">
          <a:schemeClr val="accent2"/>
        </a:lnRef>
        <a:fillRef idx="1">
          <a:schemeClr val="lt1"/>
        </a:fillRef>
        <a:effectRef idx="0">
          <a:schemeClr val="accent2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800" kern="12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自動從</a:t>
          </a:r>
          <a:r>
            <a:rPr lang="en-US" altLang="zh-TW" sz="1800" kern="12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excel</a:t>
          </a:r>
          <a:r>
            <a:rPr lang="zh-TW" altLang="en-US" sz="1800" kern="12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讀入任務、地面站、日蝕軌道與資源上限等資料列表</a:t>
          </a:r>
        </a:p>
      </dsp:txBody>
      <dsp:txXfrm>
        <a:off x="58195" y="1507893"/>
        <a:ext cx="1712847" cy="1700213"/>
      </dsp:txXfrm>
    </dsp:sp>
    <dsp:sp modelId="{83BD1F54-F53E-4307-B920-717F23833AB2}">
      <dsp:nvSpPr>
        <dsp:cNvPr id="0" name=""/>
        <dsp:cNvSpPr/>
      </dsp:nvSpPr>
      <dsp:spPr>
        <a:xfrm rot="19666294">
          <a:off x="1903562" y="1530684"/>
          <a:ext cx="247288" cy="25182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1100" kern="1200" baseline="0">
            <a:latin typeface="Times New Roman" panose="02020603050405020304" pitchFamily="18" charset="0"/>
            <a:ea typeface="標楷體" panose="03000509000000000000" pitchFamily="65" charset="-120"/>
          </a:endParaRPr>
        </a:p>
      </dsp:txBody>
      <dsp:txXfrm>
        <a:off x="1909277" y="1600830"/>
        <a:ext cx="173102" cy="151092"/>
      </dsp:txXfrm>
    </dsp:sp>
    <dsp:sp modelId="{C3D32A4A-F911-4D4D-BD2E-F6713EC0B26A}">
      <dsp:nvSpPr>
        <dsp:cNvPr id="0" name=""/>
        <dsp:cNvSpPr/>
      </dsp:nvSpPr>
      <dsp:spPr>
        <a:xfrm>
          <a:off x="2218634" y="210099"/>
          <a:ext cx="1341348" cy="1806005"/>
        </a:xfrm>
        <a:prstGeom prst="roundRect">
          <a:avLst>
            <a:gd name="adj" fmla="val 10000"/>
          </a:avLst>
        </a:prstGeom>
        <a:solidFill>
          <a:schemeClr val="lt1"/>
        </a:solidFill>
        <a:ln w="19050" cap="rnd" cmpd="sng" algn="ctr">
          <a:solidFill>
            <a:schemeClr val="accent2"/>
          </a:solidFill>
          <a:prstDash val="solid"/>
        </a:ln>
        <a:effectLst/>
      </dsp:spPr>
      <dsp:style>
        <a:lnRef idx="2">
          <a:schemeClr val="accent2"/>
        </a:lnRef>
        <a:fillRef idx="1">
          <a:schemeClr val="lt1"/>
        </a:fillRef>
        <a:effectRef idx="0">
          <a:schemeClr val="accent2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800" kern="12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將任務依種類宣告為二元與連續變數</a:t>
          </a:r>
        </a:p>
      </dsp:txBody>
      <dsp:txXfrm>
        <a:off x="2257921" y="249386"/>
        <a:ext cx="1262774" cy="1727431"/>
      </dsp:txXfrm>
    </dsp:sp>
    <dsp:sp modelId="{4E4D70C5-95C6-423C-BA19-218D52C72D81}">
      <dsp:nvSpPr>
        <dsp:cNvPr id="0" name=""/>
        <dsp:cNvSpPr/>
      </dsp:nvSpPr>
      <dsp:spPr>
        <a:xfrm rot="7465">
          <a:off x="3666365" y="989124"/>
          <a:ext cx="225530" cy="25182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1100" kern="1200" baseline="0" dirty="0">
            <a:latin typeface="Times New Roman" panose="02020603050405020304" pitchFamily="18" charset="0"/>
            <a:ea typeface="標楷體" panose="03000509000000000000" pitchFamily="65" charset="-120"/>
          </a:endParaRPr>
        </a:p>
      </dsp:txBody>
      <dsp:txXfrm>
        <a:off x="3666365" y="1039415"/>
        <a:ext cx="157871" cy="151092"/>
      </dsp:txXfrm>
    </dsp:sp>
    <dsp:sp modelId="{E2AEED15-EAD2-44FC-A918-886BB5B2880D}">
      <dsp:nvSpPr>
        <dsp:cNvPr id="0" name=""/>
        <dsp:cNvSpPr/>
      </dsp:nvSpPr>
      <dsp:spPr>
        <a:xfrm>
          <a:off x="3985510" y="215102"/>
          <a:ext cx="2415159" cy="1806005"/>
        </a:xfrm>
        <a:prstGeom prst="roundRect">
          <a:avLst>
            <a:gd name="adj" fmla="val 10000"/>
          </a:avLst>
        </a:prstGeom>
        <a:solidFill>
          <a:schemeClr val="lt1"/>
        </a:solidFill>
        <a:ln w="19050" cap="rnd" cmpd="sng" algn="ctr">
          <a:solidFill>
            <a:schemeClr val="accent2"/>
          </a:solidFill>
          <a:prstDash val="solid"/>
        </a:ln>
        <a:effectLst/>
      </dsp:spPr>
      <dsp:style>
        <a:lnRef idx="2">
          <a:schemeClr val="accent2"/>
        </a:lnRef>
        <a:fillRef idx="1">
          <a:schemeClr val="lt1"/>
        </a:fillRef>
        <a:effectRef idx="0">
          <a:schemeClr val="accent2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600" kern="12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建立線性限制式：記憶體</a:t>
          </a:r>
          <a:r>
            <a:rPr lang="en-US" altLang="en-US" sz="1600" kern="12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/</a:t>
          </a:r>
          <a:r>
            <a:rPr lang="zh-TW" altLang="en-US" sz="1600" kern="12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檔名容量限制、執行時間不重疊</a:t>
          </a:r>
          <a:r>
            <a:rPr lang="en-US" altLang="zh-TW" sz="1600" kern="12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...</a:t>
          </a:r>
          <a:r>
            <a:rPr lang="en-US" altLang="en-US" sz="1600" kern="12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 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600" kern="12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建立目標式：最大任務數 </a:t>
          </a:r>
          <a:r>
            <a:rPr lang="en-US" altLang="en-US" sz="1600" kern="12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+ </a:t>
          </a:r>
          <a:r>
            <a:rPr lang="zh-TW" altLang="en-US" sz="1600" kern="12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優先提早 </a:t>
          </a:r>
          <a:r>
            <a:rPr lang="en-US" altLang="en-US" sz="1600" kern="12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Download/Remove</a:t>
          </a:r>
          <a:endParaRPr lang="zh-TW" altLang="en-US" sz="1600" kern="1200" baseline="0" dirty="0">
            <a:latin typeface="Times New Roman" panose="02020603050405020304" pitchFamily="18" charset="0"/>
            <a:ea typeface="標楷體" panose="03000509000000000000" pitchFamily="65" charset="-120"/>
          </a:endParaRPr>
        </a:p>
      </dsp:txBody>
      <dsp:txXfrm>
        <a:off x="4038406" y="267998"/>
        <a:ext cx="2309367" cy="1700213"/>
      </dsp:txXfrm>
    </dsp:sp>
    <dsp:sp modelId="{BABC800B-A672-4215-80C0-9EA3E77B986C}">
      <dsp:nvSpPr>
        <dsp:cNvPr id="0" name=""/>
        <dsp:cNvSpPr/>
      </dsp:nvSpPr>
      <dsp:spPr>
        <a:xfrm rot="21549126">
          <a:off x="6499612" y="971305"/>
          <a:ext cx="209805" cy="25182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1100" kern="1200" baseline="0">
            <a:latin typeface="Times New Roman" panose="02020603050405020304" pitchFamily="18" charset="0"/>
            <a:ea typeface="標楷體" panose="03000509000000000000" pitchFamily="65" charset="-120"/>
          </a:endParaRPr>
        </a:p>
      </dsp:txBody>
      <dsp:txXfrm>
        <a:off x="6499615" y="1022135"/>
        <a:ext cx="146864" cy="151092"/>
      </dsp:txXfrm>
    </dsp:sp>
    <dsp:sp modelId="{A5B6FE68-D0D2-4D00-B7BF-8D94A7130EF7}">
      <dsp:nvSpPr>
        <dsp:cNvPr id="0" name=""/>
        <dsp:cNvSpPr/>
      </dsp:nvSpPr>
      <dsp:spPr>
        <a:xfrm>
          <a:off x="6796486" y="183858"/>
          <a:ext cx="1015404" cy="1806005"/>
        </a:xfrm>
        <a:prstGeom prst="roundRect">
          <a:avLst>
            <a:gd name="adj" fmla="val 10000"/>
          </a:avLst>
        </a:prstGeom>
        <a:solidFill>
          <a:schemeClr val="lt1"/>
        </a:solidFill>
        <a:ln w="19050" cap="rnd" cmpd="sng" algn="ctr">
          <a:solidFill>
            <a:schemeClr val="accent2"/>
          </a:solidFill>
          <a:prstDash val="solid"/>
        </a:ln>
        <a:effectLst/>
      </dsp:spPr>
      <dsp:style>
        <a:lnRef idx="2">
          <a:schemeClr val="accent2"/>
        </a:lnRef>
        <a:fillRef idx="1">
          <a:schemeClr val="lt1"/>
        </a:fillRef>
        <a:effectRef idx="0">
          <a:schemeClr val="accent2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800" kern="12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使用</a:t>
          </a:r>
          <a:r>
            <a:rPr lang="en-US" altLang="zh-TW" sz="1800" kern="12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IBM</a:t>
          </a:r>
          <a:r>
            <a:rPr lang="zh-TW" altLang="en-US" sz="1800" kern="12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 </a:t>
          </a:r>
          <a:r>
            <a:rPr lang="en-US" altLang="zh-TW" sz="1800" kern="12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CPLEX</a:t>
          </a:r>
          <a:r>
            <a:rPr lang="zh-TW" altLang="en-US" sz="1800" kern="12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求解</a:t>
          </a:r>
        </a:p>
      </dsp:txBody>
      <dsp:txXfrm>
        <a:off x="6826226" y="213598"/>
        <a:ext cx="955924" cy="1746525"/>
      </dsp:txXfrm>
    </dsp:sp>
    <dsp:sp modelId="{6DE9FEE6-BC69-4F2D-B20C-080A54A4199F}">
      <dsp:nvSpPr>
        <dsp:cNvPr id="0" name=""/>
        <dsp:cNvSpPr/>
      </dsp:nvSpPr>
      <dsp:spPr>
        <a:xfrm rot="2505216">
          <a:off x="7877177" y="1601991"/>
          <a:ext cx="290290" cy="25182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1100" kern="1200" baseline="0">
            <a:latin typeface="Times New Roman" panose="02020603050405020304" pitchFamily="18" charset="0"/>
            <a:ea typeface="標楷體" panose="03000509000000000000" pitchFamily="65" charset="-120"/>
          </a:endParaRPr>
        </a:p>
      </dsp:txBody>
      <dsp:txXfrm>
        <a:off x="7886771" y="1627201"/>
        <a:ext cx="214744" cy="151092"/>
      </dsp:txXfrm>
    </dsp:sp>
    <dsp:sp modelId="{84D70440-C93B-4A23-9A20-E4B0FC22B0B8}">
      <dsp:nvSpPr>
        <dsp:cNvPr id="0" name=""/>
        <dsp:cNvSpPr/>
      </dsp:nvSpPr>
      <dsp:spPr>
        <a:xfrm>
          <a:off x="8220497" y="1638965"/>
          <a:ext cx="1015404" cy="1438068"/>
        </a:xfrm>
        <a:prstGeom prst="roundRect">
          <a:avLst>
            <a:gd name="adj" fmla="val 10000"/>
          </a:avLst>
        </a:prstGeom>
        <a:solidFill>
          <a:schemeClr val="lt1"/>
        </a:solidFill>
        <a:ln w="19050" cap="rnd" cmpd="sng" algn="ctr">
          <a:solidFill>
            <a:schemeClr val="accent2"/>
          </a:solidFill>
          <a:prstDash val="solid"/>
        </a:ln>
        <a:effectLst/>
      </dsp:spPr>
      <dsp:style>
        <a:lnRef idx="2">
          <a:schemeClr val="accent2"/>
        </a:lnRef>
        <a:fillRef idx="1">
          <a:schemeClr val="lt1"/>
        </a:fillRef>
        <a:effectRef idx="0">
          <a:schemeClr val="accent2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800" kern="12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將排程結果匯入</a:t>
          </a:r>
          <a:r>
            <a:rPr lang="en-US" altLang="zh-TW" sz="1800" kern="12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excel</a:t>
          </a:r>
          <a:endParaRPr lang="zh-TW" altLang="en-US" sz="1800" kern="1200" baseline="0" dirty="0">
            <a:latin typeface="Times New Roman" panose="02020603050405020304" pitchFamily="18" charset="0"/>
            <a:ea typeface="標楷體" panose="03000509000000000000" pitchFamily="65" charset="-120"/>
          </a:endParaRPr>
        </a:p>
      </dsp:txBody>
      <dsp:txXfrm>
        <a:off x="8250237" y="1668705"/>
        <a:ext cx="955924" cy="137858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CFF55FE-2243-475A-9EF6-1CAE88DDD0A3}">
      <dsp:nvSpPr>
        <dsp:cNvPr id="0" name=""/>
        <dsp:cNvSpPr/>
      </dsp:nvSpPr>
      <dsp:spPr>
        <a:xfrm>
          <a:off x="0" y="1569159"/>
          <a:ext cx="1769285" cy="1837604"/>
        </a:xfrm>
        <a:prstGeom prst="roundRect">
          <a:avLst>
            <a:gd name="adj" fmla="val 10000"/>
          </a:avLst>
        </a:prstGeom>
        <a:solidFill>
          <a:schemeClr val="lt1"/>
        </a:solidFill>
        <a:ln w="19050" cap="rnd" cmpd="sng" algn="ctr">
          <a:solidFill>
            <a:schemeClr val="accent2"/>
          </a:solidFill>
          <a:prstDash val="solid"/>
        </a:ln>
        <a:effectLst/>
      </dsp:spPr>
      <dsp:style>
        <a:lnRef idx="2">
          <a:schemeClr val="accent2"/>
        </a:lnRef>
        <a:fillRef idx="1">
          <a:schemeClr val="lt1"/>
        </a:fillRef>
        <a:effectRef idx="0">
          <a:schemeClr val="accent2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800" kern="12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自動從</a:t>
          </a:r>
          <a:r>
            <a:rPr lang="en-US" altLang="zh-TW" sz="1800" kern="12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excel</a:t>
          </a:r>
          <a:r>
            <a:rPr lang="zh-TW" altLang="en-US" sz="1800" kern="12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讀入任務、地面站日蝕軌道與資源上限等資料列表</a:t>
          </a:r>
        </a:p>
      </dsp:txBody>
      <dsp:txXfrm>
        <a:off x="51821" y="1620980"/>
        <a:ext cx="1665643" cy="1733962"/>
      </dsp:txXfrm>
    </dsp:sp>
    <dsp:sp modelId="{83BD1F54-F53E-4307-B920-717F23833AB2}">
      <dsp:nvSpPr>
        <dsp:cNvPr id="0" name=""/>
        <dsp:cNvSpPr/>
      </dsp:nvSpPr>
      <dsp:spPr>
        <a:xfrm rot="1313568">
          <a:off x="1856803" y="2804744"/>
          <a:ext cx="217910" cy="23533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1000" kern="1200" baseline="0">
            <a:latin typeface="Times New Roman" panose="02020603050405020304" pitchFamily="18" charset="0"/>
            <a:ea typeface="標楷體" panose="03000509000000000000" pitchFamily="65" charset="-120"/>
          </a:endParaRPr>
        </a:p>
      </dsp:txBody>
      <dsp:txXfrm>
        <a:off x="1859160" y="2839622"/>
        <a:ext cx="152537" cy="141198"/>
      </dsp:txXfrm>
    </dsp:sp>
    <dsp:sp modelId="{C3D32A4A-F911-4D4D-BD2E-F6713EC0B26A}">
      <dsp:nvSpPr>
        <dsp:cNvPr id="0" name=""/>
        <dsp:cNvSpPr/>
      </dsp:nvSpPr>
      <dsp:spPr>
        <a:xfrm>
          <a:off x="2150785" y="2455352"/>
          <a:ext cx="1252289" cy="1586055"/>
        </a:xfrm>
        <a:prstGeom prst="roundRect">
          <a:avLst>
            <a:gd name="adj" fmla="val 10000"/>
          </a:avLst>
        </a:prstGeom>
        <a:solidFill>
          <a:schemeClr val="lt1"/>
        </a:solidFill>
        <a:ln w="19050" cap="rnd" cmpd="sng" algn="ctr">
          <a:solidFill>
            <a:schemeClr val="accent2"/>
          </a:solidFill>
          <a:prstDash val="solid"/>
        </a:ln>
        <a:effectLst/>
      </dsp:spPr>
      <dsp:style>
        <a:lnRef idx="2">
          <a:schemeClr val="accent2"/>
        </a:lnRef>
        <a:fillRef idx="1">
          <a:schemeClr val="lt1"/>
        </a:fillRef>
        <a:effectRef idx="0">
          <a:schemeClr val="accent2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800" kern="12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將任務依種類宣告為區間變數</a:t>
          </a:r>
        </a:p>
      </dsp:txBody>
      <dsp:txXfrm>
        <a:off x="2187463" y="2492030"/>
        <a:ext cx="1178933" cy="1512699"/>
      </dsp:txXfrm>
    </dsp:sp>
    <dsp:sp modelId="{4E4D70C5-95C6-423C-BA19-218D52C72D81}">
      <dsp:nvSpPr>
        <dsp:cNvPr id="0" name=""/>
        <dsp:cNvSpPr/>
      </dsp:nvSpPr>
      <dsp:spPr>
        <a:xfrm rot="60821">
          <a:off x="3498844" y="3145285"/>
          <a:ext cx="203096" cy="23533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1000" kern="1200" baseline="0" dirty="0">
            <a:latin typeface="Times New Roman" panose="02020603050405020304" pitchFamily="18" charset="0"/>
            <a:ea typeface="標楷體" panose="03000509000000000000" pitchFamily="65" charset="-120"/>
          </a:endParaRPr>
        </a:p>
      </dsp:txBody>
      <dsp:txXfrm>
        <a:off x="3498849" y="3191812"/>
        <a:ext cx="142167" cy="141198"/>
      </dsp:txXfrm>
    </dsp:sp>
    <dsp:sp modelId="{E2AEED15-EAD2-44FC-A918-886BB5B2880D}">
      <dsp:nvSpPr>
        <dsp:cNvPr id="0" name=""/>
        <dsp:cNvSpPr/>
      </dsp:nvSpPr>
      <dsp:spPr>
        <a:xfrm>
          <a:off x="3786215" y="2494416"/>
          <a:ext cx="2396981" cy="1586055"/>
        </a:xfrm>
        <a:prstGeom prst="roundRect">
          <a:avLst>
            <a:gd name="adj" fmla="val 10000"/>
          </a:avLst>
        </a:prstGeom>
        <a:solidFill>
          <a:schemeClr val="lt1"/>
        </a:solidFill>
        <a:ln w="19050" cap="rnd" cmpd="sng" algn="ctr">
          <a:solidFill>
            <a:schemeClr val="accent2"/>
          </a:solidFill>
          <a:prstDash val="solid"/>
        </a:ln>
        <a:effectLst/>
      </dsp:spPr>
      <dsp:style>
        <a:lnRef idx="2">
          <a:schemeClr val="accent2"/>
        </a:lnRef>
        <a:fillRef idx="1">
          <a:schemeClr val="lt1"/>
        </a:fillRef>
        <a:effectRef idx="0">
          <a:schemeClr val="accent2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600" kern="12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將</a:t>
          </a:r>
          <a:r>
            <a:rPr lang="en-US" altLang="zh-TW" sz="1600" kern="12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MILP</a:t>
          </a:r>
          <a:r>
            <a:rPr lang="zh-TW" altLang="en-US" sz="1600" kern="12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模型之限制式轉換為全域限制式</a:t>
          </a:r>
          <a:endParaRPr lang="en-US" altLang="en-US" sz="1600" kern="1200" baseline="0" dirty="0">
            <a:latin typeface="Times New Roman" panose="02020603050405020304" pitchFamily="18" charset="0"/>
            <a:ea typeface="標楷體" panose="03000509000000000000" pitchFamily="65" charset="-120"/>
          </a:endParaRP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600" kern="12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建立目標式：最大任務數 </a:t>
          </a:r>
          <a:r>
            <a:rPr lang="en-US" altLang="en-US" sz="1600" kern="12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&amp; </a:t>
          </a:r>
          <a:r>
            <a:rPr lang="zh-TW" altLang="en-US" sz="1600" kern="12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最小化任務開始時間</a:t>
          </a:r>
        </a:p>
      </dsp:txBody>
      <dsp:txXfrm>
        <a:off x="3832669" y="2540870"/>
        <a:ext cx="2304073" cy="1493147"/>
      </dsp:txXfrm>
    </dsp:sp>
    <dsp:sp modelId="{BABC800B-A672-4215-80C0-9EA3E77B986C}">
      <dsp:nvSpPr>
        <dsp:cNvPr id="0" name=""/>
        <dsp:cNvSpPr/>
      </dsp:nvSpPr>
      <dsp:spPr>
        <a:xfrm rot="21575654">
          <a:off x="6285733" y="3159795"/>
          <a:ext cx="217387" cy="23533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1000" kern="1200" baseline="0">
            <a:latin typeface="Times New Roman" panose="02020603050405020304" pitchFamily="18" charset="0"/>
            <a:ea typeface="標楷體" panose="03000509000000000000" pitchFamily="65" charset="-120"/>
          </a:endParaRPr>
        </a:p>
      </dsp:txBody>
      <dsp:txXfrm>
        <a:off x="6285734" y="3207092"/>
        <a:ext cx="152171" cy="141198"/>
      </dsp:txXfrm>
    </dsp:sp>
    <dsp:sp modelId="{A5B6FE68-D0D2-4D00-B7BF-8D94A7130EF7}">
      <dsp:nvSpPr>
        <dsp:cNvPr id="0" name=""/>
        <dsp:cNvSpPr/>
      </dsp:nvSpPr>
      <dsp:spPr>
        <a:xfrm>
          <a:off x="6593351" y="2494781"/>
          <a:ext cx="1266295" cy="1553573"/>
        </a:xfrm>
        <a:prstGeom prst="roundRect">
          <a:avLst>
            <a:gd name="adj" fmla="val 10000"/>
          </a:avLst>
        </a:prstGeom>
        <a:solidFill>
          <a:schemeClr val="lt1"/>
        </a:solidFill>
        <a:ln w="19050" cap="rnd" cmpd="sng" algn="ctr">
          <a:solidFill>
            <a:schemeClr val="accent2"/>
          </a:solidFill>
          <a:prstDash val="solid"/>
        </a:ln>
        <a:effectLst/>
      </dsp:spPr>
      <dsp:style>
        <a:lnRef idx="2">
          <a:schemeClr val="accent2"/>
        </a:lnRef>
        <a:fillRef idx="1">
          <a:schemeClr val="lt1"/>
        </a:fillRef>
        <a:effectRef idx="0">
          <a:schemeClr val="accent2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800" kern="12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使用</a:t>
          </a:r>
          <a:r>
            <a:rPr lang="en-US" altLang="zh-TW" sz="1800" kern="12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IBM</a:t>
          </a:r>
          <a:r>
            <a:rPr lang="zh-TW" altLang="en-US" sz="1800" kern="12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 </a:t>
          </a:r>
          <a:r>
            <a:rPr lang="en-US" altLang="zh-TW" sz="1800" kern="12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CP</a:t>
          </a:r>
          <a:r>
            <a:rPr lang="zh-TW" altLang="en-US" sz="1800" kern="12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 </a:t>
          </a:r>
          <a:r>
            <a:rPr lang="en-US" altLang="zh-TW" sz="1800" kern="12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Optimizer</a:t>
          </a:r>
          <a:r>
            <a:rPr lang="zh-TW" altLang="en-US" sz="1800" kern="12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求解</a:t>
          </a:r>
        </a:p>
      </dsp:txBody>
      <dsp:txXfrm>
        <a:off x="6630440" y="2531870"/>
        <a:ext cx="1192117" cy="1479395"/>
      </dsp:txXfrm>
    </dsp:sp>
    <dsp:sp modelId="{6DE9FEE6-BC69-4F2D-B20C-080A54A4199F}">
      <dsp:nvSpPr>
        <dsp:cNvPr id="0" name=""/>
        <dsp:cNvSpPr/>
      </dsp:nvSpPr>
      <dsp:spPr>
        <a:xfrm rot="19958223">
          <a:off x="7936398" y="2731793"/>
          <a:ext cx="211448" cy="23533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1000" kern="1200" baseline="0">
            <a:latin typeface="Times New Roman" panose="02020603050405020304" pitchFamily="18" charset="0"/>
            <a:ea typeface="標楷體" panose="03000509000000000000" pitchFamily="65" charset="-120"/>
          </a:endParaRPr>
        </a:p>
      </dsp:txBody>
      <dsp:txXfrm>
        <a:off x="7939947" y="2793437"/>
        <a:ext cx="148014" cy="141198"/>
      </dsp:txXfrm>
    </dsp:sp>
    <dsp:sp modelId="{84D70440-C93B-4A23-9A20-E4B0FC22B0B8}">
      <dsp:nvSpPr>
        <dsp:cNvPr id="0" name=""/>
        <dsp:cNvSpPr/>
      </dsp:nvSpPr>
      <dsp:spPr>
        <a:xfrm>
          <a:off x="8213967" y="1701753"/>
          <a:ext cx="1026960" cy="1586055"/>
        </a:xfrm>
        <a:prstGeom prst="roundRect">
          <a:avLst>
            <a:gd name="adj" fmla="val 10000"/>
          </a:avLst>
        </a:prstGeom>
        <a:solidFill>
          <a:schemeClr val="lt1"/>
        </a:solidFill>
        <a:ln w="19050" cap="rnd" cmpd="sng" algn="ctr">
          <a:solidFill>
            <a:schemeClr val="accent2"/>
          </a:solidFill>
          <a:prstDash val="solid"/>
        </a:ln>
        <a:effectLst/>
      </dsp:spPr>
      <dsp:style>
        <a:lnRef idx="2">
          <a:schemeClr val="accent2"/>
        </a:lnRef>
        <a:fillRef idx="1">
          <a:schemeClr val="lt1"/>
        </a:fillRef>
        <a:effectRef idx="0">
          <a:schemeClr val="accent2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800" kern="12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將數學解轉換為排程結果匯入</a:t>
          </a:r>
          <a:r>
            <a:rPr lang="en-US" altLang="zh-TW" sz="1800" kern="12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excel</a:t>
          </a:r>
          <a:endParaRPr lang="zh-TW" altLang="en-US" sz="1800" kern="1200" baseline="0" dirty="0">
            <a:latin typeface="Times New Roman" panose="02020603050405020304" pitchFamily="18" charset="0"/>
            <a:ea typeface="標楷體" panose="03000509000000000000" pitchFamily="65" charset="-120"/>
          </a:endParaRPr>
        </a:p>
      </dsp:txBody>
      <dsp:txXfrm>
        <a:off x="8244046" y="1731832"/>
        <a:ext cx="966802" cy="152589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CFF55FE-2243-475A-9EF6-1CAE88DDD0A3}">
      <dsp:nvSpPr>
        <dsp:cNvPr id="0" name=""/>
        <dsp:cNvSpPr/>
      </dsp:nvSpPr>
      <dsp:spPr>
        <a:xfrm>
          <a:off x="5299" y="1454997"/>
          <a:ext cx="1818639" cy="1806005"/>
        </a:xfrm>
        <a:prstGeom prst="roundRect">
          <a:avLst>
            <a:gd name="adj" fmla="val 10000"/>
          </a:avLst>
        </a:prstGeom>
        <a:solidFill>
          <a:schemeClr val="lt1"/>
        </a:solidFill>
        <a:ln w="19050" cap="rnd" cmpd="sng" algn="ctr">
          <a:solidFill>
            <a:schemeClr val="accent2"/>
          </a:solidFill>
          <a:prstDash val="solid"/>
        </a:ln>
        <a:effectLst/>
      </dsp:spPr>
      <dsp:style>
        <a:lnRef idx="2">
          <a:schemeClr val="accent2"/>
        </a:lnRef>
        <a:fillRef idx="1">
          <a:schemeClr val="lt1"/>
        </a:fillRef>
        <a:effectRef idx="0">
          <a:schemeClr val="accent2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800" kern="12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自動從</a:t>
          </a:r>
          <a:r>
            <a:rPr lang="en-US" altLang="zh-TW" sz="1800" kern="12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excel</a:t>
          </a:r>
          <a:r>
            <a:rPr lang="zh-TW" altLang="en-US" sz="1800" kern="12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讀入任務、地面站、日蝕軌道與資源上限等資料列表</a:t>
          </a:r>
        </a:p>
      </dsp:txBody>
      <dsp:txXfrm>
        <a:off x="58195" y="1507893"/>
        <a:ext cx="1712847" cy="1700213"/>
      </dsp:txXfrm>
    </dsp:sp>
    <dsp:sp modelId="{83BD1F54-F53E-4307-B920-717F23833AB2}">
      <dsp:nvSpPr>
        <dsp:cNvPr id="0" name=""/>
        <dsp:cNvSpPr/>
      </dsp:nvSpPr>
      <dsp:spPr>
        <a:xfrm rot="19666294">
          <a:off x="1903562" y="1530684"/>
          <a:ext cx="247288" cy="25182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1100" kern="1200" baseline="0">
            <a:latin typeface="Times New Roman" panose="02020603050405020304" pitchFamily="18" charset="0"/>
            <a:ea typeface="標楷體" panose="03000509000000000000" pitchFamily="65" charset="-120"/>
          </a:endParaRPr>
        </a:p>
      </dsp:txBody>
      <dsp:txXfrm>
        <a:off x="1909277" y="1600830"/>
        <a:ext cx="173102" cy="151092"/>
      </dsp:txXfrm>
    </dsp:sp>
    <dsp:sp modelId="{C3D32A4A-F911-4D4D-BD2E-F6713EC0B26A}">
      <dsp:nvSpPr>
        <dsp:cNvPr id="0" name=""/>
        <dsp:cNvSpPr/>
      </dsp:nvSpPr>
      <dsp:spPr>
        <a:xfrm>
          <a:off x="2218634" y="210099"/>
          <a:ext cx="1341348" cy="1806005"/>
        </a:xfrm>
        <a:prstGeom prst="roundRect">
          <a:avLst>
            <a:gd name="adj" fmla="val 10000"/>
          </a:avLst>
        </a:prstGeom>
        <a:solidFill>
          <a:schemeClr val="lt1"/>
        </a:solidFill>
        <a:ln w="19050" cap="rnd" cmpd="sng" algn="ctr">
          <a:solidFill>
            <a:schemeClr val="accent2"/>
          </a:solidFill>
          <a:prstDash val="solid"/>
        </a:ln>
        <a:effectLst/>
      </dsp:spPr>
      <dsp:style>
        <a:lnRef idx="2">
          <a:schemeClr val="accent2"/>
        </a:lnRef>
        <a:fillRef idx="1">
          <a:schemeClr val="lt1"/>
        </a:fillRef>
        <a:effectRef idx="0">
          <a:schemeClr val="accent2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800" kern="12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將任務依種類宣告為二元與連續變數</a:t>
          </a:r>
        </a:p>
      </dsp:txBody>
      <dsp:txXfrm>
        <a:off x="2257921" y="249386"/>
        <a:ext cx="1262774" cy="1727431"/>
      </dsp:txXfrm>
    </dsp:sp>
    <dsp:sp modelId="{4E4D70C5-95C6-423C-BA19-218D52C72D81}">
      <dsp:nvSpPr>
        <dsp:cNvPr id="0" name=""/>
        <dsp:cNvSpPr/>
      </dsp:nvSpPr>
      <dsp:spPr>
        <a:xfrm rot="7465">
          <a:off x="3666365" y="989124"/>
          <a:ext cx="225530" cy="25182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1100" kern="1200" baseline="0" dirty="0">
            <a:latin typeface="Times New Roman" panose="02020603050405020304" pitchFamily="18" charset="0"/>
            <a:ea typeface="標楷體" panose="03000509000000000000" pitchFamily="65" charset="-120"/>
          </a:endParaRPr>
        </a:p>
      </dsp:txBody>
      <dsp:txXfrm>
        <a:off x="3666365" y="1039415"/>
        <a:ext cx="157871" cy="151092"/>
      </dsp:txXfrm>
    </dsp:sp>
    <dsp:sp modelId="{E2AEED15-EAD2-44FC-A918-886BB5B2880D}">
      <dsp:nvSpPr>
        <dsp:cNvPr id="0" name=""/>
        <dsp:cNvSpPr/>
      </dsp:nvSpPr>
      <dsp:spPr>
        <a:xfrm>
          <a:off x="3985510" y="215102"/>
          <a:ext cx="2415159" cy="1806005"/>
        </a:xfrm>
        <a:prstGeom prst="roundRect">
          <a:avLst>
            <a:gd name="adj" fmla="val 10000"/>
          </a:avLst>
        </a:prstGeom>
        <a:solidFill>
          <a:schemeClr val="lt1"/>
        </a:solidFill>
        <a:ln w="19050" cap="rnd" cmpd="sng" algn="ctr">
          <a:solidFill>
            <a:schemeClr val="accent2"/>
          </a:solidFill>
          <a:prstDash val="solid"/>
        </a:ln>
        <a:effectLst/>
      </dsp:spPr>
      <dsp:style>
        <a:lnRef idx="2">
          <a:schemeClr val="accent2"/>
        </a:lnRef>
        <a:fillRef idx="1">
          <a:schemeClr val="lt1"/>
        </a:fillRef>
        <a:effectRef idx="0">
          <a:schemeClr val="accent2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600" kern="12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建立線性限制式：記憶體</a:t>
          </a:r>
          <a:r>
            <a:rPr lang="en-US" altLang="en-US" sz="1600" kern="12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/</a:t>
          </a:r>
          <a:r>
            <a:rPr lang="zh-TW" altLang="en-US" sz="1600" kern="12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檔名容量限制、執行時間不重疊</a:t>
          </a:r>
          <a:r>
            <a:rPr lang="en-US" altLang="zh-TW" sz="1600" kern="12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...</a:t>
          </a:r>
          <a:r>
            <a:rPr lang="en-US" altLang="en-US" sz="1600" kern="12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 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600" kern="12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建立目標式：最大任務數 </a:t>
          </a:r>
          <a:r>
            <a:rPr lang="en-US" altLang="en-US" sz="1600" kern="12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+ </a:t>
          </a:r>
          <a:r>
            <a:rPr lang="zh-TW" altLang="en-US" sz="1600" kern="12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優先提早 </a:t>
          </a:r>
          <a:r>
            <a:rPr lang="en-US" altLang="en-US" sz="1600" kern="12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Download/Remove</a:t>
          </a:r>
          <a:endParaRPr lang="zh-TW" altLang="en-US" sz="1600" kern="1200" baseline="0" dirty="0">
            <a:latin typeface="Times New Roman" panose="02020603050405020304" pitchFamily="18" charset="0"/>
            <a:ea typeface="標楷體" panose="03000509000000000000" pitchFamily="65" charset="-120"/>
          </a:endParaRPr>
        </a:p>
      </dsp:txBody>
      <dsp:txXfrm>
        <a:off x="4038406" y="267998"/>
        <a:ext cx="2309367" cy="1700213"/>
      </dsp:txXfrm>
    </dsp:sp>
    <dsp:sp modelId="{BABC800B-A672-4215-80C0-9EA3E77B986C}">
      <dsp:nvSpPr>
        <dsp:cNvPr id="0" name=""/>
        <dsp:cNvSpPr/>
      </dsp:nvSpPr>
      <dsp:spPr>
        <a:xfrm rot="21549126">
          <a:off x="6499612" y="971305"/>
          <a:ext cx="209805" cy="25182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1100" kern="1200" baseline="0">
            <a:latin typeface="Times New Roman" panose="02020603050405020304" pitchFamily="18" charset="0"/>
            <a:ea typeface="標楷體" panose="03000509000000000000" pitchFamily="65" charset="-120"/>
          </a:endParaRPr>
        </a:p>
      </dsp:txBody>
      <dsp:txXfrm>
        <a:off x="6499615" y="1022135"/>
        <a:ext cx="146864" cy="151092"/>
      </dsp:txXfrm>
    </dsp:sp>
    <dsp:sp modelId="{A5B6FE68-D0D2-4D00-B7BF-8D94A7130EF7}">
      <dsp:nvSpPr>
        <dsp:cNvPr id="0" name=""/>
        <dsp:cNvSpPr/>
      </dsp:nvSpPr>
      <dsp:spPr>
        <a:xfrm>
          <a:off x="6796486" y="183858"/>
          <a:ext cx="1015404" cy="1806005"/>
        </a:xfrm>
        <a:prstGeom prst="roundRect">
          <a:avLst>
            <a:gd name="adj" fmla="val 10000"/>
          </a:avLst>
        </a:prstGeom>
        <a:solidFill>
          <a:schemeClr val="lt1"/>
        </a:solidFill>
        <a:ln w="19050" cap="rnd" cmpd="sng" algn="ctr">
          <a:solidFill>
            <a:schemeClr val="accent2"/>
          </a:solidFill>
          <a:prstDash val="solid"/>
        </a:ln>
        <a:effectLst/>
      </dsp:spPr>
      <dsp:style>
        <a:lnRef idx="2">
          <a:schemeClr val="accent2"/>
        </a:lnRef>
        <a:fillRef idx="1">
          <a:schemeClr val="lt1"/>
        </a:fillRef>
        <a:effectRef idx="0">
          <a:schemeClr val="accent2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800" kern="12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使用</a:t>
          </a:r>
          <a:r>
            <a:rPr lang="en-US" altLang="zh-TW" sz="1800" kern="12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IBM</a:t>
          </a:r>
          <a:r>
            <a:rPr lang="zh-TW" altLang="en-US" sz="1800" kern="12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 </a:t>
          </a:r>
          <a:r>
            <a:rPr lang="en-US" altLang="zh-TW" sz="1800" kern="12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CPLEX</a:t>
          </a:r>
          <a:r>
            <a:rPr lang="zh-TW" altLang="en-US" sz="1800" kern="12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求解</a:t>
          </a:r>
        </a:p>
      </dsp:txBody>
      <dsp:txXfrm>
        <a:off x="6826226" y="213598"/>
        <a:ext cx="955924" cy="1746525"/>
      </dsp:txXfrm>
    </dsp:sp>
    <dsp:sp modelId="{6DE9FEE6-BC69-4F2D-B20C-080A54A4199F}">
      <dsp:nvSpPr>
        <dsp:cNvPr id="0" name=""/>
        <dsp:cNvSpPr/>
      </dsp:nvSpPr>
      <dsp:spPr>
        <a:xfrm rot="2505216">
          <a:off x="7877177" y="1601991"/>
          <a:ext cx="290290" cy="25182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1100" kern="1200" baseline="0">
            <a:latin typeface="Times New Roman" panose="02020603050405020304" pitchFamily="18" charset="0"/>
            <a:ea typeface="標楷體" panose="03000509000000000000" pitchFamily="65" charset="-120"/>
          </a:endParaRPr>
        </a:p>
      </dsp:txBody>
      <dsp:txXfrm>
        <a:off x="7886771" y="1627201"/>
        <a:ext cx="214744" cy="151092"/>
      </dsp:txXfrm>
    </dsp:sp>
    <dsp:sp modelId="{84D70440-C93B-4A23-9A20-E4B0FC22B0B8}">
      <dsp:nvSpPr>
        <dsp:cNvPr id="0" name=""/>
        <dsp:cNvSpPr/>
      </dsp:nvSpPr>
      <dsp:spPr>
        <a:xfrm>
          <a:off x="8220497" y="1638965"/>
          <a:ext cx="1015404" cy="1438068"/>
        </a:xfrm>
        <a:prstGeom prst="roundRect">
          <a:avLst>
            <a:gd name="adj" fmla="val 10000"/>
          </a:avLst>
        </a:prstGeom>
        <a:solidFill>
          <a:schemeClr val="lt1"/>
        </a:solidFill>
        <a:ln w="19050" cap="rnd" cmpd="sng" algn="ctr">
          <a:solidFill>
            <a:schemeClr val="accent2"/>
          </a:solidFill>
          <a:prstDash val="solid"/>
        </a:ln>
        <a:effectLst/>
      </dsp:spPr>
      <dsp:style>
        <a:lnRef idx="2">
          <a:schemeClr val="accent2"/>
        </a:lnRef>
        <a:fillRef idx="1">
          <a:schemeClr val="lt1"/>
        </a:fillRef>
        <a:effectRef idx="0">
          <a:schemeClr val="accent2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800" kern="12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將排程結果匯入</a:t>
          </a:r>
          <a:r>
            <a:rPr lang="en-US" altLang="zh-TW" sz="1800" kern="12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excel</a:t>
          </a:r>
          <a:endParaRPr lang="zh-TW" altLang="en-US" sz="1800" kern="1200" baseline="0" dirty="0">
            <a:latin typeface="Times New Roman" panose="02020603050405020304" pitchFamily="18" charset="0"/>
            <a:ea typeface="標楷體" panose="03000509000000000000" pitchFamily="65" charset="-120"/>
          </a:endParaRPr>
        </a:p>
      </dsp:txBody>
      <dsp:txXfrm>
        <a:off x="8250237" y="1668705"/>
        <a:ext cx="955924" cy="137858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CFF55FE-2243-475A-9EF6-1CAE88DDD0A3}">
      <dsp:nvSpPr>
        <dsp:cNvPr id="0" name=""/>
        <dsp:cNvSpPr/>
      </dsp:nvSpPr>
      <dsp:spPr>
        <a:xfrm>
          <a:off x="0" y="1568330"/>
          <a:ext cx="1773488" cy="1839535"/>
        </a:xfrm>
        <a:prstGeom prst="roundRect">
          <a:avLst>
            <a:gd name="adj" fmla="val 10000"/>
          </a:avLst>
        </a:prstGeom>
        <a:solidFill>
          <a:schemeClr val="lt1"/>
        </a:solidFill>
        <a:ln w="19050" cap="rnd" cmpd="sng" algn="ctr">
          <a:solidFill>
            <a:schemeClr val="accent2"/>
          </a:solidFill>
          <a:prstDash val="solid"/>
        </a:ln>
        <a:effectLst/>
      </dsp:spPr>
      <dsp:style>
        <a:lnRef idx="2">
          <a:schemeClr val="accent2"/>
        </a:lnRef>
        <a:fillRef idx="1">
          <a:schemeClr val="lt1"/>
        </a:fillRef>
        <a:effectRef idx="0">
          <a:schemeClr val="accent2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800" kern="12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自動從</a:t>
          </a:r>
          <a:r>
            <a:rPr lang="en-US" altLang="zh-TW" sz="1800" kern="12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excel</a:t>
          </a:r>
          <a:r>
            <a:rPr lang="zh-TW" altLang="en-US" sz="1800" kern="12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讀入任務、地面站日蝕軌道與資源上限等資料列表</a:t>
          </a:r>
        </a:p>
      </dsp:txBody>
      <dsp:txXfrm>
        <a:off x="51944" y="1620274"/>
        <a:ext cx="1669600" cy="1735647"/>
      </dsp:txXfrm>
    </dsp:sp>
    <dsp:sp modelId="{83BD1F54-F53E-4307-B920-717F23833AB2}">
      <dsp:nvSpPr>
        <dsp:cNvPr id="0" name=""/>
        <dsp:cNvSpPr/>
      </dsp:nvSpPr>
      <dsp:spPr>
        <a:xfrm rot="1312553">
          <a:off x="1861022" y="2805077"/>
          <a:ext cx="217894" cy="23588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1000" kern="1200" baseline="0">
            <a:latin typeface="Times New Roman" panose="02020603050405020304" pitchFamily="18" charset="0"/>
            <a:ea typeface="標楷體" panose="03000509000000000000" pitchFamily="65" charset="-120"/>
          </a:endParaRPr>
        </a:p>
      </dsp:txBody>
      <dsp:txXfrm>
        <a:off x="1863375" y="2840077"/>
        <a:ext cx="152526" cy="141533"/>
      </dsp:txXfrm>
    </dsp:sp>
    <dsp:sp modelId="{C3D32A4A-F911-4D4D-BD2E-F6713EC0B26A}">
      <dsp:nvSpPr>
        <dsp:cNvPr id="0" name=""/>
        <dsp:cNvSpPr/>
      </dsp:nvSpPr>
      <dsp:spPr>
        <a:xfrm>
          <a:off x="2155006" y="2455454"/>
          <a:ext cx="1255264" cy="1587722"/>
        </a:xfrm>
        <a:prstGeom prst="roundRect">
          <a:avLst>
            <a:gd name="adj" fmla="val 10000"/>
          </a:avLst>
        </a:prstGeom>
        <a:solidFill>
          <a:schemeClr val="lt1"/>
        </a:solidFill>
        <a:ln w="19050" cap="rnd" cmpd="sng" algn="ctr">
          <a:solidFill>
            <a:schemeClr val="accent2"/>
          </a:solidFill>
          <a:prstDash val="solid"/>
        </a:ln>
        <a:effectLst/>
      </dsp:spPr>
      <dsp:style>
        <a:lnRef idx="2">
          <a:schemeClr val="accent2"/>
        </a:lnRef>
        <a:fillRef idx="1">
          <a:schemeClr val="lt1"/>
        </a:fillRef>
        <a:effectRef idx="0">
          <a:schemeClr val="accent2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800" kern="12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將任務依種類宣告為區間變數</a:t>
          </a:r>
        </a:p>
      </dsp:txBody>
      <dsp:txXfrm>
        <a:off x="2191771" y="2492219"/>
        <a:ext cx="1181734" cy="1514192"/>
      </dsp:txXfrm>
    </dsp:sp>
    <dsp:sp modelId="{4E4D70C5-95C6-423C-BA19-218D52C72D81}">
      <dsp:nvSpPr>
        <dsp:cNvPr id="0" name=""/>
        <dsp:cNvSpPr/>
      </dsp:nvSpPr>
      <dsp:spPr>
        <a:xfrm rot="60741">
          <a:off x="3506267" y="3145956"/>
          <a:ext cx="203578" cy="23588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1000" kern="1200" baseline="0" dirty="0">
            <a:latin typeface="Times New Roman" panose="02020603050405020304" pitchFamily="18" charset="0"/>
            <a:ea typeface="標楷體" panose="03000509000000000000" pitchFamily="65" charset="-120"/>
          </a:endParaRPr>
        </a:p>
      </dsp:txBody>
      <dsp:txXfrm>
        <a:off x="3506272" y="3192594"/>
        <a:ext cx="142505" cy="141533"/>
      </dsp:txXfrm>
    </dsp:sp>
    <dsp:sp modelId="{E2AEED15-EAD2-44FC-A918-886BB5B2880D}">
      <dsp:nvSpPr>
        <dsp:cNvPr id="0" name=""/>
        <dsp:cNvSpPr/>
      </dsp:nvSpPr>
      <dsp:spPr>
        <a:xfrm>
          <a:off x="3794321" y="2494560"/>
          <a:ext cx="2402675" cy="1587722"/>
        </a:xfrm>
        <a:prstGeom prst="roundRect">
          <a:avLst>
            <a:gd name="adj" fmla="val 10000"/>
          </a:avLst>
        </a:prstGeom>
        <a:solidFill>
          <a:schemeClr val="lt1"/>
        </a:solidFill>
        <a:ln w="19050" cap="rnd" cmpd="sng" algn="ctr">
          <a:solidFill>
            <a:schemeClr val="accent2"/>
          </a:solidFill>
          <a:prstDash val="solid"/>
        </a:ln>
        <a:effectLst/>
      </dsp:spPr>
      <dsp:style>
        <a:lnRef idx="2">
          <a:schemeClr val="accent2"/>
        </a:lnRef>
        <a:fillRef idx="1">
          <a:schemeClr val="lt1"/>
        </a:fillRef>
        <a:effectRef idx="0">
          <a:schemeClr val="accent2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600" kern="12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將</a:t>
          </a:r>
          <a:r>
            <a:rPr lang="en-US" altLang="zh-TW" sz="1600" kern="12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MILP</a:t>
          </a:r>
          <a:r>
            <a:rPr lang="zh-TW" altLang="en-US" sz="1600" kern="12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模型之限制式轉換為全域限制式</a:t>
          </a:r>
          <a:endParaRPr lang="en-US" altLang="en-US" sz="1600" kern="1200" baseline="0" dirty="0">
            <a:latin typeface="Times New Roman" panose="02020603050405020304" pitchFamily="18" charset="0"/>
            <a:ea typeface="標楷體" panose="03000509000000000000" pitchFamily="65" charset="-120"/>
          </a:endParaRP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600" kern="12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建立目標式：最大任務數 </a:t>
          </a:r>
          <a:r>
            <a:rPr lang="en-US" altLang="en-US" sz="1600" kern="12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&amp; </a:t>
          </a:r>
          <a:r>
            <a:rPr lang="zh-TW" altLang="en-US" sz="1600" kern="12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最小化任務開始時間</a:t>
          </a:r>
        </a:p>
      </dsp:txBody>
      <dsp:txXfrm>
        <a:off x="3840824" y="2541063"/>
        <a:ext cx="2309669" cy="1494716"/>
      </dsp:txXfrm>
    </dsp:sp>
    <dsp:sp modelId="{BABC800B-A672-4215-80C0-9EA3E77B986C}">
      <dsp:nvSpPr>
        <dsp:cNvPr id="0" name=""/>
        <dsp:cNvSpPr/>
      </dsp:nvSpPr>
      <dsp:spPr>
        <a:xfrm rot="21575577">
          <a:off x="6299775" y="3160437"/>
          <a:ext cx="217903" cy="23588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1000" kern="1200" baseline="0">
            <a:latin typeface="Times New Roman" panose="02020603050405020304" pitchFamily="18" charset="0"/>
            <a:ea typeface="標楷體" panose="03000509000000000000" pitchFamily="65" charset="-120"/>
          </a:endParaRPr>
        </a:p>
      </dsp:txBody>
      <dsp:txXfrm>
        <a:off x="6299776" y="3207847"/>
        <a:ext cx="152532" cy="141533"/>
      </dsp:txXfrm>
    </dsp:sp>
    <dsp:sp modelId="{A5B6FE68-D0D2-4D00-B7BF-8D94A7130EF7}">
      <dsp:nvSpPr>
        <dsp:cNvPr id="0" name=""/>
        <dsp:cNvSpPr/>
      </dsp:nvSpPr>
      <dsp:spPr>
        <a:xfrm>
          <a:off x="6608124" y="2494925"/>
          <a:ext cx="1249129" cy="1555206"/>
        </a:xfrm>
        <a:prstGeom prst="roundRect">
          <a:avLst>
            <a:gd name="adj" fmla="val 10000"/>
          </a:avLst>
        </a:prstGeom>
        <a:solidFill>
          <a:schemeClr val="lt1"/>
        </a:solidFill>
        <a:ln w="19050" cap="rnd" cmpd="sng" algn="ctr">
          <a:solidFill>
            <a:schemeClr val="accent2"/>
          </a:solidFill>
          <a:prstDash val="solid"/>
        </a:ln>
        <a:effectLst/>
      </dsp:spPr>
      <dsp:style>
        <a:lnRef idx="2">
          <a:schemeClr val="accent2"/>
        </a:lnRef>
        <a:fillRef idx="1">
          <a:schemeClr val="lt1"/>
        </a:fillRef>
        <a:effectRef idx="0">
          <a:schemeClr val="accent2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800" kern="12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使用</a:t>
          </a:r>
          <a:r>
            <a:rPr lang="en-US" altLang="zh-TW" sz="1800" kern="12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IBM</a:t>
          </a:r>
          <a:r>
            <a:rPr lang="zh-TW" altLang="en-US" sz="1800" kern="12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 </a:t>
          </a:r>
          <a:r>
            <a:rPr lang="en-US" altLang="zh-TW" sz="1800" kern="12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CP</a:t>
          </a:r>
          <a:r>
            <a:rPr lang="zh-TW" altLang="en-US" sz="1800" kern="12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 </a:t>
          </a:r>
          <a:r>
            <a:rPr lang="en-US" altLang="zh-TW" sz="1800" kern="12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Optimizer</a:t>
          </a:r>
          <a:r>
            <a:rPr lang="zh-TW" altLang="en-US" sz="1800" kern="12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求解</a:t>
          </a:r>
        </a:p>
      </dsp:txBody>
      <dsp:txXfrm>
        <a:off x="6644710" y="2531511"/>
        <a:ext cx="1175957" cy="1482034"/>
      </dsp:txXfrm>
    </dsp:sp>
    <dsp:sp modelId="{6DE9FEE6-BC69-4F2D-B20C-080A54A4199F}">
      <dsp:nvSpPr>
        <dsp:cNvPr id="0" name=""/>
        <dsp:cNvSpPr/>
      </dsp:nvSpPr>
      <dsp:spPr>
        <a:xfrm rot="19950047">
          <a:off x="7933923" y="2734418"/>
          <a:ext cx="211844" cy="23588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1000" kern="1200" baseline="0">
            <a:latin typeface="Times New Roman" panose="02020603050405020304" pitchFamily="18" charset="0"/>
            <a:ea typeface="標楷體" panose="03000509000000000000" pitchFamily="65" charset="-120"/>
          </a:endParaRPr>
        </a:p>
      </dsp:txBody>
      <dsp:txXfrm>
        <a:off x="7937513" y="2796268"/>
        <a:ext cx="148291" cy="141533"/>
      </dsp:txXfrm>
    </dsp:sp>
    <dsp:sp modelId="{84D70440-C93B-4A23-9A20-E4B0FC22B0B8}">
      <dsp:nvSpPr>
        <dsp:cNvPr id="0" name=""/>
        <dsp:cNvSpPr/>
      </dsp:nvSpPr>
      <dsp:spPr>
        <a:xfrm>
          <a:off x="8211800" y="1701063"/>
          <a:ext cx="1029400" cy="1587722"/>
        </a:xfrm>
        <a:prstGeom prst="roundRect">
          <a:avLst>
            <a:gd name="adj" fmla="val 10000"/>
          </a:avLst>
        </a:prstGeom>
        <a:solidFill>
          <a:schemeClr val="lt1"/>
        </a:solidFill>
        <a:ln w="19050" cap="rnd" cmpd="sng" algn="ctr">
          <a:solidFill>
            <a:schemeClr val="accent2"/>
          </a:solidFill>
          <a:prstDash val="solid"/>
        </a:ln>
        <a:effectLst/>
      </dsp:spPr>
      <dsp:style>
        <a:lnRef idx="2">
          <a:schemeClr val="accent2"/>
        </a:lnRef>
        <a:fillRef idx="1">
          <a:schemeClr val="lt1"/>
        </a:fillRef>
        <a:effectRef idx="0">
          <a:schemeClr val="accent2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800" kern="12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將數學解轉換為排程結果匯入</a:t>
          </a:r>
          <a:r>
            <a:rPr lang="en-US" altLang="zh-TW" sz="1800" kern="12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excel</a:t>
          </a:r>
          <a:endParaRPr lang="zh-TW" altLang="en-US" sz="1800" kern="1200" baseline="0" dirty="0">
            <a:latin typeface="Times New Roman" panose="02020603050405020304" pitchFamily="18" charset="0"/>
            <a:ea typeface="標楷體" panose="03000509000000000000" pitchFamily="65" charset="-120"/>
          </a:endParaRPr>
        </a:p>
      </dsp:txBody>
      <dsp:txXfrm>
        <a:off x="8241950" y="1731213"/>
        <a:ext cx="969100" cy="152742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CFF55FE-2243-475A-9EF6-1CAE88DDD0A3}">
      <dsp:nvSpPr>
        <dsp:cNvPr id="0" name=""/>
        <dsp:cNvSpPr/>
      </dsp:nvSpPr>
      <dsp:spPr>
        <a:xfrm>
          <a:off x="5299" y="1454997"/>
          <a:ext cx="1818639" cy="1806005"/>
        </a:xfrm>
        <a:prstGeom prst="roundRect">
          <a:avLst>
            <a:gd name="adj" fmla="val 10000"/>
          </a:avLst>
        </a:prstGeom>
        <a:solidFill>
          <a:schemeClr val="lt1"/>
        </a:solidFill>
        <a:ln w="19050" cap="rnd" cmpd="sng" algn="ctr">
          <a:solidFill>
            <a:schemeClr val="accent2"/>
          </a:solidFill>
          <a:prstDash val="solid"/>
        </a:ln>
        <a:effectLst/>
      </dsp:spPr>
      <dsp:style>
        <a:lnRef idx="2">
          <a:schemeClr val="accent2"/>
        </a:lnRef>
        <a:fillRef idx="1">
          <a:schemeClr val="lt1"/>
        </a:fillRef>
        <a:effectRef idx="0">
          <a:schemeClr val="accent2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800" kern="12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自動從</a:t>
          </a:r>
          <a:r>
            <a:rPr lang="en-US" altLang="zh-TW" sz="1800" kern="12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excel</a:t>
          </a:r>
          <a:r>
            <a:rPr lang="zh-TW" altLang="en-US" sz="1800" kern="12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讀入任務、地面站、日蝕軌道與資源上限等資料列表</a:t>
          </a:r>
        </a:p>
      </dsp:txBody>
      <dsp:txXfrm>
        <a:off x="58195" y="1507893"/>
        <a:ext cx="1712847" cy="1700213"/>
      </dsp:txXfrm>
    </dsp:sp>
    <dsp:sp modelId="{83BD1F54-F53E-4307-B920-717F23833AB2}">
      <dsp:nvSpPr>
        <dsp:cNvPr id="0" name=""/>
        <dsp:cNvSpPr/>
      </dsp:nvSpPr>
      <dsp:spPr>
        <a:xfrm rot="19666294">
          <a:off x="1903562" y="1530684"/>
          <a:ext cx="247288" cy="25182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1100" kern="1200" baseline="0">
            <a:latin typeface="Times New Roman" panose="02020603050405020304" pitchFamily="18" charset="0"/>
            <a:ea typeface="標楷體" panose="03000509000000000000" pitchFamily="65" charset="-120"/>
          </a:endParaRPr>
        </a:p>
      </dsp:txBody>
      <dsp:txXfrm>
        <a:off x="1909277" y="1600830"/>
        <a:ext cx="173102" cy="151092"/>
      </dsp:txXfrm>
    </dsp:sp>
    <dsp:sp modelId="{C3D32A4A-F911-4D4D-BD2E-F6713EC0B26A}">
      <dsp:nvSpPr>
        <dsp:cNvPr id="0" name=""/>
        <dsp:cNvSpPr/>
      </dsp:nvSpPr>
      <dsp:spPr>
        <a:xfrm>
          <a:off x="2218634" y="210099"/>
          <a:ext cx="1341348" cy="1806005"/>
        </a:xfrm>
        <a:prstGeom prst="roundRect">
          <a:avLst>
            <a:gd name="adj" fmla="val 10000"/>
          </a:avLst>
        </a:prstGeom>
        <a:solidFill>
          <a:schemeClr val="lt1"/>
        </a:solidFill>
        <a:ln w="19050" cap="rnd" cmpd="sng" algn="ctr">
          <a:solidFill>
            <a:schemeClr val="accent2"/>
          </a:solidFill>
          <a:prstDash val="solid"/>
        </a:ln>
        <a:effectLst/>
      </dsp:spPr>
      <dsp:style>
        <a:lnRef idx="2">
          <a:schemeClr val="accent2"/>
        </a:lnRef>
        <a:fillRef idx="1">
          <a:schemeClr val="lt1"/>
        </a:fillRef>
        <a:effectRef idx="0">
          <a:schemeClr val="accent2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800" kern="12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將任務依種類宣告為二元與連續變數</a:t>
          </a:r>
        </a:p>
      </dsp:txBody>
      <dsp:txXfrm>
        <a:off x="2257921" y="249386"/>
        <a:ext cx="1262774" cy="1727431"/>
      </dsp:txXfrm>
    </dsp:sp>
    <dsp:sp modelId="{4E4D70C5-95C6-423C-BA19-218D52C72D81}">
      <dsp:nvSpPr>
        <dsp:cNvPr id="0" name=""/>
        <dsp:cNvSpPr/>
      </dsp:nvSpPr>
      <dsp:spPr>
        <a:xfrm rot="7465">
          <a:off x="3666365" y="989124"/>
          <a:ext cx="225530" cy="25182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1100" kern="1200" baseline="0" dirty="0">
            <a:latin typeface="Times New Roman" panose="02020603050405020304" pitchFamily="18" charset="0"/>
            <a:ea typeface="標楷體" panose="03000509000000000000" pitchFamily="65" charset="-120"/>
          </a:endParaRPr>
        </a:p>
      </dsp:txBody>
      <dsp:txXfrm>
        <a:off x="3666365" y="1039415"/>
        <a:ext cx="157871" cy="151092"/>
      </dsp:txXfrm>
    </dsp:sp>
    <dsp:sp modelId="{E2AEED15-EAD2-44FC-A918-886BB5B2880D}">
      <dsp:nvSpPr>
        <dsp:cNvPr id="0" name=""/>
        <dsp:cNvSpPr/>
      </dsp:nvSpPr>
      <dsp:spPr>
        <a:xfrm>
          <a:off x="3985510" y="215102"/>
          <a:ext cx="2415159" cy="1806005"/>
        </a:xfrm>
        <a:prstGeom prst="roundRect">
          <a:avLst>
            <a:gd name="adj" fmla="val 10000"/>
          </a:avLst>
        </a:prstGeom>
        <a:solidFill>
          <a:schemeClr val="lt1"/>
        </a:solidFill>
        <a:ln w="19050" cap="rnd" cmpd="sng" algn="ctr">
          <a:solidFill>
            <a:schemeClr val="accent2"/>
          </a:solidFill>
          <a:prstDash val="solid"/>
        </a:ln>
        <a:effectLst/>
      </dsp:spPr>
      <dsp:style>
        <a:lnRef idx="2">
          <a:schemeClr val="accent2"/>
        </a:lnRef>
        <a:fillRef idx="1">
          <a:schemeClr val="lt1"/>
        </a:fillRef>
        <a:effectRef idx="0">
          <a:schemeClr val="accent2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600" kern="12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建立線性限制式：記憶體</a:t>
          </a:r>
          <a:r>
            <a:rPr lang="en-US" altLang="en-US" sz="1600" kern="12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/</a:t>
          </a:r>
          <a:r>
            <a:rPr lang="zh-TW" altLang="en-US" sz="1600" kern="12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檔名容量限制、執行時間不重疊</a:t>
          </a:r>
          <a:r>
            <a:rPr lang="en-US" altLang="zh-TW" sz="1600" kern="12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...</a:t>
          </a:r>
          <a:r>
            <a:rPr lang="en-US" altLang="en-US" sz="1600" kern="12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 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600" kern="12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建立目標式：最大任務數 </a:t>
          </a:r>
          <a:r>
            <a:rPr lang="en-US" altLang="en-US" sz="1600" kern="12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+ </a:t>
          </a:r>
          <a:r>
            <a:rPr lang="zh-TW" altLang="en-US" sz="1600" kern="12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優先提早 </a:t>
          </a:r>
          <a:r>
            <a:rPr lang="en-US" altLang="en-US" sz="1600" kern="12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Download/Remove</a:t>
          </a:r>
          <a:endParaRPr lang="zh-TW" altLang="en-US" sz="1600" kern="1200" baseline="0" dirty="0">
            <a:latin typeface="Times New Roman" panose="02020603050405020304" pitchFamily="18" charset="0"/>
            <a:ea typeface="標楷體" panose="03000509000000000000" pitchFamily="65" charset="-120"/>
          </a:endParaRPr>
        </a:p>
      </dsp:txBody>
      <dsp:txXfrm>
        <a:off x="4038406" y="267998"/>
        <a:ext cx="2309367" cy="1700213"/>
      </dsp:txXfrm>
    </dsp:sp>
    <dsp:sp modelId="{BABC800B-A672-4215-80C0-9EA3E77B986C}">
      <dsp:nvSpPr>
        <dsp:cNvPr id="0" name=""/>
        <dsp:cNvSpPr/>
      </dsp:nvSpPr>
      <dsp:spPr>
        <a:xfrm rot="21549126">
          <a:off x="6499612" y="971305"/>
          <a:ext cx="209805" cy="25182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1100" kern="1200" baseline="0">
            <a:latin typeface="Times New Roman" panose="02020603050405020304" pitchFamily="18" charset="0"/>
            <a:ea typeface="標楷體" panose="03000509000000000000" pitchFamily="65" charset="-120"/>
          </a:endParaRPr>
        </a:p>
      </dsp:txBody>
      <dsp:txXfrm>
        <a:off x="6499615" y="1022135"/>
        <a:ext cx="146864" cy="151092"/>
      </dsp:txXfrm>
    </dsp:sp>
    <dsp:sp modelId="{A5B6FE68-D0D2-4D00-B7BF-8D94A7130EF7}">
      <dsp:nvSpPr>
        <dsp:cNvPr id="0" name=""/>
        <dsp:cNvSpPr/>
      </dsp:nvSpPr>
      <dsp:spPr>
        <a:xfrm>
          <a:off x="6796486" y="183858"/>
          <a:ext cx="1015404" cy="1806005"/>
        </a:xfrm>
        <a:prstGeom prst="roundRect">
          <a:avLst>
            <a:gd name="adj" fmla="val 10000"/>
          </a:avLst>
        </a:prstGeom>
        <a:solidFill>
          <a:schemeClr val="lt1"/>
        </a:solidFill>
        <a:ln w="19050" cap="rnd" cmpd="sng" algn="ctr">
          <a:solidFill>
            <a:schemeClr val="accent2"/>
          </a:solidFill>
          <a:prstDash val="solid"/>
        </a:ln>
        <a:effectLst/>
      </dsp:spPr>
      <dsp:style>
        <a:lnRef idx="2">
          <a:schemeClr val="accent2"/>
        </a:lnRef>
        <a:fillRef idx="1">
          <a:schemeClr val="lt1"/>
        </a:fillRef>
        <a:effectRef idx="0">
          <a:schemeClr val="accent2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800" kern="12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使用</a:t>
          </a:r>
          <a:r>
            <a:rPr lang="en-US" altLang="zh-TW" sz="1800" kern="12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IBM</a:t>
          </a:r>
          <a:r>
            <a:rPr lang="zh-TW" altLang="en-US" sz="1800" kern="12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 </a:t>
          </a:r>
          <a:r>
            <a:rPr lang="en-US" altLang="zh-TW" sz="1800" kern="12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CPLEX</a:t>
          </a:r>
          <a:r>
            <a:rPr lang="zh-TW" altLang="en-US" sz="1800" kern="12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求解</a:t>
          </a:r>
        </a:p>
      </dsp:txBody>
      <dsp:txXfrm>
        <a:off x="6826226" y="213598"/>
        <a:ext cx="955924" cy="1746525"/>
      </dsp:txXfrm>
    </dsp:sp>
    <dsp:sp modelId="{6DE9FEE6-BC69-4F2D-B20C-080A54A4199F}">
      <dsp:nvSpPr>
        <dsp:cNvPr id="0" name=""/>
        <dsp:cNvSpPr/>
      </dsp:nvSpPr>
      <dsp:spPr>
        <a:xfrm rot="2505216">
          <a:off x="7877177" y="1601991"/>
          <a:ext cx="290290" cy="25182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1100" kern="1200" baseline="0">
            <a:latin typeface="Times New Roman" panose="02020603050405020304" pitchFamily="18" charset="0"/>
            <a:ea typeface="標楷體" panose="03000509000000000000" pitchFamily="65" charset="-120"/>
          </a:endParaRPr>
        </a:p>
      </dsp:txBody>
      <dsp:txXfrm>
        <a:off x="7886771" y="1627201"/>
        <a:ext cx="214744" cy="151092"/>
      </dsp:txXfrm>
    </dsp:sp>
    <dsp:sp modelId="{84D70440-C93B-4A23-9A20-E4B0FC22B0B8}">
      <dsp:nvSpPr>
        <dsp:cNvPr id="0" name=""/>
        <dsp:cNvSpPr/>
      </dsp:nvSpPr>
      <dsp:spPr>
        <a:xfrm>
          <a:off x="8220497" y="1638965"/>
          <a:ext cx="1015404" cy="1438068"/>
        </a:xfrm>
        <a:prstGeom prst="roundRect">
          <a:avLst>
            <a:gd name="adj" fmla="val 10000"/>
          </a:avLst>
        </a:prstGeom>
        <a:solidFill>
          <a:schemeClr val="lt1"/>
        </a:solidFill>
        <a:ln w="19050" cap="rnd" cmpd="sng" algn="ctr">
          <a:solidFill>
            <a:schemeClr val="accent2"/>
          </a:solidFill>
          <a:prstDash val="solid"/>
        </a:ln>
        <a:effectLst/>
      </dsp:spPr>
      <dsp:style>
        <a:lnRef idx="2">
          <a:schemeClr val="accent2"/>
        </a:lnRef>
        <a:fillRef idx="1">
          <a:schemeClr val="lt1"/>
        </a:fillRef>
        <a:effectRef idx="0">
          <a:schemeClr val="accent2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800" kern="12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將排程結果匯入</a:t>
          </a:r>
          <a:r>
            <a:rPr lang="en-US" altLang="zh-TW" sz="1800" kern="12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excel</a:t>
          </a:r>
          <a:endParaRPr lang="zh-TW" altLang="en-US" sz="1800" kern="1200" baseline="0" dirty="0">
            <a:latin typeface="Times New Roman" panose="02020603050405020304" pitchFamily="18" charset="0"/>
            <a:ea typeface="標楷體" panose="03000509000000000000" pitchFamily="65" charset="-120"/>
          </a:endParaRPr>
        </a:p>
      </dsp:txBody>
      <dsp:txXfrm>
        <a:off x="8250237" y="1668705"/>
        <a:ext cx="955924" cy="1378588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CFF55FE-2243-475A-9EF6-1CAE88DDD0A3}">
      <dsp:nvSpPr>
        <dsp:cNvPr id="0" name=""/>
        <dsp:cNvSpPr/>
      </dsp:nvSpPr>
      <dsp:spPr>
        <a:xfrm>
          <a:off x="2700" y="1567086"/>
          <a:ext cx="1779792" cy="1842432"/>
        </a:xfrm>
        <a:prstGeom prst="roundRect">
          <a:avLst>
            <a:gd name="adj" fmla="val 10000"/>
          </a:avLst>
        </a:prstGeom>
        <a:solidFill>
          <a:schemeClr val="lt1"/>
        </a:solidFill>
        <a:ln w="19050" cap="rnd" cmpd="sng" algn="ctr">
          <a:solidFill>
            <a:schemeClr val="accent2"/>
          </a:solidFill>
          <a:prstDash val="solid"/>
        </a:ln>
        <a:effectLst/>
      </dsp:spPr>
      <dsp:style>
        <a:lnRef idx="2">
          <a:schemeClr val="accent2"/>
        </a:lnRef>
        <a:fillRef idx="1">
          <a:schemeClr val="lt1"/>
        </a:fillRef>
        <a:effectRef idx="0">
          <a:schemeClr val="accent2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800" kern="12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自動從</a:t>
          </a:r>
          <a:r>
            <a:rPr lang="en-US" altLang="zh-TW" sz="1800" kern="12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excel</a:t>
          </a:r>
          <a:r>
            <a:rPr lang="zh-TW" altLang="en-US" sz="1800" kern="12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讀入任務、地面站日蝕軌道與資源上限等資料列表</a:t>
          </a:r>
        </a:p>
      </dsp:txBody>
      <dsp:txXfrm>
        <a:off x="54828" y="1619214"/>
        <a:ext cx="1675536" cy="1738176"/>
      </dsp:txXfrm>
    </dsp:sp>
    <dsp:sp modelId="{83BD1F54-F53E-4307-B920-717F23833AB2}">
      <dsp:nvSpPr>
        <dsp:cNvPr id="0" name=""/>
        <dsp:cNvSpPr/>
      </dsp:nvSpPr>
      <dsp:spPr>
        <a:xfrm rot="1309651">
          <a:off x="1870580" y="2805528"/>
          <a:ext cx="219104" cy="23672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1000" kern="1200" baseline="0">
            <a:latin typeface="Times New Roman" panose="02020603050405020304" pitchFamily="18" charset="0"/>
            <a:ea typeface="標楷體" panose="03000509000000000000" pitchFamily="65" charset="-120"/>
          </a:endParaRPr>
        </a:p>
      </dsp:txBody>
      <dsp:txXfrm>
        <a:off x="1872936" y="2840653"/>
        <a:ext cx="153373" cy="142037"/>
      </dsp:txXfrm>
    </dsp:sp>
    <dsp:sp modelId="{C3D32A4A-F911-4D4D-BD2E-F6713EC0B26A}">
      <dsp:nvSpPr>
        <dsp:cNvPr id="0" name=""/>
        <dsp:cNvSpPr/>
      </dsp:nvSpPr>
      <dsp:spPr>
        <a:xfrm>
          <a:off x="2166259" y="2455607"/>
          <a:ext cx="1259725" cy="1590223"/>
        </a:xfrm>
        <a:prstGeom prst="roundRect">
          <a:avLst>
            <a:gd name="adj" fmla="val 10000"/>
          </a:avLst>
        </a:prstGeom>
        <a:solidFill>
          <a:schemeClr val="lt1"/>
        </a:solidFill>
        <a:ln w="19050" cap="rnd" cmpd="sng" algn="ctr">
          <a:solidFill>
            <a:schemeClr val="accent2"/>
          </a:solidFill>
          <a:prstDash val="solid"/>
        </a:ln>
        <a:effectLst/>
      </dsp:spPr>
      <dsp:style>
        <a:lnRef idx="2">
          <a:schemeClr val="accent2"/>
        </a:lnRef>
        <a:fillRef idx="1">
          <a:schemeClr val="lt1"/>
        </a:fillRef>
        <a:effectRef idx="0">
          <a:schemeClr val="accent2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800" kern="12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將任務依種類宣告為區間變數</a:t>
          </a:r>
        </a:p>
      </dsp:txBody>
      <dsp:txXfrm>
        <a:off x="2203155" y="2492503"/>
        <a:ext cx="1185933" cy="1516431"/>
      </dsp:txXfrm>
    </dsp:sp>
    <dsp:sp modelId="{4E4D70C5-95C6-423C-BA19-218D52C72D81}">
      <dsp:nvSpPr>
        <dsp:cNvPr id="0" name=""/>
        <dsp:cNvSpPr/>
      </dsp:nvSpPr>
      <dsp:spPr>
        <a:xfrm rot="60621">
          <a:off x="3522323" y="3146964"/>
          <a:ext cx="204302" cy="23672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1000" kern="1200" baseline="0" dirty="0">
            <a:latin typeface="Times New Roman" panose="02020603050405020304" pitchFamily="18" charset="0"/>
            <a:ea typeface="標楷體" panose="03000509000000000000" pitchFamily="65" charset="-120"/>
          </a:endParaRPr>
        </a:p>
      </dsp:txBody>
      <dsp:txXfrm>
        <a:off x="3522328" y="3193769"/>
        <a:ext cx="143011" cy="142037"/>
      </dsp:txXfrm>
    </dsp:sp>
    <dsp:sp modelId="{E2AEED15-EAD2-44FC-A918-886BB5B2880D}">
      <dsp:nvSpPr>
        <dsp:cNvPr id="0" name=""/>
        <dsp:cNvSpPr/>
      </dsp:nvSpPr>
      <dsp:spPr>
        <a:xfrm>
          <a:off x="3811400" y="2494775"/>
          <a:ext cx="2411215" cy="1590223"/>
        </a:xfrm>
        <a:prstGeom prst="roundRect">
          <a:avLst>
            <a:gd name="adj" fmla="val 10000"/>
          </a:avLst>
        </a:prstGeom>
        <a:solidFill>
          <a:schemeClr val="lt1"/>
        </a:solidFill>
        <a:ln w="19050" cap="rnd" cmpd="sng" algn="ctr">
          <a:solidFill>
            <a:schemeClr val="accent2"/>
          </a:solidFill>
          <a:prstDash val="solid"/>
        </a:ln>
        <a:effectLst/>
      </dsp:spPr>
      <dsp:style>
        <a:lnRef idx="2">
          <a:schemeClr val="accent2"/>
        </a:lnRef>
        <a:fillRef idx="1">
          <a:schemeClr val="lt1"/>
        </a:fillRef>
        <a:effectRef idx="0">
          <a:schemeClr val="accent2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600" kern="12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將</a:t>
          </a:r>
          <a:r>
            <a:rPr lang="en-US" altLang="zh-TW" sz="1600" kern="12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MILP</a:t>
          </a:r>
          <a:r>
            <a:rPr lang="zh-TW" altLang="en-US" sz="1600" kern="12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模型之限制式轉換為全域限制式</a:t>
          </a:r>
          <a:endParaRPr lang="en-US" altLang="en-US" sz="1600" kern="1200" baseline="0" dirty="0">
            <a:latin typeface="Times New Roman" panose="02020603050405020304" pitchFamily="18" charset="0"/>
            <a:ea typeface="標楷體" panose="03000509000000000000" pitchFamily="65" charset="-120"/>
          </a:endParaRP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600" kern="12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建立目標式：最大任務數 </a:t>
          </a:r>
          <a:r>
            <a:rPr lang="en-US" altLang="en-US" sz="1600" kern="12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&amp; </a:t>
          </a:r>
          <a:r>
            <a:rPr lang="zh-TW" altLang="en-US" sz="1600" kern="12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最小化任務開始時間</a:t>
          </a:r>
        </a:p>
      </dsp:txBody>
      <dsp:txXfrm>
        <a:off x="3857976" y="2541351"/>
        <a:ext cx="2318063" cy="1497071"/>
      </dsp:txXfrm>
    </dsp:sp>
    <dsp:sp modelId="{BABC800B-A672-4215-80C0-9EA3E77B986C}">
      <dsp:nvSpPr>
        <dsp:cNvPr id="0" name=""/>
        <dsp:cNvSpPr/>
      </dsp:nvSpPr>
      <dsp:spPr>
        <a:xfrm rot="21575406">
          <a:off x="6325761" y="3161377"/>
          <a:ext cx="218678" cy="23672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1000" kern="1200" baseline="0">
            <a:latin typeface="Times New Roman" panose="02020603050405020304" pitchFamily="18" charset="0"/>
            <a:ea typeface="標楷體" panose="03000509000000000000" pitchFamily="65" charset="-120"/>
          </a:endParaRPr>
        </a:p>
      </dsp:txBody>
      <dsp:txXfrm>
        <a:off x="6325762" y="3208957"/>
        <a:ext cx="153075" cy="142037"/>
      </dsp:txXfrm>
    </dsp:sp>
    <dsp:sp modelId="{A5B6FE68-D0D2-4D00-B7BF-8D94A7130EF7}">
      <dsp:nvSpPr>
        <dsp:cNvPr id="0" name=""/>
        <dsp:cNvSpPr/>
      </dsp:nvSpPr>
      <dsp:spPr>
        <a:xfrm>
          <a:off x="6635206" y="2495140"/>
          <a:ext cx="1213535" cy="1557655"/>
        </a:xfrm>
        <a:prstGeom prst="roundRect">
          <a:avLst>
            <a:gd name="adj" fmla="val 10000"/>
          </a:avLst>
        </a:prstGeom>
        <a:solidFill>
          <a:schemeClr val="lt1"/>
        </a:solidFill>
        <a:ln w="19050" cap="rnd" cmpd="sng" algn="ctr">
          <a:solidFill>
            <a:schemeClr val="accent2"/>
          </a:solidFill>
          <a:prstDash val="solid"/>
        </a:ln>
        <a:effectLst/>
      </dsp:spPr>
      <dsp:style>
        <a:lnRef idx="2">
          <a:schemeClr val="accent2"/>
        </a:lnRef>
        <a:fillRef idx="1">
          <a:schemeClr val="lt1"/>
        </a:fillRef>
        <a:effectRef idx="0">
          <a:schemeClr val="accent2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800" kern="12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使用</a:t>
          </a:r>
          <a:r>
            <a:rPr lang="en-US" altLang="zh-TW" sz="1800" kern="12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IBM</a:t>
          </a:r>
          <a:r>
            <a:rPr lang="zh-TW" altLang="en-US" sz="1800" kern="12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 </a:t>
          </a:r>
          <a:r>
            <a:rPr lang="en-US" altLang="zh-TW" sz="1800" kern="12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CP</a:t>
          </a:r>
          <a:r>
            <a:rPr lang="zh-TW" altLang="en-US" sz="1800" kern="12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 </a:t>
          </a:r>
          <a:r>
            <a:rPr lang="en-US" altLang="zh-TW" sz="1800" kern="12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Optimizer</a:t>
          </a:r>
          <a:r>
            <a:rPr lang="zh-TW" altLang="en-US" sz="1800" kern="12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求解</a:t>
          </a:r>
        </a:p>
      </dsp:txBody>
      <dsp:txXfrm>
        <a:off x="6670749" y="2530683"/>
        <a:ext cx="1142449" cy="1486569"/>
      </dsp:txXfrm>
    </dsp:sp>
    <dsp:sp modelId="{6DE9FEE6-BC69-4F2D-B20C-080A54A4199F}">
      <dsp:nvSpPr>
        <dsp:cNvPr id="0" name=""/>
        <dsp:cNvSpPr/>
      </dsp:nvSpPr>
      <dsp:spPr>
        <a:xfrm rot="19934438">
          <a:off x="7925563" y="2739629"/>
          <a:ext cx="213473" cy="23672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1000" kern="1200" baseline="0">
            <a:latin typeface="Times New Roman" panose="02020603050405020304" pitchFamily="18" charset="0"/>
            <a:ea typeface="標楷體" panose="03000509000000000000" pitchFamily="65" charset="-120"/>
          </a:endParaRPr>
        </a:p>
      </dsp:txBody>
      <dsp:txXfrm>
        <a:off x="7929248" y="2801888"/>
        <a:ext cx="149431" cy="142037"/>
      </dsp:txXfrm>
    </dsp:sp>
    <dsp:sp modelId="{84D70440-C93B-4A23-9A20-E4B0FC22B0B8}">
      <dsp:nvSpPr>
        <dsp:cNvPr id="0" name=""/>
        <dsp:cNvSpPr/>
      </dsp:nvSpPr>
      <dsp:spPr>
        <a:xfrm>
          <a:off x="8205166" y="1700029"/>
          <a:ext cx="1033059" cy="1590223"/>
        </a:xfrm>
        <a:prstGeom prst="roundRect">
          <a:avLst>
            <a:gd name="adj" fmla="val 10000"/>
          </a:avLst>
        </a:prstGeom>
        <a:solidFill>
          <a:schemeClr val="lt1"/>
        </a:solidFill>
        <a:ln w="19050" cap="rnd" cmpd="sng" algn="ctr">
          <a:solidFill>
            <a:schemeClr val="accent2"/>
          </a:solidFill>
          <a:prstDash val="solid"/>
        </a:ln>
        <a:effectLst/>
      </dsp:spPr>
      <dsp:style>
        <a:lnRef idx="2">
          <a:schemeClr val="accent2"/>
        </a:lnRef>
        <a:fillRef idx="1">
          <a:schemeClr val="lt1"/>
        </a:fillRef>
        <a:effectRef idx="0">
          <a:schemeClr val="accent2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800" kern="12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將數學解轉換為排程結果匯入</a:t>
          </a:r>
          <a:r>
            <a:rPr lang="en-US" altLang="zh-TW" sz="1800" kern="1200" baseline="0" dirty="0">
              <a:latin typeface="Times New Roman" panose="02020603050405020304" pitchFamily="18" charset="0"/>
              <a:ea typeface="標楷體" panose="03000509000000000000" pitchFamily="65" charset="-120"/>
            </a:rPr>
            <a:t>excel</a:t>
          </a:r>
          <a:endParaRPr lang="zh-TW" altLang="en-US" sz="1800" kern="1200" baseline="0" dirty="0">
            <a:latin typeface="Times New Roman" panose="02020603050405020304" pitchFamily="18" charset="0"/>
            <a:ea typeface="標楷體" panose="03000509000000000000" pitchFamily="65" charset="-120"/>
          </a:endParaRPr>
        </a:p>
      </dsp:txBody>
      <dsp:txXfrm>
        <a:off x="8235423" y="1730286"/>
        <a:ext cx="972545" cy="152970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0A7344-AE1B-4DC0-B095-B0BB4189656C}" type="datetimeFigureOut">
              <a:rPr kumimoji="1" lang="ja-JP" altLang="en-US" smtClean="0"/>
              <a:t>2025/12/17</a:t>
            </a:fld>
            <a:endParaRPr kumimoji="1" lang="ja-JP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TW" altLang="en-US"/>
              <a:t>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  <a:endParaRPr kumimoji="1" lang="ja-JP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613C80-8143-4612-B2F8-1BFD66313B2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342205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613C80-8143-4612-B2F8-1BFD66313B20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290303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613C80-8143-4612-B2F8-1BFD66313B20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758469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613C80-8143-4612-B2F8-1BFD66313B20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11905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613C80-8143-4612-B2F8-1BFD66313B20}" type="slidenum">
              <a:rPr kumimoji="1" lang="ja-JP" altLang="en-US" smtClean="0"/>
              <a:t>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343537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613C80-8143-4612-B2F8-1BFD66313B20}" type="slidenum">
              <a:rPr kumimoji="1" lang="ja-JP" altLang="en-US" smtClean="0"/>
              <a:t>10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052923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613C80-8143-4612-B2F8-1BFD66313B20}" type="slidenum">
              <a:rPr kumimoji="1" lang="ja-JP" altLang="en-US" smtClean="0"/>
              <a:t>12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775625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052E68-FF46-1B81-16F3-1EFABBD4A9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81C56E60-CA35-4805-1C94-13C0153BDA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C4D77F4F-9AA4-B36F-6C23-6C37D50422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加表格 兩張圖合在一起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BE90786-AF1A-C340-9D0F-AEADD1A267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613C80-8143-4612-B2F8-1BFD66313B20}" type="slidenum">
              <a:rPr kumimoji="1" lang="ja-JP" altLang="en-US" smtClean="0"/>
              <a:t>13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313229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4F7C3B-E44E-7F78-E01C-DC3196AB2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E48CA001-F75F-9DFF-EFB5-CDD1929B63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2EC400ED-1562-6E99-0751-52EFE53F86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BC99A2F-452A-2E43-9EBB-0FA415AB5D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613C80-8143-4612-B2F8-1BFD66313B20}" type="slidenum">
              <a:rPr kumimoji="1" lang="ja-JP" altLang="en-US" smtClean="0"/>
              <a:t>14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622132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折線圖</a:t>
            </a:r>
            <a:r>
              <a:rPr lang="en-US" altLang="zh-TW" dirty="0"/>
              <a:t>(</a:t>
            </a:r>
            <a:r>
              <a:rPr lang="zh-TW" altLang="en-US" dirty="0"/>
              <a:t>選差異大的</a:t>
            </a:r>
            <a:r>
              <a:rPr lang="en-US" altLang="zh-TW" dirty="0"/>
              <a:t>)</a:t>
            </a:r>
            <a:r>
              <a:rPr lang="zh-TW" altLang="en-US" dirty="0"/>
              <a:t> </a:t>
            </a:r>
            <a:r>
              <a:rPr lang="en-US" altLang="zh-TW" dirty="0"/>
              <a:t>and </a:t>
            </a:r>
            <a:r>
              <a:rPr lang="zh-TW" altLang="en-US" dirty="0"/>
              <a:t>表格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613C80-8143-4612-B2F8-1BFD66313B20}" type="slidenum">
              <a:rPr kumimoji="1" lang="ja-JP" altLang="en-US" smtClean="0"/>
              <a:t>15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2951419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613C80-8143-4612-B2F8-1BFD66313B20}" type="slidenum">
              <a:rPr kumimoji="1" lang="ja-JP" altLang="en-US" smtClean="0"/>
              <a:t>16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212479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613C80-8143-4612-B2F8-1BFD66313B20}" type="slidenum">
              <a:rPr kumimoji="1" lang="ja-JP" altLang="en-US" smtClean="0"/>
              <a:t>17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035520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613C80-8143-4612-B2F8-1BFD66313B20}" type="slidenum">
              <a:rPr kumimoji="1" lang="ja-JP" altLang="en-US" smtClean="0"/>
              <a:t>18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794665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TW" altLang="en-US"/>
            </a:p>
          </p:txBody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TW" altLang="en-US"/>
            </a:p>
          </p:txBody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TW" altLang="en-US"/>
            </a:p>
          </p:txBody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TW" altLang="en-US"/>
            </a:p>
          </p:txBody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TW" altLang="en-US"/>
            </a:p>
          </p:txBody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TW" altLang="en-US"/>
            </a:p>
          </p:txBody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TW" altLang="en-US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TW" alt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CE343-DEB8-42D3-AF4C-8758686CB5C1}" type="datetimeFigureOut">
              <a:rPr kumimoji="1" lang="ja-JP" altLang="en-US" smtClean="0"/>
              <a:t>2025/12/17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94B17-96D2-4D3F-9435-176BF56DF93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289585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CE343-DEB8-42D3-AF4C-8758686CB5C1}" type="datetimeFigureOut">
              <a:rPr kumimoji="1" lang="ja-JP" altLang="en-US" smtClean="0"/>
              <a:t>2025/12/17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94B17-96D2-4D3F-9435-176BF56DF93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367567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CE343-DEB8-42D3-AF4C-8758686CB5C1}" type="datetimeFigureOut">
              <a:rPr kumimoji="1" lang="ja-JP" altLang="en-US" smtClean="0"/>
              <a:t>2025/12/17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94B17-96D2-4D3F-9435-176BF56DF93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354557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CE343-DEB8-42D3-AF4C-8758686CB5C1}" type="datetimeFigureOut">
              <a:rPr kumimoji="1" lang="ja-JP" altLang="en-US" smtClean="0"/>
              <a:t>2025/12/17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94B17-96D2-4D3F-9435-176BF56DF93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0227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CE343-DEB8-42D3-AF4C-8758686CB5C1}" type="datetimeFigureOut">
              <a:rPr kumimoji="1" lang="ja-JP" altLang="en-US" smtClean="0"/>
              <a:t>2025/12/17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94B17-96D2-4D3F-9435-176BF56DF93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47868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CE343-DEB8-42D3-AF4C-8758686CB5C1}" type="datetimeFigureOut">
              <a:rPr kumimoji="1" lang="ja-JP" altLang="en-US" smtClean="0"/>
              <a:t>2025/12/17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94B17-96D2-4D3F-9435-176BF56DF93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961890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CE343-DEB8-42D3-AF4C-8758686CB5C1}" type="datetimeFigureOut">
              <a:rPr kumimoji="1" lang="ja-JP" altLang="en-US" smtClean="0"/>
              <a:t>2025/12/17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94B17-96D2-4D3F-9435-176BF56DF93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082239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CE343-DEB8-42D3-AF4C-8758686CB5C1}" type="datetimeFigureOut">
              <a:rPr kumimoji="1" lang="ja-JP" altLang="en-US" smtClean="0"/>
              <a:t>2025/12/17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94B17-96D2-4D3F-9435-176BF56DF93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466279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94B17-96D2-4D3F-9435-176BF56DF93A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CE343-DEB8-42D3-AF4C-8758686CB5C1}" type="datetimeFigureOut">
              <a:rPr kumimoji="1" lang="ja-JP" altLang="en-US" smtClean="0"/>
              <a:t>2025/12/17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491024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與輔助字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CE343-DEB8-42D3-AF4C-8758686CB5C1}" type="datetimeFigureOut">
              <a:rPr kumimoji="1" lang="ja-JP" altLang="en-US" smtClean="0"/>
              <a:t>2025/12/17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94B17-96D2-4D3F-9435-176BF56DF93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42677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 (含輔助字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CE343-DEB8-42D3-AF4C-8758686CB5C1}" type="datetimeFigureOut">
              <a:rPr kumimoji="1" lang="ja-JP" altLang="en-US" smtClean="0"/>
              <a:t>2025/12/17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94B17-96D2-4D3F-9435-176BF56DF93A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153337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CE343-DEB8-42D3-AF4C-8758686CB5C1}" type="datetimeFigureOut">
              <a:rPr kumimoji="1" lang="ja-JP" altLang="en-US" smtClean="0"/>
              <a:t>2025/12/17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94B17-96D2-4D3F-9435-176BF56DF93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228523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CE343-DEB8-42D3-AF4C-8758686CB5C1}" type="datetimeFigureOut">
              <a:rPr kumimoji="1" lang="ja-JP" altLang="en-US" smtClean="0"/>
              <a:t>2025/12/17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94B17-96D2-4D3F-9435-176BF56DF93A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3957487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是非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CE343-DEB8-42D3-AF4C-8758686CB5C1}" type="datetimeFigureOut">
              <a:rPr kumimoji="1" lang="ja-JP" altLang="en-US" smtClean="0"/>
              <a:t>2025/12/17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94B17-96D2-4D3F-9435-176BF56DF93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512422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CE343-DEB8-42D3-AF4C-8758686CB5C1}" type="datetimeFigureOut">
              <a:rPr kumimoji="1" lang="ja-JP" altLang="en-US" smtClean="0"/>
              <a:t>2025/12/17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94B17-96D2-4D3F-9435-176BF56DF93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4085685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CE343-DEB8-42D3-AF4C-8758686CB5C1}" type="datetimeFigureOut">
              <a:rPr kumimoji="1" lang="ja-JP" altLang="en-US" smtClean="0"/>
              <a:t>2025/12/17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94B17-96D2-4D3F-9435-176BF56DF93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162654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TW" altLang="en-US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TW" altLang="en-US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TW" altLang="en-US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TW" altLang="en-US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TW" altLang="en-US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TW" altLang="en-US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TW" altLang="en-US"/>
            </a:p>
          </p:txBody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TW" alt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ACE343-DEB8-42D3-AF4C-8758686CB5C1}" type="datetimeFigureOut">
              <a:rPr kumimoji="1" lang="ja-JP" altLang="en-US" smtClean="0"/>
              <a:t>2025/12/17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75F94B17-96D2-4D3F-9435-176BF56DF93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775010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F_C9151A73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4.xml"/><Relationship Id="rId3" Type="http://schemas.openxmlformats.org/officeDocument/2006/relationships/diagramLayout" Target="../diagrams/layout3.xml"/><Relationship Id="rId7" Type="http://schemas.openxmlformats.org/officeDocument/2006/relationships/diagramData" Target="../diagrams/data4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11" Type="http://schemas.microsoft.com/office/2007/relationships/diagramDrawing" Target="../diagrams/drawing4.xml"/><Relationship Id="rId5" Type="http://schemas.openxmlformats.org/officeDocument/2006/relationships/diagramColors" Target="../diagrams/colors3.xml"/><Relationship Id="rId10" Type="http://schemas.openxmlformats.org/officeDocument/2006/relationships/diagramColors" Target="../diagrams/colors4.xml"/><Relationship Id="rId4" Type="http://schemas.openxmlformats.org/officeDocument/2006/relationships/diagramQuickStyle" Target="../diagrams/quickStyle3.xml"/><Relationship Id="rId9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6.xml"/><Relationship Id="rId3" Type="http://schemas.openxmlformats.org/officeDocument/2006/relationships/diagramLayout" Target="../diagrams/layout5.xml"/><Relationship Id="rId7" Type="http://schemas.openxmlformats.org/officeDocument/2006/relationships/diagramData" Target="../diagrams/data6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11" Type="http://schemas.microsoft.com/office/2007/relationships/diagramDrawing" Target="../diagrams/drawing6.xml"/><Relationship Id="rId5" Type="http://schemas.openxmlformats.org/officeDocument/2006/relationships/diagramColors" Target="../diagrams/colors5.xml"/><Relationship Id="rId10" Type="http://schemas.openxmlformats.org/officeDocument/2006/relationships/diagramColors" Target="../diagrams/colors6.xml"/><Relationship Id="rId4" Type="http://schemas.openxmlformats.org/officeDocument/2006/relationships/diagramQuickStyle" Target="../diagrams/quickStyle5.xml"/><Relationship Id="rId9" Type="http://schemas.openxmlformats.org/officeDocument/2006/relationships/diagramQuickStyle" Target="../diagrams/quickStyle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6416359-C7FC-4ABB-63C3-6A5BFE03F8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639445"/>
            <a:ext cx="10515599" cy="146050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zh-TW" altLang="en-US" sz="3200" b="1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第十組</a:t>
            </a:r>
            <a:r>
              <a:rPr lang="en-US" altLang="zh-TW" sz="3200" b="1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-</a:t>
            </a:r>
            <a:r>
              <a:rPr lang="zh-TW" altLang="en-US" sz="3200" b="1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衛星任務排程最佳化：</a:t>
            </a:r>
            <a:br>
              <a:rPr lang="en-US" altLang="zh-TW" sz="3200" b="1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</a:br>
            <a:r>
              <a:rPr lang="zh-TW" altLang="en-US" sz="3200" b="1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混合整數線性規劃與限制式規劃之研究</a:t>
            </a: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9DDD5C23-1647-D32E-2398-C5B3A24C28EE}"/>
              </a:ext>
            </a:extLst>
          </p:cNvPr>
          <p:cNvSpPr txBox="1">
            <a:spLocks/>
          </p:cNvSpPr>
          <p:nvPr/>
        </p:nvSpPr>
        <p:spPr>
          <a:xfrm>
            <a:off x="838199" y="3429000"/>
            <a:ext cx="10515600" cy="38051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111034043  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蔡坤憲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111034017  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黃冠捷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111034010  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羅彥凱</a:t>
            </a:r>
          </a:p>
        </p:txBody>
      </p:sp>
    </p:spTree>
    <p:extLst>
      <p:ext uri="{BB962C8B-B14F-4D97-AF65-F5344CB8AC3E}">
        <p14:creationId xmlns:p14="http://schemas.microsoft.com/office/powerpoint/2010/main" val="337360344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1A4E70FF-0997-9C45-B97A-675B746DCE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1518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defTabSz="457200"/>
            <a:r>
              <a:rPr lang="en-US" altLang="zh-TW" sz="3600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1. </a:t>
            </a:r>
            <a:r>
              <a:rPr lang="zh-TW" altLang="en-US" sz="3600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問題背景與挑戰</a:t>
            </a:r>
            <a:endParaRPr lang="ja-JP" altLang="en-US" sz="3600" b="1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952FF9C-6F8E-F16A-51A2-4FC96EADF6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9393"/>
            <a:ext cx="10515600" cy="4351338"/>
          </a:xfrm>
        </p:spPr>
        <p:txBody>
          <a:bodyPr/>
          <a:lstStyle/>
          <a:p>
            <a:r>
              <a:rPr lang="zh-TW" altLang="en-US" sz="2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衛星系統描述</a:t>
            </a:r>
            <a:r>
              <a:rPr lang="en-US" altLang="zh-TW" sz="2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:</a:t>
            </a:r>
            <a:endParaRPr lang="en-US" altLang="zh-TW" sz="2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1"/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遙感衛星執行觀測任務，涉及一系列相互依賴的任務</a:t>
            </a:r>
            <a:endParaRPr lang="en-US" altLang="zh-TW" sz="2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6325D3AB-C647-E454-4D6A-DBD28543D8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2313292"/>
              </p:ext>
            </p:extLst>
          </p:nvPr>
        </p:nvGraphicFramePr>
        <p:xfrm>
          <a:off x="838200" y="2388042"/>
          <a:ext cx="8156331" cy="41376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7486">
                  <a:extLst>
                    <a:ext uri="{9D8B030D-6E8A-4147-A177-3AD203B41FA5}">
                      <a16:colId xmlns:a16="http://schemas.microsoft.com/office/drawing/2014/main" val="740771790"/>
                    </a:ext>
                  </a:extLst>
                </a:gridCol>
                <a:gridCol w="6158845">
                  <a:extLst>
                    <a:ext uri="{9D8B030D-6E8A-4147-A177-3AD203B41FA5}">
                      <a16:colId xmlns:a16="http://schemas.microsoft.com/office/drawing/2014/main" val="1000314025"/>
                    </a:ext>
                  </a:extLst>
                </a:gridCol>
              </a:tblGrid>
              <a:tr h="363252">
                <a:tc>
                  <a:txBody>
                    <a:bodyPr/>
                    <a:lstStyle/>
                    <a:p>
                      <a:pPr algn="ctr"/>
                      <a:r>
                        <a:rPr kumimoji="1" lang="zh-TW" altLang="en-US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任務種類</a:t>
                      </a:r>
                      <a:endParaRPr kumimoji="1" lang="ja-JP" altLang="en-US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zh-TW" altLang="en-US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任務功能</a:t>
                      </a:r>
                      <a:endParaRPr kumimoji="1" lang="ja-JP" altLang="en-US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3684957"/>
                  </a:ext>
                </a:extLst>
              </a:tr>
              <a:tr h="363252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b="1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Track</a:t>
                      </a:r>
                      <a:endParaRPr kumimoji="1" lang="ja-JP" altLang="en-US" b="1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zh-TW" altLang="en-US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監控衛星狀態。</a:t>
                      </a:r>
                      <a:endParaRPr kumimoji="1" lang="en-US" altLang="zh-TW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509352"/>
                  </a:ext>
                </a:extLst>
              </a:tr>
              <a:tr h="945969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b="1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Shoot</a:t>
                      </a:r>
                      <a:endParaRPr kumimoji="1" lang="ja-JP" altLang="en-US" b="1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kumimoji="1" lang="zh-TW" altLang="en-US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拍攝影像。</a:t>
                      </a:r>
                      <a:endParaRPr kumimoji="1" lang="en-US" altLang="zh-TW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kumimoji="1" lang="zh-TW" altLang="en-US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每個</a:t>
                      </a:r>
                      <a:r>
                        <a:rPr kumimoji="1" lang="en-US" altLang="zh-TW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Shoot</a:t>
                      </a:r>
                      <a:r>
                        <a:rPr kumimoji="1" lang="zh-TW" altLang="en-US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所拍攝的影像數量不同，會依照拍了幾張影像而有幾個</a:t>
                      </a:r>
                      <a:r>
                        <a:rPr kumimoji="1" lang="en-US" altLang="zh-TW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Download</a:t>
                      </a:r>
                      <a:r>
                        <a:rPr kumimoji="1" lang="zh-TW" altLang="en-US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任務。</a:t>
                      </a:r>
                      <a:endParaRPr kumimoji="1" lang="ja-JP" altLang="en-US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9042809"/>
                  </a:ext>
                </a:extLst>
              </a:tr>
              <a:tr h="363252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b="1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Download</a:t>
                      </a:r>
                      <a:endParaRPr kumimoji="1" lang="ja-JP" altLang="en-US" b="1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zh-TW" altLang="en-US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下載影像。</a:t>
                      </a:r>
                      <a:endParaRPr kumimoji="1" lang="ja-JP" altLang="en-US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33211"/>
                  </a:ext>
                </a:extLst>
              </a:tr>
              <a:tr h="67353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b="1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Remove</a:t>
                      </a:r>
                      <a:endParaRPr kumimoji="1" lang="ja-JP" altLang="en-US" b="1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kumimoji="1" lang="zh-TW" altLang="en-US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移除影像。</a:t>
                      </a:r>
                      <a:endParaRPr kumimoji="1" lang="en-US" altLang="zh-TW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kumimoji="1" lang="zh-TW" altLang="en-US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一個</a:t>
                      </a:r>
                      <a:r>
                        <a:rPr kumimoji="1" lang="en-US" altLang="zh-TW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Shoot</a:t>
                      </a:r>
                      <a:r>
                        <a:rPr kumimoji="1" lang="zh-TW" altLang="en-US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會對應一個</a:t>
                      </a:r>
                      <a:r>
                        <a:rPr kumimoji="1" lang="en-US" altLang="zh-TW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Remove</a:t>
                      </a:r>
                      <a:r>
                        <a:rPr kumimoji="1" lang="zh-TW" altLang="en-US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。</a:t>
                      </a:r>
                      <a:endParaRPr kumimoji="1" lang="en-US" altLang="zh-TW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4031055"/>
                  </a:ext>
                </a:extLst>
              </a:tr>
              <a:tr h="363252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b="1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T maneuver</a:t>
                      </a:r>
                      <a:endParaRPr kumimoji="1" lang="ja-JP" altLang="en-US" b="1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zh-TW" altLang="en-US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轉動衛星至欲拍攝角度。</a:t>
                      </a:r>
                      <a:endParaRPr kumimoji="1" lang="en-US" altLang="zh-TW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4369903"/>
                  </a:ext>
                </a:extLst>
              </a:tr>
              <a:tr h="363252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b="1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 maneuver</a:t>
                      </a:r>
                      <a:endParaRPr kumimoji="1" lang="ja-JP" altLang="en-US" b="1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zh-TW" altLang="en-US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轉動衛星至欲下載角度。</a:t>
                      </a:r>
                      <a:endParaRPr kumimoji="1" lang="ja-JP" altLang="en-US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5214437"/>
                  </a:ext>
                </a:extLst>
              </a:tr>
              <a:tr h="67353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b="1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H maneuver</a:t>
                      </a:r>
                      <a:endParaRPr kumimoji="1" lang="ja-JP" altLang="en-US" b="1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kumimoji="1" lang="zh-TW" altLang="en-US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轉動衛星角度指向太陽。</a:t>
                      </a:r>
                      <a:endParaRPr kumimoji="1" lang="en-US" altLang="zh-TW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kumimoji="1" lang="zh-TW" altLang="en-US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會分為有指定</a:t>
                      </a:r>
                      <a:r>
                        <a:rPr kumimoji="1" lang="en-US" altLang="zh-TW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Contact ID</a:t>
                      </a:r>
                      <a:r>
                        <a:rPr kumimoji="1" lang="zh-TW" altLang="en-US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和沒有指定</a:t>
                      </a:r>
                      <a:r>
                        <a:rPr kumimoji="1" lang="en-US" altLang="zh-TW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Contact ID</a:t>
                      </a:r>
                      <a:r>
                        <a:rPr kumimoji="1" lang="zh-TW" altLang="en-US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。</a:t>
                      </a:r>
                      <a:endParaRPr kumimoji="1" lang="en-US" altLang="zh-TW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5544490"/>
                  </a:ext>
                </a:extLst>
              </a:tr>
            </a:tbl>
          </a:graphicData>
        </a:graphic>
      </p:graphicFrame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0DCE37D0-7748-5684-E311-7A31A8EEEB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1421627"/>
              </p:ext>
            </p:extLst>
          </p:nvPr>
        </p:nvGraphicFramePr>
        <p:xfrm>
          <a:off x="10636899" y="0"/>
          <a:ext cx="1555100" cy="685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5100">
                  <a:extLst>
                    <a:ext uri="{9D8B030D-6E8A-4147-A177-3AD203B41FA5}">
                      <a16:colId xmlns:a16="http://schemas.microsoft.com/office/drawing/2014/main" val="1048587396"/>
                    </a:ext>
                  </a:extLst>
                </a:gridCol>
              </a:tblGrid>
              <a:tr h="137160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zh-TW" b="1" dirty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/>
                        </a:rPr>
                        <a:t>問題背景與</a:t>
                      </a:r>
                      <a:endParaRPr lang="en-US" altLang="zh-TW" b="1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/>
                      </a:endParaRP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zh-TW" b="1" dirty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/>
                        </a:rPr>
                        <a:t>挑戰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491059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zh-TW" sz="1800" b="1" kern="1200" dirty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/>
                          <a:cs typeface="+mn-cs"/>
                        </a:rPr>
                        <a:t>模型一</a:t>
                      </a:r>
                      <a:r>
                        <a:rPr lang="zh-TW" altLang="en-US" b="1" dirty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/>
                        </a:rPr>
                        <a:t>：</a:t>
                      </a:r>
                      <a:endParaRPr lang="en-US" altLang="zh-TW" sz="1800" b="1" kern="1200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/>
                        <a:cs typeface="+mn-cs"/>
                      </a:endParaRP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/>
                          <a:cs typeface="Times New Roman" panose="02020603050405020304" pitchFamily="18" charset="0"/>
                        </a:rPr>
                        <a:t>MILP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6077213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pPr lvl="0" algn="ctr"/>
                      <a:r>
                        <a:rPr lang="zh-TW" altLang="zh-TW" b="1" dirty="0">
                          <a:solidFill>
                            <a:schemeClr val="tx1"/>
                          </a:solidFill>
                          <a:latin typeface="Times New Roman"/>
                          <a:ea typeface="標楷體"/>
                          <a:cs typeface="Times New Roman"/>
                        </a:rPr>
                        <a:t>模型二</a:t>
                      </a:r>
                      <a:r>
                        <a:rPr lang="zh-TW" altLang="en-US" b="1" dirty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/>
                        </a:rPr>
                        <a:t>：</a:t>
                      </a:r>
                      <a:endParaRPr lang="en-US" altLang="zh-TW" b="1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/>
                        <a:cs typeface="+mn-cs"/>
                      </a:endParaRPr>
                    </a:p>
                    <a:p>
                      <a:pPr lvl="0"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/>
                          <a:ea typeface="標楷體"/>
                          <a:cs typeface="Times New Roman"/>
                        </a:rPr>
                        <a:t>CP</a:t>
                      </a:r>
                      <a:r>
                        <a:rPr lang="zh-TW" altLang="zh-TW" b="1" dirty="0">
                          <a:solidFill>
                            <a:schemeClr val="tx1"/>
                          </a:solidFill>
                          <a:latin typeface="Times New Roman"/>
                          <a:ea typeface="標楷體"/>
                          <a:cs typeface="Times New Roman"/>
                        </a:rPr>
                        <a:t> </a:t>
                      </a:r>
                      <a:r>
                        <a:rPr lang="en-US" altLang="zh-TW" b="1" baseline="0" dirty="0">
                          <a:solidFill>
                            <a:schemeClr val="tx1"/>
                          </a:solidFill>
                          <a:latin typeface="Times New Roman"/>
                          <a:ea typeface="標楷體"/>
                          <a:cs typeface="Times New Roman"/>
                        </a:rPr>
                        <a:t>optimizer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6202349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pPr lvl="0" algn="ctr"/>
                      <a:r>
                        <a:rPr lang="zh-TW" altLang="zh-TW" b="1" dirty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/>
                        </a:rPr>
                        <a:t>結果</a:t>
                      </a:r>
                      <a:r>
                        <a:rPr lang="zh-TW" altLang="en-US" b="1" dirty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/>
                        </a:rPr>
                        <a:t>：</a:t>
                      </a:r>
                      <a:endParaRPr lang="en-US" altLang="zh-TW" b="1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/>
                      </a:endParaRPr>
                    </a:p>
                    <a:p>
                      <a:pPr lvl="0" algn="ctr"/>
                      <a:r>
                        <a:rPr lang="zh-TW" altLang="zh-TW" b="1" dirty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模型</a:t>
                      </a:r>
                      <a:r>
                        <a:rPr lang="zh-TW" altLang="en-US" b="1" dirty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求解</a:t>
                      </a:r>
                      <a:r>
                        <a:rPr lang="zh-TW" altLang="zh-TW" b="1" dirty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比較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6817788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zh-TW" sz="1800" b="1" kern="1200" dirty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/>
                          <a:cs typeface="+mn-cs"/>
                        </a:rPr>
                        <a:t>實務建議與</a:t>
                      </a:r>
                      <a:endParaRPr lang="en-US" altLang="zh-TW" sz="1800" b="1" kern="1200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/>
                        <a:cs typeface="+mn-cs"/>
                      </a:endParaRP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zh-TW" sz="1800" b="1" kern="1200" dirty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/>
                          <a:cs typeface="+mn-cs"/>
                        </a:rPr>
                        <a:t>未來展望</a:t>
                      </a:r>
                      <a:endParaRPr lang="zh-TW" altLang="en-US" sz="1800" b="1" kern="1200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/>
                        <a:cs typeface="+mn-cs"/>
                      </a:endParaRP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12592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55009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1">
            <a:extLst>
              <a:ext uri="{FF2B5EF4-FFF2-40B4-BE49-F238E27FC236}">
                <a16:creationId xmlns:a16="http://schemas.microsoft.com/office/drawing/2014/main" id="{43B689A1-0C26-1853-2BEC-DA79E7BA381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1518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defTabSz="457200"/>
            <a:r>
              <a:rPr lang="en-US" altLang="zh-TW" sz="3600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1. </a:t>
            </a:r>
            <a:r>
              <a:rPr lang="zh-TW" altLang="en-US" sz="3600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問題背景與挑戰</a:t>
            </a:r>
            <a:endParaRPr lang="ja-JP" altLang="en-US" sz="3600" b="1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75C6AFD-74C6-0D90-56A8-F516E62DD2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40748"/>
            <a:ext cx="9563946" cy="4400614"/>
          </a:xfrm>
        </p:spPr>
        <p:txBody>
          <a:bodyPr>
            <a:normAutofit fontScale="92500" lnSpcReduction="20000"/>
          </a:bodyPr>
          <a:lstStyle/>
          <a:p>
            <a:r>
              <a:rPr lang="zh-TW" altLang="en-US" sz="2600" dirty="0">
                <a:latin typeface="Times New Roman" panose="02020603050405020304" pitchFamily="18" charset="0"/>
                <a:ea typeface="標楷體" panose="03000509000000000000" pitchFamily="65" charset="-120"/>
              </a:rPr>
              <a:t>資源約束</a:t>
            </a:r>
            <a:r>
              <a:rPr lang="en-US" altLang="zh-TW" sz="2600" dirty="0">
                <a:latin typeface="Times New Roman" panose="02020603050405020304" pitchFamily="18" charset="0"/>
                <a:ea typeface="標楷體" panose="03000509000000000000" pitchFamily="65" charset="-120"/>
              </a:rPr>
              <a:t>:</a:t>
            </a:r>
          </a:p>
          <a:p>
            <a:pPr lvl="1"/>
            <a:r>
              <a:rPr lang="zh-TW" altLang="en-US" sz="2200" dirty="0">
                <a:latin typeface="Times New Roman" panose="02020603050405020304" pitchFamily="18" charset="0"/>
                <a:ea typeface="標楷體" panose="03000509000000000000" pitchFamily="65" charset="-120"/>
              </a:rPr>
              <a:t>有限的資源：記憶體、檔案名稱容量等，任務會競爭這些資源</a:t>
            </a:r>
            <a:endParaRPr lang="en-US" altLang="zh-TW" sz="22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457200" lvl="1" indent="0">
              <a:buNone/>
            </a:pP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r>
              <a:rPr lang="zh-TW" altLang="en-US" sz="2600" dirty="0">
                <a:latin typeface="Times New Roman" panose="02020603050405020304" pitchFamily="18" charset="0"/>
                <a:ea typeface="標楷體" panose="03000509000000000000" pitchFamily="65" charset="-120"/>
              </a:rPr>
              <a:t>任務執行限制：</a:t>
            </a:r>
            <a:endParaRPr lang="en-US" altLang="zh-TW" sz="26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lvl="1"/>
            <a:r>
              <a:rPr lang="zh-TW" altLang="en-US" sz="2200" dirty="0">
                <a:latin typeface="Times New Roman" panose="02020603050405020304" pitchFamily="18" charset="0"/>
                <a:ea typeface="標楷體" panose="03000509000000000000" pitchFamily="65" charset="-120"/>
              </a:rPr>
              <a:t>任務不重疊 </a:t>
            </a:r>
            <a:endParaRPr lang="en-US" altLang="zh-TW" sz="22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lvl="1"/>
            <a:r>
              <a:rPr lang="zh-TW" altLang="en-US" sz="2200" dirty="0">
                <a:latin typeface="Times New Roman" panose="02020603050405020304" pitchFamily="18" charset="0"/>
                <a:ea typeface="標楷體" panose="03000509000000000000" pitchFamily="65" charset="-120"/>
              </a:rPr>
              <a:t>同組任務綁定</a:t>
            </a:r>
            <a:r>
              <a:rPr lang="en-US" altLang="zh-TW" sz="2200" dirty="0">
                <a:latin typeface="Times New Roman" panose="02020603050405020304" pitchFamily="18" charset="0"/>
                <a:ea typeface="標楷體" panose="03000509000000000000" pitchFamily="65" charset="-120"/>
              </a:rPr>
              <a:t>(e.g. Shoot-Download-Remove)</a:t>
            </a:r>
          </a:p>
          <a:p>
            <a:pPr lvl="1"/>
            <a:r>
              <a:rPr lang="zh-TW" altLang="en-US" sz="2200" dirty="0">
                <a:latin typeface="Times New Roman" panose="02020603050405020304" pitchFamily="18" charset="0"/>
                <a:ea typeface="標楷體" panose="03000509000000000000" pitchFamily="65" charset="-120"/>
              </a:rPr>
              <a:t>地面站接觸時間 </a:t>
            </a:r>
            <a:r>
              <a:rPr lang="en-US" altLang="zh-TW" sz="2200" dirty="0">
                <a:latin typeface="Times New Roman" panose="02020603050405020304" pitchFamily="18" charset="0"/>
                <a:ea typeface="標楷體" panose="03000509000000000000" pitchFamily="65" charset="-120"/>
              </a:rPr>
              <a:t>(contact time window) </a:t>
            </a:r>
          </a:p>
          <a:p>
            <a:pPr lvl="1"/>
            <a:r>
              <a:rPr lang="zh-TW" altLang="en-US" sz="2200" dirty="0">
                <a:latin typeface="Times New Roman" panose="02020603050405020304" pitchFamily="18" charset="0"/>
                <a:ea typeface="標楷體" panose="03000509000000000000" pitchFamily="65" charset="-120"/>
              </a:rPr>
              <a:t>任務日蝕週期限制 </a:t>
            </a:r>
            <a:r>
              <a:rPr lang="en-US" altLang="zh-TW" sz="2200" dirty="0">
                <a:latin typeface="Times New Roman" panose="02020603050405020304" pitchFamily="18" charset="0"/>
                <a:ea typeface="標楷體" panose="03000509000000000000" pitchFamily="65" charset="-120"/>
              </a:rPr>
              <a:t>(Duty Cycle Limits)</a:t>
            </a:r>
          </a:p>
          <a:p>
            <a:pPr lvl="1"/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r>
              <a:rPr lang="zh-TW" altLang="en-US" sz="2600" dirty="0">
                <a:latin typeface="Times New Roman" panose="02020603050405020304" pitchFamily="18" charset="0"/>
                <a:ea typeface="標楷體" panose="03000509000000000000" pitchFamily="65" charset="-120"/>
              </a:rPr>
              <a:t>核心目標</a:t>
            </a:r>
            <a:r>
              <a:rPr lang="en-US" altLang="zh-TW" sz="2600" dirty="0">
                <a:latin typeface="Times New Roman" panose="02020603050405020304" pitchFamily="18" charset="0"/>
                <a:ea typeface="標楷體" panose="03000509000000000000" pitchFamily="65" charset="-120"/>
              </a:rPr>
              <a:t>:</a:t>
            </a:r>
          </a:p>
          <a:p>
            <a:pPr lvl="1"/>
            <a:r>
              <a:rPr lang="zh-TW" altLang="en-US" sz="2200" dirty="0">
                <a:latin typeface="Times New Roman" panose="02020603050405020304" pitchFamily="18" charset="0"/>
                <a:ea typeface="標楷體" panose="03000509000000000000" pitchFamily="65" charset="-120"/>
              </a:rPr>
              <a:t>最大化能夠執行的任務總數且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任務完成時程更前更緊湊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E1FAD83-ED1F-C477-A1E2-79AB408943C0}"/>
              </a:ext>
            </a:extLst>
          </p:cNvPr>
          <p:cNvSpPr/>
          <p:nvPr/>
        </p:nvSpPr>
        <p:spPr>
          <a:xfrm>
            <a:off x="3564467" y="2725979"/>
            <a:ext cx="817033" cy="233669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Shoot</a:t>
            </a:r>
            <a:endParaRPr lang="zh-TW" altLang="en-US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E597604-0649-9138-C4EC-46D6B939CC26}"/>
              </a:ext>
            </a:extLst>
          </p:cNvPr>
          <p:cNvSpPr/>
          <p:nvPr/>
        </p:nvSpPr>
        <p:spPr>
          <a:xfrm>
            <a:off x="5752250" y="2732642"/>
            <a:ext cx="1224000" cy="233669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Download</a:t>
            </a:r>
            <a:endParaRPr lang="zh-TW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5755AD7-4048-4F30-0050-35B2C15F3BA4}"/>
              </a:ext>
            </a:extLst>
          </p:cNvPr>
          <p:cNvSpPr/>
          <p:nvPr/>
        </p:nvSpPr>
        <p:spPr>
          <a:xfrm>
            <a:off x="4478300" y="2732642"/>
            <a:ext cx="1224000" cy="23366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P man</a:t>
            </a:r>
            <a:endParaRPr lang="zh-TW" altLang="en-US" dirty="0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E61497CD-D1AB-824F-0019-3BFA0E3363E0}"/>
              </a:ext>
            </a:extLst>
          </p:cNvPr>
          <p:cNvSpPr txBox="1"/>
          <p:nvPr/>
        </p:nvSpPr>
        <p:spPr>
          <a:xfrm>
            <a:off x="7029198" y="2613620"/>
            <a:ext cx="3545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…</a:t>
            </a:r>
            <a:endParaRPr lang="zh-TW" altLang="en-US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C7A7D3B-1DF7-2E32-B0F0-C2C176964D22}"/>
              </a:ext>
            </a:extLst>
          </p:cNvPr>
          <p:cNvSpPr/>
          <p:nvPr/>
        </p:nvSpPr>
        <p:spPr>
          <a:xfrm>
            <a:off x="7436730" y="2725980"/>
            <a:ext cx="1224000" cy="233669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Download</a:t>
            </a:r>
            <a:endParaRPr lang="zh-TW" altLang="en-US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01C88A8-6E21-FE0C-7C6D-D3A37B325E3F}"/>
              </a:ext>
            </a:extLst>
          </p:cNvPr>
          <p:cNvSpPr/>
          <p:nvPr/>
        </p:nvSpPr>
        <p:spPr>
          <a:xfrm>
            <a:off x="8710680" y="2732642"/>
            <a:ext cx="1224000" cy="23366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H man</a:t>
            </a:r>
            <a:endParaRPr lang="zh-TW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DB504D4-997A-EB08-96C4-17A277172640}"/>
              </a:ext>
            </a:extLst>
          </p:cNvPr>
          <p:cNvSpPr/>
          <p:nvPr/>
        </p:nvSpPr>
        <p:spPr>
          <a:xfrm>
            <a:off x="8875037" y="2993501"/>
            <a:ext cx="1224000" cy="233669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Remove</a:t>
            </a:r>
            <a:endParaRPr lang="zh-TW" altLang="en-US" dirty="0"/>
          </a:p>
        </p:txBody>
      </p:sp>
      <p:cxnSp>
        <p:nvCxnSpPr>
          <p:cNvPr id="21" name="直線接點 20">
            <a:extLst>
              <a:ext uri="{FF2B5EF4-FFF2-40B4-BE49-F238E27FC236}">
                <a16:creationId xmlns:a16="http://schemas.microsoft.com/office/drawing/2014/main" id="{1A0C8AFC-4416-6B32-20BC-0957B9161696}"/>
              </a:ext>
            </a:extLst>
          </p:cNvPr>
          <p:cNvCxnSpPr>
            <a:cxnSpLocks/>
          </p:cNvCxnSpPr>
          <p:nvPr/>
        </p:nvCxnSpPr>
        <p:spPr>
          <a:xfrm>
            <a:off x="5730490" y="2604932"/>
            <a:ext cx="0" cy="57600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3" name="直線接點 22">
            <a:extLst>
              <a:ext uri="{FF2B5EF4-FFF2-40B4-BE49-F238E27FC236}">
                <a16:creationId xmlns:a16="http://schemas.microsoft.com/office/drawing/2014/main" id="{58C5E6A9-2DCB-81DD-9394-4F1921A69C27}"/>
              </a:ext>
            </a:extLst>
          </p:cNvPr>
          <p:cNvCxnSpPr>
            <a:cxnSpLocks/>
          </p:cNvCxnSpPr>
          <p:nvPr/>
        </p:nvCxnSpPr>
        <p:spPr>
          <a:xfrm>
            <a:off x="8682490" y="2604932"/>
            <a:ext cx="0" cy="57600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5" name="直線接點 24">
            <a:extLst>
              <a:ext uri="{FF2B5EF4-FFF2-40B4-BE49-F238E27FC236}">
                <a16:creationId xmlns:a16="http://schemas.microsoft.com/office/drawing/2014/main" id="{00CD52D6-E1A0-DFCD-4C7A-B31A42BBECE9}"/>
              </a:ext>
            </a:extLst>
          </p:cNvPr>
          <p:cNvCxnSpPr>
            <a:cxnSpLocks/>
          </p:cNvCxnSpPr>
          <p:nvPr/>
        </p:nvCxnSpPr>
        <p:spPr>
          <a:xfrm>
            <a:off x="5730490" y="3180931"/>
            <a:ext cx="29520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604A0842-D68A-1D2D-48B2-92B4A2EBDB8C}"/>
              </a:ext>
            </a:extLst>
          </p:cNvPr>
          <p:cNvSpPr txBox="1"/>
          <p:nvPr/>
        </p:nvSpPr>
        <p:spPr>
          <a:xfrm>
            <a:off x="6348272" y="3110336"/>
            <a:ext cx="19642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R-type contact </a:t>
            </a:r>
            <a:endParaRPr lang="zh-TW" altLang="en-US" dirty="0"/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54E4F718-D952-B597-A30F-C5053F2116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4874814"/>
              </p:ext>
            </p:extLst>
          </p:nvPr>
        </p:nvGraphicFramePr>
        <p:xfrm>
          <a:off x="10636899" y="0"/>
          <a:ext cx="1555100" cy="685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5100">
                  <a:extLst>
                    <a:ext uri="{9D8B030D-6E8A-4147-A177-3AD203B41FA5}">
                      <a16:colId xmlns:a16="http://schemas.microsoft.com/office/drawing/2014/main" val="1048587396"/>
                    </a:ext>
                  </a:extLst>
                </a:gridCol>
              </a:tblGrid>
              <a:tr h="137160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zh-TW" b="1" dirty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/>
                        </a:rPr>
                        <a:t>問題背景與</a:t>
                      </a:r>
                      <a:endParaRPr lang="en-US" altLang="zh-TW" b="1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/>
                      </a:endParaRP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zh-TW" b="1" dirty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/>
                        </a:rPr>
                        <a:t>挑戰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491059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zh-TW" sz="1800" b="1" kern="1200" dirty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/>
                          <a:cs typeface="+mn-cs"/>
                        </a:rPr>
                        <a:t>模型一</a:t>
                      </a:r>
                      <a:r>
                        <a:rPr lang="zh-TW" altLang="en-US" b="1" dirty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/>
                        </a:rPr>
                        <a:t>：</a:t>
                      </a:r>
                      <a:endParaRPr lang="en-US" altLang="zh-TW" sz="1800" b="1" kern="1200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/>
                        <a:cs typeface="+mn-cs"/>
                      </a:endParaRP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/>
                          <a:cs typeface="Times New Roman" panose="02020603050405020304" pitchFamily="18" charset="0"/>
                        </a:rPr>
                        <a:t>MILP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6077213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pPr lvl="0" algn="ctr"/>
                      <a:r>
                        <a:rPr lang="zh-TW" altLang="zh-TW" b="1" dirty="0">
                          <a:solidFill>
                            <a:schemeClr val="tx1"/>
                          </a:solidFill>
                          <a:latin typeface="Times New Roman"/>
                          <a:ea typeface="標楷體"/>
                          <a:cs typeface="Times New Roman"/>
                        </a:rPr>
                        <a:t>模型二</a:t>
                      </a:r>
                      <a:r>
                        <a:rPr lang="zh-TW" altLang="en-US" b="1" dirty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/>
                        </a:rPr>
                        <a:t>：</a:t>
                      </a:r>
                      <a:endParaRPr lang="en-US" altLang="zh-TW" b="1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/>
                        <a:cs typeface="+mn-cs"/>
                      </a:endParaRPr>
                    </a:p>
                    <a:p>
                      <a:pPr lvl="0"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/>
                          <a:ea typeface="標楷體"/>
                          <a:cs typeface="Times New Roman"/>
                        </a:rPr>
                        <a:t>CP</a:t>
                      </a:r>
                      <a:r>
                        <a:rPr lang="zh-TW" altLang="zh-TW" b="1" dirty="0">
                          <a:solidFill>
                            <a:schemeClr val="tx1"/>
                          </a:solidFill>
                          <a:latin typeface="Times New Roman"/>
                          <a:ea typeface="標楷體"/>
                          <a:cs typeface="Times New Roman"/>
                        </a:rPr>
                        <a:t> </a:t>
                      </a:r>
                      <a:r>
                        <a:rPr lang="en-US" altLang="zh-TW" b="1" baseline="0" dirty="0">
                          <a:solidFill>
                            <a:schemeClr val="tx1"/>
                          </a:solidFill>
                          <a:latin typeface="Times New Roman"/>
                          <a:ea typeface="標楷體"/>
                          <a:cs typeface="Times New Roman"/>
                        </a:rPr>
                        <a:t>optimizer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6202349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pPr lvl="0" algn="ctr"/>
                      <a:r>
                        <a:rPr lang="zh-TW" altLang="zh-TW" b="1" dirty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/>
                        </a:rPr>
                        <a:t>結果</a:t>
                      </a:r>
                      <a:r>
                        <a:rPr lang="zh-TW" altLang="en-US" b="1" dirty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/>
                        </a:rPr>
                        <a:t>：</a:t>
                      </a:r>
                      <a:endParaRPr lang="en-US" altLang="zh-TW" b="1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/>
                      </a:endParaRPr>
                    </a:p>
                    <a:p>
                      <a:pPr lvl="0" algn="ctr"/>
                      <a:r>
                        <a:rPr lang="zh-TW" altLang="zh-TW" b="1" dirty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模型</a:t>
                      </a:r>
                      <a:r>
                        <a:rPr lang="zh-TW" altLang="en-US" b="1" dirty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求解</a:t>
                      </a:r>
                      <a:r>
                        <a:rPr lang="zh-TW" altLang="zh-TW" b="1" dirty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比較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6817788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zh-TW" sz="1800" b="1" kern="1200" dirty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/>
                          <a:cs typeface="+mn-cs"/>
                        </a:rPr>
                        <a:t>實務建議與</a:t>
                      </a:r>
                      <a:endParaRPr lang="en-US" altLang="zh-TW" sz="1800" b="1" kern="1200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/>
                        <a:cs typeface="+mn-cs"/>
                      </a:endParaRP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zh-TW" sz="1800" b="1" kern="1200" dirty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/>
                          <a:cs typeface="+mn-cs"/>
                        </a:rPr>
                        <a:t>未來展望</a:t>
                      </a:r>
                      <a:endParaRPr lang="zh-TW" altLang="en-US" sz="1800" b="1" kern="1200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/>
                        <a:cs typeface="+mn-cs"/>
                      </a:endParaRP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12592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044094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6A7EDAF1-B331-FF69-329D-D9E0740DD6B3}"/>
              </a:ext>
            </a:extLst>
          </p:cNvPr>
          <p:cNvSpPr/>
          <p:nvPr/>
        </p:nvSpPr>
        <p:spPr>
          <a:xfrm>
            <a:off x="2639376" y="963694"/>
            <a:ext cx="4672584" cy="2622135"/>
          </a:xfrm>
          <a:prstGeom prst="rect">
            <a:avLst/>
          </a:prstGeom>
          <a:ln w="571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DF70B358-B035-D5AA-3815-5733927CB0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流程圖</a:t>
            </a:r>
          </a:p>
        </p:txBody>
      </p:sp>
      <p:graphicFrame>
        <p:nvGraphicFramePr>
          <p:cNvPr id="4" name="內容版面配置區 3">
            <a:extLst>
              <a:ext uri="{FF2B5EF4-FFF2-40B4-BE49-F238E27FC236}">
                <a16:creationId xmlns:a16="http://schemas.microsoft.com/office/drawing/2014/main" id="{B9162E06-E39E-4150-B7D7-A8546262232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92828488"/>
              </p:ext>
            </p:extLst>
          </p:nvPr>
        </p:nvGraphicFramePr>
        <p:xfrm>
          <a:off x="677334" y="1407885"/>
          <a:ext cx="9241201" cy="4716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8" name="內容版面配置區 3">
            <a:extLst>
              <a:ext uri="{FF2B5EF4-FFF2-40B4-BE49-F238E27FC236}">
                <a16:creationId xmlns:a16="http://schemas.microsoft.com/office/drawing/2014/main" id="{5D866631-A69D-FB05-C6F6-CB82B4DB503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82597668"/>
              </p:ext>
            </p:extLst>
          </p:nvPr>
        </p:nvGraphicFramePr>
        <p:xfrm>
          <a:off x="677334" y="1287585"/>
          <a:ext cx="9241201" cy="4716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12" name="文字方塊 11">
            <a:extLst>
              <a:ext uri="{FF2B5EF4-FFF2-40B4-BE49-F238E27FC236}">
                <a16:creationId xmlns:a16="http://schemas.microsoft.com/office/drawing/2014/main" id="{B45DBA84-2BC3-745D-AD00-1AB7F734A6EE}"/>
              </a:ext>
            </a:extLst>
          </p:cNvPr>
          <p:cNvSpPr txBox="1"/>
          <p:nvPr/>
        </p:nvSpPr>
        <p:spPr>
          <a:xfrm>
            <a:off x="677332" y="2221468"/>
            <a:ext cx="21007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資料蒐集與前處理</a:t>
            </a: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8FC2C5A5-0B01-8832-F42C-C366E88C8410}"/>
              </a:ext>
            </a:extLst>
          </p:cNvPr>
          <p:cNvSpPr txBox="1"/>
          <p:nvPr/>
        </p:nvSpPr>
        <p:spPr>
          <a:xfrm>
            <a:off x="4042793" y="1035465"/>
            <a:ext cx="16594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MILP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模型建立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51F04014-08B1-CCFF-EFA5-39FE522F2D41}"/>
              </a:ext>
            </a:extLst>
          </p:cNvPr>
          <p:cNvSpPr txBox="1"/>
          <p:nvPr/>
        </p:nvSpPr>
        <p:spPr>
          <a:xfrm>
            <a:off x="4038096" y="5524974"/>
            <a:ext cx="14086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CP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模型建立</a:t>
            </a:r>
          </a:p>
        </p:txBody>
      </p:sp>
      <p:sp>
        <p:nvSpPr>
          <p:cNvPr id="16" name="弧形 15">
            <a:extLst>
              <a:ext uri="{FF2B5EF4-FFF2-40B4-BE49-F238E27FC236}">
                <a16:creationId xmlns:a16="http://schemas.microsoft.com/office/drawing/2014/main" id="{A0CED1C2-BCB3-FF00-53B2-2F4768ED382F}"/>
              </a:ext>
            </a:extLst>
          </p:cNvPr>
          <p:cNvSpPr/>
          <p:nvPr/>
        </p:nvSpPr>
        <p:spPr>
          <a:xfrm rot="16200000">
            <a:off x="3322708" y="804154"/>
            <a:ext cx="900000" cy="1728000"/>
          </a:xfrm>
          <a:prstGeom prst="arc">
            <a:avLst>
              <a:gd name="adj1" fmla="val 16200000"/>
              <a:gd name="adj2" fmla="val 69443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dirty="0">
              <a:highlight>
                <a:srgbClr val="FFFF00"/>
              </a:highlight>
            </a:endParaRPr>
          </a:p>
        </p:txBody>
      </p:sp>
      <p:sp>
        <p:nvSpPr>
          <p:cNvPr id="17" name="弧形 16">
            <a:extLst>
              <a:ext uri="{FF2B5EF4-FFF2-40B4-BE49-F238E27FC236}">
                <a16:creationId xmlns:a16="http://schemas.microsoft.com/office/drawing/2014/main" id="{2E3A38FA-7FB6-DADD-0966-BCB0FCDDF437}"/>
              </a:ext>
            </a:extLst>
          </p:cNvPr>
          <p:cNvSpPr/>
          <p:nvPr/>
        </p:nvSpPr>
        <p:spPr>
          <a:xfrm>
            <a:off x="3772708" y="1196196"/>
            <a:ext cx="3276000" cy="1008000"/>
          </a:xfrm>
          <a:prstGeom prst="arc">
            <a:avLst>
              <a:gd name="adj1" fmla="val 17781452"/>
              <a:gd name="adj2" fmla="val 21408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弧形 17">
            <a:extLst>
              <a:ext uri="{FF2B5EF4-FFF2-40B4-BE49-F238E27FC236}">
                <a16:creationId xmlns:a16="http://schemas.microsoft.com/office/drawing/2014/main" id="{1DB19E13-085E-3584-DD54-A8C25CBF944F}"/>
              </a:ext>
            </a:extLst>
          </p:cNvPr>
          <p:cNvSpPr/>
          <p:nvPr/>
        </p:nvSpPr>
        <p:spPr>
          <a:xfrm rot="16200000">
            <a:off x="3214708" y="4329805"/>
            <a:ext cx="1116000" cy="1728000"/>
          </a:xfrm>
          <a:prstGeom prst="arc">
            <a:avLst>
              <a:gd name="adj1" fmla="val 10567857"/>
              <a:gd name="adj2" fmla="val 16090388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dirty="0">
              <a:highlight>
                <a:srgbClr val="FFFF00"/>
              </a:highlight>
            </a:endParaRPr>
          </a:p>
        </p:txBody>
      </p:sp>
      <p:sp>
        <p:nvSpPr>
          <p:cNvPr id="19" name="弧形 18">
            <a:extLst>
              <a:ext uri="{FF2B5EF4-FFF2-40B4-BE49-F238E27FC236}">
                <a16:creationId xmlns:a16="http://schemas.microsoft.com/office/drawing/2014/main" id="{16777BB7-64E2-7AE6-3DB0-81B226A1939B}"/>
              </a:ext>
            </a:extLst>
          </p:cNvPr>
          <p:cNvSpPr/>
          <p:nvPr/>
        </p:nvSpPr>
        <p:spPr>
          <a:xfrm>
            <a:off x="3718708" y="4653805"/>
            <a:ext cx="3384000" cy="1080000"/>
          </a:xfrm>
          <a:prstGeom prst="arc">
            <a:avLst>
              <a:gd name="adj1" fmla="val 145626"/>
              <a:gd name="adj2" fmla="val 4729924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E44A6E95-22BA-8EBA-C131-ED41451AF09B}"/>
              </a:ext>
            </a:extLst>
          </p:cNvPr>
          <p:cNvSpPr txBox="1"/>
          <p:nvPr/>
        </p:nvSpPr>
        <p:spPr>
          <a:xfrm>
            <a:off x="677332" y="5953902"/>
            <a:ext cx="80003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程式架構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 使用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P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ython並導入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IBM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提供的數學規劃模組 </a:t>
            </a:r>
            <a:r>
              <a:rPr lang="en-US" altLang="zh-TW" dirty="0" err="1">
                <a:latin typeface="Times New Roman" panose="02020603050405020304" pitchFamily="18" charset="0"/>
                <a:ea typeface="標楷體" panose="03000509000000000000" pitchFamily="65" charset="-120"/>
              </a:rPr>
              <a:t>DOcplex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（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Decision Optimization Modeling for Python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）建模</a:t>
            </a:r>
          </a:p>
        </p:txBody>
      </p:sp>
    </p:spTree>
    <p:extLst>
      <p:ext uri="{BB962C8B-B14F-4D97-AF65-F5344CB8AC3E}">
        <p14:creationId xmlns:p14="http://schemas.microsoft.com/office/powerpoint/2010/main" val="2891472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D09FD79-832D-48AB-9641-0419F3F383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2. MILP</a:t>
            </a:r>
            <a:r>
              <a:rPr kumimoji="1" lang="zh-TW" altLang="en-US" b="1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 模型建立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1E7CFED-9F15-6546-892F-B478D3BCFD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3530222"/>
            <a:ext cx="8873620" cy="504998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TW" altLang="en-US" sz="1700" dirty="0">
                <a:latin typeface="Times New Roman" panose="02020603050405020304" pitchFamily="18" charset="0"/>
                <a:ea typeface="標楷體" panose="03000509000000000000" pitchFamily="65" charset="-120"/>
              </a:rPr>
              <a:t>線性化衛星時序邏輯，透過二元變數描述「任務是否被排入」，以及連續變數描述任務開始時間。其數學限制式主要包含以下四類：</a:t>
            </a:r>
            <a:endParaRPr lang="en-US" altLang="zh-TW" sz="17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lvl="1">
              <a:lnSpc>
                <a:spcPct val="150000"/>
              </a:lnSpc>
            </a:pPr>
            <a:r>
              <a:rPr lang="zh-TW" altLang="en-US" sz="1700" dirty="0">
                <a:latin typeface="Times New Roman" panose="02020603050405020304" pitchFamily="18" charset="0"/>
                <a:ea typeface="標楷體" panose="03000509000000000000" pitchFamily="65" charset="-120"/>
              </a:rPr>
              <a:t>任務不重疊：所有任務在時間軸上不可交疊。</a:t>
            </a:r>
            <a:endParaRPr lang="en-US" altLang="zh-TW" sz="17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lvl="1">
              <a:lnSpc>
                <a:spcPct val="150000"/>
              </a:lnSpc>
            </a:pPr>
            <a:r>
              <a:rPr lang="en-US" altLang="zh-TW" sz="1700" dirty="0">
                <a:latin typeface="Times New Roman" panose="02020603050405020304" pitchFamily="18" charset="0"/>
                <a:ea typeface="標楷體" panose="03000509000000000000" pitchFamily="65" charset="-120"/>
              </a:rPr>
              <a:t>R-type </a:t>
            </a:r>
            <a:r>
              <a:rPr lang="zh-TW" altLang="en-US" sz="1700" dirty="0">
                <a:latin typeface="Times New Roman" panose="02020603050405020304" pitchFamily="18" charset="0"/>
                <a:ea typeface="標楷體" panose="03000509000000000000" pitchFamily="65" charset="-120"/>
              </a:rPr>
              <a:t>地面站相依限制：</a:t>
            </a:r>
            <a:r>
              <a:rPr lang="en-US" altLang="zh-TW" sz="1700" dirty="0">
                <a:latin typeface="Times New Roman" panose="02020603050405020304" pitchFamily="18" charset="0"/>
                <a:ea typeface="標楷體" panose="03000509000000000000" pitchFamily="65" charset="-120"/>
              </a:rPr>
              <a:t>Shoot–Download–Remove </a:t>
            </a:r>
            <a:r>
              <a:rPr lang="zh-TW" altLang="en-US" sz="1700" dirty="0">
                <a:latin typeface="Times New Roman" panose="02020603050405020304" pitchFamily="18" charset="0"/>
                <a:ea typeface="標楷體" panose="03000509000000000000" pitchFamily="65" charset="-120"/>
              </a:rPr>
              <a:t>必須符合接觸時間與前後順序。</a:t>
            </a:r>
            <a:endParaRPr lang="en-US" altLang="zh-TW" sz="17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lvl="1">
              <a:lnSpc>
                <a:spcPct val="150000"/>
              </a:lnSpc>
            </a:pPr>
            <a:r>
              <a:rPr lang="zh-TW" altLang="en-US" sz="1700" dirty="0">
                <a:latin typeface="Times New Roman" panose="02020603050405020304" pitchFamily="18" charset="0"/>
                <a:ea typeface="標楷體" panose="03000509000000000000" pitchFamily="65" charset="-120"/>
              </a:rPr>
              <a:t>日蝕週期（</a:t>
            </a:r>
            <a:r>
              <a:rPr lang="en-US" altLang="zh-TW" sz="1700" dirty="0">
                <a:latin typeface="Times New Roman" panose="02020603050405020304" pitchFamily="18" charset="0"/>
                <a:ea typeface="標楷體" panose="03000509000000000000" pitchFamily="65" charset="-120"/>
              </a:rPr>
              <a:t>Duty Cycle</a:t>
            </a:r>
            <a:r>
              <a:rPr lang="zh-TW" altLang="en-US" sz="1700" dirty="0">
                <a:latin typeface="Times New Roman" panose="02020603050405020304" pitchFamily="18" charset="0"/>
                <a:ea typeface="標楷體" panose="03000509000000000000" pitchFamily="65" charset="-120"/>
              </a:rPr>
              <a:t>）限制：任務不能在禁用時段執行。</a:t>
            </a:r>
            <a:endParaRPr lang="en-US" altLang="zh-TW" sz="17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lvl="1">
              <a:lnSpc>
                <a:spcPct val="150000"/>
              </a:lnSpc>
            </a:pPr>
            <a:r>
              <a:rPr lang="zh-TW" altLang="en-US" sz="1700" dirty="0">
                <a:latin typeface="Times New Roman" panose="02020603050405020304" pitchFamily="18" charset="0"/>
                <a:ea typeface="標楷體" panose="03000509000000000000" pitchFamily="65" charset="-120"/>
              </a:rPr>
              <a:t>記憶體 </a:t>
            </a:r>
            <a:r>
              <a:rPr lang="en-US" altLang="zh-TW" sz="1700" dirty="0">
                <a:latin typeface="Times New Roman" panose="02020603050405020304" pitchFamily="18" charset="0"/>
                <a:ea typeface="標楷體" panose="03000509000000000000" pitchFamily="65" charset="-120"/>
              </a:rPr>
              <a:t>/ </a:t>
            </a:r>
            <a:r>
              <a:rPr lang="zh-TW" altLang="en-US" sz="1700" dirty="0">
                <a:latin typeface="Times New Roman" panose="02020603050405020304" pitchFamily="18" charset="0"/>
                <a:ea typeface="標楷體" panose="03000509000000000000" pitchFamily="65" charset="-120"/>
              </a:rPr>
              <a:t>檔案空間限制：確保衛星資源不被超用。</a:t>
            </a:r>
            <a:endParaRPr lang="en-US" altLang="zh-TW" sz="17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>
              <a:lnSpc>
                <a:spcPct val="150000"/>
              </a:lnSpc>
            </a:pPr>
            <a:endParaRPr lang="en-US" altLang="zh-TW" sz="17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>
              <a:lnSpc>
                <a:spcPct val="150000"/>
              </a:lnSpc>
            </a:pP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2B5478F2-C538-497F-5495-7A2C6FB0AF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zh-TW" altLang="zh-TW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表格 4">
                <a:extLst>
                  <a:ext uri="{FF2B5EF4-FFF2-40B4-BE49-F238E27FC236}">
                    <a16:creationId xmlns:a16="http://schemas.microsoft.com/office/drawing/2014/main" id="{8C30F96E-429F-8FBF-D527-05C1891344F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19598377"/>
                  </p:ext>
                </p:extLst>
              </p:nvPr>
            </p:nvGraphicFramePr>
            <p:xfrm>
              <a:off x="1129474" y="1407160"/>
              <a:ext cx="7969340" cy="2021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14506">
                      <a:extLst>
                        <a:ext uri="{9D8B030D-6E8A-4147-A177-3AD203B41FA5}">
                          <a16:colId xmlns:a16="http://schemas.microsoft.com/office/drawing/2014/main" val="1531762235"/>
                        </a:ext>
                      </a:extLst>
                    </a:gridCol>
                    <a:gridCol w="6854834">
                      <a:extLst>
                        <a:ext uri="{9D8B030D-6E8A-4147-A177-3AD203B41FA5}">
                          <a16:colId xmlns:a16="http://schemas.microsoft.com/office/drawing/2014/main" val="248910682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kumimoji="1" lang="en-US" altLang="zh-TW" b="1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Notation</a:t>
                          </a:r>
                          <a:endParaRPr kumimoji="1" lang="ja-JP" altLang="en-US" b="1" i="1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en-US" altLang="ja-JP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Description</a:t>
                          </a:r>
                          <a:endParaRPr kumimoji="1" lang="ja-JP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737117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1" lang="en-US" altLang="ja-JP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1"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1" lang="ja-JP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en-US" altLang="zh-TW" baseline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a</a:t>
                          </a:r>
                          <a:r>
                            <a:rPr kumimoji="1"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 binary variable represents whether task </a:t>
                          </a:r>
                          <a:r>
                            <a:rPr kumimoji="1" lang="zh-TW" altLang="en-US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𝑖  </a:t>
                          </a:r>
                          <a:r>
                            <a:rPr kumimoji="1"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is scheduled or not, </a:t>
                          </a:r>
                          <a:r>
                            <a:rPr kumimoji="1" lang="zh-TW" altLang="en-US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𝑖 ∈ 𝐴 </a:t>
                          </a:r>
                          <a:endParaRPr kumimoji="1" lang="en-US" altLang="zh-TW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0232120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1" lang="en-US" altLang="ja-JP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ja-JP" altLang="en-US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kumimoji="1"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1" lang="ja-JP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en-US" altLang="zh-TW" baseline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a</a:t>
                          </a:r>
                          <a:r>
                            <a:rPr kumimoji="1"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 continuous variable represents the actual start time for task</a:t>
                          </a:r>
                          <a:r>
                            <a:rPr kumimoji="1" lang="en-US" altLang="zh-TW" baseline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kumimoji="1" lang="en-US" altLang="zh-TW" b="0" i="1" baseline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oMath>
                          </a14:m>
                          <a:r>
                            <a:rPr kumimoji="1" lang="en-US" altLang="zh-TW" baseline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,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kumimoji="1" lang="en-US" altLang="ja-JP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ja-JP" altLang="en-US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kumimoji="1" lang="en-US" altLang="ja-JP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kumimoji="1" lang="en-US" altLang="ja-JP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kumimoji="1"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≥ 0, </a:t>
                          </a:r>
                          <a14:m>
                            <m:oMath xmlns:m="http://schemas.openxmlformats.org/officeDocument/2006/math">
                              <m:r>
                                <a:rPr kumimoji="1" lang="en-US" altLang="zh-TW" b="0" i="1" baseline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  <m:r>
                                <a:rPr kumimoji="1" lang="en-US" altLang="zh-TW" b="0" i="1" baseline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∈</m:t>
                              </m:r>
                              <m:r>
                                <a:rPr kumimoji="1" lang="en-US" altLang="zh-TW" b="0" i="1" baseline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𝐷</m:t>
                              </m:r>
                              <m:r>
                                <a:rPr kumimoji="1" lang="en-US" altLang="zh-TW" b="0" i="1" baseline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∪</m:t>
                              </m:r>
                              <m:r>
                                <a:rPr kumimoji="1" lang="en-US" altLang="zh-TW" b="0" i="1" baseline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</m:oMath>
                          </a14:m>
                          <a:endParaRPr kumimoji="1" lang="en-US" altLang="zh-TW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59684138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1" lang="ja-JP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a binary variable represents whether the start time of task </a:t>
                          </a:r>
                          <a14:m>
                            <m:oMath xmlns:m="http://schemas.openxmlformats.org/officeDocument/2006/math">
                              <m:r>
                                <a:rPr kumimoji="1"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  <m:r>
                                <a:rPr kumimoji="1"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kumimoji="1"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is later than the start time of task </a:t>
                          </a:r>
                          <a14:m>
                            <m:oMath xmlns:m="http://schemas.openxmlformats.org/officeDocument/2006/math">
                              <m:r>
                                <a:rPr kumimoji="1"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oMath>
                          </a14:m>
                          <a:r>
                            <a:rPr kumimoji="1"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 or</a:t>
                          </a:r>
                          <a:r>
                            <a:rPr kumimoji="1" lang="en-US" altLang="zh-TW" baseline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 not,</a:t>
                          </a:r>
                          <a:r>
                            <a:rPr kumimoji="1"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kumimoji="1"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  <m:r>
                                <a:rPr kumimoji="1"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∈</m:t>
                              </m:r>
                              <m:sSup>
                                <m:sSupPr>
                                  <m:ctrlPr>
                                    <a:rPr kumimoji="1" lang="en-US" altLang="zh-TW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kumimoji="1" lang="en-US" altLang="zh-TW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𝐴</m:t>
                                  </m:r>
                                </m:e>
                                <m:sup>
                                  <m:r>
                                    <a:rPr kumimoji="1" lang="en-US" altLang="zh-TW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kumimoji="1"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 </m:t>
                              </m:r>
                              <m:r>
                                <a:rPr kumimoji="1"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  <m:r>
                                <a:rPr kumimoji="1"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∈</m:t>
                              </m:r>
                              <m:sSup>
                                <m:sSupPr>
                                  <m:ctrlPr>
                                    <a:rPr kumimoji="1" lang="en-US" altLang="zh-TW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kumimoji="1" lang="en-US" altLang="zh-TW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𝐴</m:t>
                                  </m:r>
                                </m:e>
                                <m:sup>
                                  <m:r>
                                    <a:rPr kumimoji="1" lang="en-US" altLang="zh-TW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′′</m:t>
                                  </m:r>
                                </m:sup>
                              </m:sSup>
                            </m:oMath>
                          </a14:m>
                          <a:r>
                            <a:rPr kumimoji="1"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, </a:t>
                          </a:r>
                          <a14:m>
                            <m:oMath xmlns:m="http://schemas.openxmlformats.org/officeDocument/2006/math">
                              <m:r>
                                <a:rPr kumimoji="1"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  <m:r>
                                <a:rPr kumimoji="1"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≠</m:t>
                              </m:r>
                              <m:r>
                                <a:rPr kumimoji="1"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oMath>
                          </a14:m>
                          <a:endParaRPr kumimoji="1" lang="en-US" altLang="zh-TW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7448547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表格 4">
                <a:extLst>
                  <a:ext uri="{FF2B5EF4-FFF2-40B4-BE49-F238E27FC236}">
                    <a16:creationId xmlns:a16="http://schemas.microsoft.com/office/drawing/2014/main" id="{8C30F96E-429F-8FBF-D527-05C1891344F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19598377"/>
                  </p:ext>
                </p:extLst>
              </p:nvPr>
            </p:nvGraphicFramePr>
            <p:xfrm>
              <a:off x="1129474" y="1407160"/>
              <a:ext cx="7969340" cy="2021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14506">
                      <a:extLst>
                        <a:ext uri="{9D8B030D-6E8A-4147-A177-3AD203B41FA5}">
                          <a16:colId xmlns:a16="http://schemas.microsoft.com/office/drawing/2014/main" val="1531762235"/>
                        </a:ext>
                      </a:extLst>
                    </a:gridCol>
                    <a:gridCol w="6854834">
                      <a:extLst>
                        <a:ext uri="{9D8B030D-6E8A-4147-A177-3AD203B41FA5}">
                          <a16:colId xmlns:a16="http://schemas.microsoft.com/office/drawing/2014/main" val="248910682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kumimoji="1" lang="en-US" altLang="zh-TW" b="1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Notation</a:t>
                          </a:r>
                          <a:endParaRPr kumimoji="1" lang="ja-JP" altLang="en-US" b="1" i="1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en-US" altLang="ja-JP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Description</a:t>
                          </a:r>
                          <a:endParaRPr kumimoji="1" lang="ja-JP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737117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t="-106557" r="-615301" b="-3704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en-US" altLang="zh-TW" baseline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a</a:t>
                          </a:r>
                          <a:r>
                            <a:rPr kumimoji="1"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 binary variable represents whether task </a:t>
                          </a:r>
                          <a:r>
                            <a:rPr kumimoji="1" lang="zh-TW" altLang="en-US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𝑖  </a:t>
                          </a:r>
                          <a:r>
                            <a:rPr kumimoji="1" lang="en-US" altLang="zh-TW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is scheduled or not, </a:t>
                          </a:r>
                          <a:r>
                            <a:rPr kumimoji="1" lang="zh-TW" altLang="en-US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𝑖 ∈ 𝐴 </a:t>
                          </a:r>
                          <a:endParaRPr kumimoji="1" lang="en-US" altLang="zh-TW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02321204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t="-118868" r="-615301" b="-11320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6267" t="-118868" r="-89" b="-11320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96841387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t="-220952" r="-615301" b="-142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6267" t="-220952" r="-89" b="-1428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74485474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1447C9BE-7C90-0C34-76C0-F98B5FD85C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047758"/>
              </p:ext>
            </p:extLst>
          </p:nvPr>
        </p:nvGraphicFramePr>
        <p:xfrm>
          <a:off x="10636899" y="0"/>
          <a:ext cx="1555100" cy="685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5100">
                  <a:extLst>
                    <a:ext uri="{9D8B030D-6E8A-4147-A177-3AD203B41FA5}">
                      <a16:colId xmlns:a16="http://schemas.microsoft.com/office/drawing/2014/main" val="1048587396"/>
                    </a:ext>
                  </a:extLst>
                </a:gridCol>
              </a:tblGrid>
              <a:tr h="137160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zh-TW" b="1" dirty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/>
                        </a:rPr>
                        <a:t>問題背景與</a:t>
                      </a:r>
                      <a:endParaRPr lang="en-US" altLang="zh-TW" b="1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/>
                      </a:endParaRP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zh-TW" b="1" dirty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/>
                        </a:rPr>
                        <a:t>挑戰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491059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zh-TW" sz="1800" b="1" kern="1200" dirty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/>
                          <a:cs typeface="+mn-cs"/>
                        </a:rPr>
                        <a:t>模型一</a:t>
                      </a:r>
                      <a:r>
                        <a:rPr lang="zh-TW" altLang="en-US" b="1" dirty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/>
                        </a:rPr>
                        <a:t>：</a:t>
                      </a:r>
                      <a:endParaRPr lang="en-US" altLang="zh-TW" sz="1800" b="1" kern="1200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/>
                        <a:cs typeface="+mn-cs"/>
                      </a:endParaRP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/>
                          <a:cs typeface="Times New Roman" panose="02020603050405020304" pitchFamily="18" charset="0"/>
                        </a:rPr>
                        <a:t>MILP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6077213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pPr lvl="0" algn="ctr"/>
                      <a:r>
                        <a:rPr lang="zh-TW" altLang="zh-TW" b="1" dirty="0">
                          <a:solidFill>
                            <a:schemeClr val="tx1"/>
                          </a:solidFill>
                          <a:latin typeface="Times New Roman"/>
                          <a:ea typeface="標楷體"/>
                          <a:cs typeface="Times New Roman"/>
                        </a:rPr>
                        <a:t>模型二</a:t>
                      </a:r>
                      <a:r>
                        <a:rPr lang="zh-TW" altLang="en-US" b="1" dirty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/>
                        </a:rPr>
                        <a:t>：</a:t>
                      </a:r>
                      <a:endParaRPr lang="en-US" altLang="zh-TW" b="1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/>
                        <a:cs typeface="+mn-cs"/>
                      </a:endParaRPr>
                    </a:p>
                    <a:p>
                      <a:pPr lvl="0"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/>
                          <a:ea typeface="標楷體"/>
                          <a:cs typeface="Times New Roman"/>
                        </a:rPr>
                        <a:t>CP</a:t>
                      </a:r>
                      <a:r>
                        <a:rPr lang="zh-TW" altLang="zh-TW" b="1" dirty="0">
                          <a:solidFill>
                            <a:schemeClr val="tx1"/>
                          </a:solidFill>
                          <a:latin typeface="Times New Roman"/>
                          <a:ea typeface="標楷體"/>
                          <a:cs typeface="Times New Roman"/>
                        </a:rPr>
                        <a:t> </a:t>
                      </a:r>
                      <a:r>
                        <a:rPr lang="en-US" altLang="zh-TW" b="1" baseline="0" dirty="0">
                          <a:solidFill>
                            <a:schemeClr val="tx1"/>
                          </a:solidFill>
                          <a:latin typeface="Times New Roman"/>
                          <a:ea typeface="標楷體"/>
                          <a:cs typeface="Times New Roman"/>
                        </a:rPr>
                        <a:t>optimizer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6202349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pPr lvl="0" algn="ctr"/>
                      <a:r>
                        <a:rPr lang="zh-TW" altLang="zh-TW" b="1" dirty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/>
                        </a:rPr>
                        <a:t>結果</a:t>
                      </a:r>
                      <a:r>
                        <a:rPr lang="zh-TW" altLang="en-US" b="1" dirty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/>
                        </a:rPr>
                        <a:t>：</a:t>
                      </a:r>
                      <a:endParaRPr lang="en-US" altLang="zh-TW" b="1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/>
                      </a:endParaRPr>
                    </a:p>
                    <a:p>
                      <a:pPr lvl="0" algn="ctr"/>
                      <a:r>
                        <a:rPr lang="zh-TW" altLang="zh-TW" b="1" dirty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模型</a:t>
                      </a:r>
                      <a:r>
                        <a:rPr lang="zh-TW" altLang="en-US" b="1" dirty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求解</a:t>
                      </a:r>
                      <a:r>
                        <a:rPr lang="zh-TW" altLang="zh-TW" b="1" dirty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比較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6817788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zh-TW" sz="1800" b="1" kern="1200" dirty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/>
                          <a:cs typeface="+mn-cs"/>
                        </a:rPr>
                        <a:t>實務建議與</a:t>
                      </a:r>
                      <a:endParaRPr lang="en-US" altLang="zh-TW" sz="1800" b="1" kern="1200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/>
                        <a:cs typeface="+mn-cs"/>
                      </a:endParaRP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zh-TW" sz="1800" b="1" kern="1200" dirty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/>
                          <a:cs typeface="+mn-cs"/>
                        </a:rPr>
                        <a:t>未來展望</a:t>
                      </a:r>
                      <a:endParaRPr lang="zh-TW" altLang="en-US" sz="1800" b="1" kern="1200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/>
                        <a:cs typeface="+mn-cs"/>
                      </a:endParaRP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12592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848821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129500-D95D-4741-B4DA-80DA34CC10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DF9CE13C-FD7C-9EA4-C895-3EB3616A5C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2. </a:t>
            </a:r>
            <a:r>
              <a:rPr kumimoji="1" lang="zh-TW" altLang="en-US" b="1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目標式建立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00018635-9C6C-E721-B33B-7462B9097FE3}"/>
                  </a:ext>
                </a:extLst>
              </p:cNvPr>
              <p:cNvSpPr txBox="1"/>
              <p:nvPr/>
            </p:nvSpPr>
            <p:spPr>
              <a:xfrm>
                <a:off x="829117" y="5676601"/>
                <a:ext cx="462562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TW" altLang="en-US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標楷體" panose="03000509000000000000" pitchFamily="65" charset="-120"/>
                    <a:ea typeface="標楷體" panose="03000509000000000000" pitchFamily="65" charset="-120"/>
                  </a:rPr>
                  <a:t>權重比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  <m:t> </m:t>
                        </m:r>
                        <m:r>
                          <a:rPr lang="en-US" altLang="zh-TW" sz="24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  <m:t>𝑊</m:t>
                        </m:r>
                      </m:e>
                      <m:sub>
                        <m:r>
                          <a:rPr lang="en-US" altLang="zh-TW" sz="24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  <m:t>𝑡𝑎𝑠𝑘</m:t>
                        </m:r>
                        <m:r>
                          <a:rPr lang="en-US" altLang="zh-TW" sz="24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  <m:t> </m:t>
                        </m:r>
                      </m:sub>
                    </m:sSub>
                    <m:r>
                      <a:rPr lang="en-US" altLang="zh-TW" sz="2400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標楷體" panose="03000509000000000000" pitchFamily="65" charset="-120"/>
                      </a:rPr>
                      <m:t> : </m:t>
                    </m:r>
                    <m:sSub>
                      <m:sSubPr>
                        <m:ctrlPr>
                          <a:rPr lang="en-US" altLang="zh-TW" sz="24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</m:ctrlPr>
                      </m:sSubPr>
                      <m:e>
                        <m:r>
                          <a:rPr lang="zh-TW" altLang="en-US" sz="24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  <m:t>𝛼</m:t>
                        </m:r>
                      </m:e>
                      <m:sub>
                        <m:r>
                          <a:rPr lang="en-US" altLang="zh-TW" sz="24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  <m:t>𝑙𝑎𝑡𝑒</m:t>
                        </m:r>
                      </m:sub>
                    </m:sSub>
                    <m:r>
                      <a:rPr lang="en-US" altLang="zh-TW" sz="2400" b="0" i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標楷體" panose="03000509000000000000" pitchFamily="65" charset="-120"/>
                      </a:rPr>
                      <m:t>=600 : 100</m:t>
                    </m:r>
                  </m:oMath>
                </a14:m>
                <a:endParaRPr lang="zh-TW" altLang="en-US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標楷體" panose="03000509000000000000" pitchFamily="65" charset="-120"/>
                  <a:ea typeface="標楷體" panose="03000509000000000000" pitchFamily="65" charset="-120"/>
                </a:endParaRPr>
              </a:p>
            </p:txBody>
          </p:sp>
        </mc:Choice>
        <mc:Fallback xmlns="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00018635-9C6C-E721-B33B-7462B9097F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9117" y="5676601"/>
                <a:ext cx="4625625" cy="461665"/>
              </a:xfrm>
              <a:prstGeom prst="rect">
                <a:avLst/>
              </a:prstGeom>
              <a:blipFill>
                <a:blip r:embed="rId2"/>
                <a:stretch>
                  <a:fillRect l="-1976" t="-10526" b="-289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字方塊 6">
            <a:extLst>
              <a:ext uri="{FF2B5EF4-FFF2-40B4-BE49-F238E27FC236}">
                <a16:creationId xmlns:a16="http://schemas.microsoft.com/office/drawing/2014/main" id="{059461B8-A5E4-DD3E-97D8-6BCAA5B355B8}"/>
              </a:ext>
            </a:extLst>
          </p:cNvPr>
          <p:cNvSpPr txBox="1"/>
          <p:nvPr/>
        </p:nvSpPr>
        <p:spPr>
          <a:xfrm>
            <a:off x="4863188" y="3399248"/>
            <a:ext cx="494446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300"/>
              </a:spcAft>
            </a:pPr>
            <a:r>
              <a:rPr lang="zh-TW" altLang="en-US" sz="24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</a:rPr>
              <a:t>懲罰項</a:t>
            </a:r>
            <a:r>
              <a:rPr lang="en-US" altLang="zh-TW" sz="24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</a:rPr>
              <a:t>: </a:t>
            </a:r>
            <a:r>
              <a:rPr lang="zh-TW" altLang="en-US" sz="24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</a:rPr>
              <a:t>對排入的 </a:t>
            </a:r>
            <a:r>
              <a:rPr lang="en-US" altLang="zh-TW" sz="24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</a:rPr>
              <a:t>Download</a:t>
            </a:r>
            <a:r>
              <a:rPr lang="zh-TW" altLang="en-US" sz="24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</a:rPr>
              <a:t> 和 </a:t>
            </a:r>
            <a:r>
              <a:rPr lang="en-US" altLang="zh-TW" sz="24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</a:rPr>
              <a:t>Remove</a:t>
            </a:r>
            <a:r>
              <a:rPr lang="zh-TW" altLang="en-US" sz="24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</a:rPr>
              <a:t> 任務所造成的延遲施加成本，懲罰其 </a:t>
            </a:r>
            <a:r>
              <a:rPr lang="en-US" altLang="zh-TW" sz="24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</a:rPr>
              <a:t>Normalized Start Time</a:t>
            </a:r>
            <a:endParaRPr lang="zh-TW" altLang="en-US" sz="2400" b="0" i="0" dirty="0">
              <a:solidFill>
                <a:srgbClr val="333333"/>
              </a:solidFill>
              <a:effectLst/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8CAFC881-116B-2882-C06A-D4405898D638}"/>
                  </a:ext>
                </a:extLst>
              </p:cNvPr>
              <p:cNvSpPr txBox="1"/>
              <p:nvPr/>
            </p:nvSpPr>
            <p:spPr>
              <a:xfrm>
                <a:off x="1393242" y="3429000"/>
                <a:ext cx="3291840" cy="15696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Bef>
                    <a:spcPts val="1200"/>
                  </a:spcBef>
                  <a:spcAft>
                    <a:spcPts val="300"/>
                  </a:spcAft>
                </a:pPr>
                <a:r>
                  <a:rPr lang="zh-TW" altLang="en-US" sz="2400" b="0" i="0" dirty="0">
                    <a:solidFill>
                      <a:srgbClr val="333333"/>
                    </a:solidFill>
                    <a:effectLst/>
                    <a:latin typeface="標楷體" panose="03000509000000000000" pitchFamily="65" charset="-120"/>
                    <a:ea typeface="標楷體" panose="03000509000000000000" pitchFamily="65" charset="-120"/>
                  </a:rPr>
                  <a:t>主要目標</a:t>
                </a:r>
                <a:r>
                  <a:rPr lang="en-US" altLang="zh-TW" sz="2400" b="0" i="0" dirty="0">
                    <a:solidFill>
                      <a:srgbClr val="333333"/>
                    </a:solidFill>
                    <a:effectLst/>
                    <a:latin typeface="標楷體" panose="03000509000000000000" pitchFamily="65" charset="-120"/>
                    <a:ea typeface="標楷體" panose="03000509000000000000" pitchFamily="65" charset="-120"/>
                  </a:rPr>
                  <a:t>: </a:t>
                </a:r>
                <a:r>
                  <a:rPr lang="zh-TW" altLang="en-US" sz="2400" b="0" i="0" dirty="0">
                    <a:solidFill>
                      <a:srgbClr val="333333"/>
                    </a:solidFill>
                    <a:effectLst/>
                    <a:latin typeface="標楷體" panose="03000509000000000000" pitchFamily="65" charset="-120"/>
                    <a:ea typeface="標楷體" panose="03000509000000000000" pitchFamily="65" charset="-120"/>
                  </a:rPr>
                  <a:t>對所有任務二元變數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TW" altLang="en-US" sz="2400" b="0" i="0" dirty="0">
                    <a:solidFill>
                      <a:srgbClr val="333333"/>
                    </a:solidFill>
                    <a:effectLst/>
                    <a:latin typeface="標楷體" panose="03000509000000000000" pitchFamily="65" charset="-120"/>
                    <a:ea typeface="標楷體" panose="03000509000000000000" pitchFamily="65" charset="-120"/>
                  </a:rPr>
                  <a:t>總和，確保模型優先</a:t>
                </a:r>
                <a:r>
                  <a:rPr lang="zh-TW" altLang="en-US" sz="2400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最大化能夠執行的任務總數</a:t>
                </a:r>
                <a:endParaRPr lang="zh-TW" altLang="en-US" sz="2400" b="0" i="0" dirty="0">
                  <a:solidFill>
                    <a:srgbClr val="333333"/>
                  </a:solidFill>
                  <a:effectLst/>
                  <a:latin typeface="標楷體" panose="03000509000000000000" pitchFamily="65" charset="-120"/>
                  <a:ea typeface="標楷體" panose="03000509000000000000" pitchFamily="65" charset="-120"/>
                </a:endParaRPr>
              </a:p>
            </p:txBody>
          </p:sp>
        </mc:Choice>
        <mc:Fallback xmlns="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8CAFC881-116B-2882-C06A-D4405898D6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3242" y="3429000"/>
                <a:ext cx="3291840" cy="1569660"/>
              </a:xfrm>
              <a:prstGeom prst="rect">
                <a:avLst/>
              </a:prstGeom>
              <a:blipFill>
                <a:blip r:embed="rId4"/>
                <a:stretch>
                  <a:fillRect l="-2963" t="-3113" r="-926" b="-778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9E8848BF-24F0-FAAA-7425-5586AFB0124B}"/>
              </a:ext>
            </a:extLst>
          </p:cNvPr>
          <p:cNvCxnSpPr>
            <a:cxnSpLocks/>
            <a:stCxn id="12" idx="0"/>
          </p:cNvCxnSpPr>
          <p:nvPr/>
        </p:nvCxnSpPr>
        <p:spPr>
          <a:xfrm flipV="1">
            <a:off x="3039162" y="2751059"/>
            <a:ext cx="1843734" cy="677941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ABCE595B-0E8A-B8D0-825E-20C047CC0E1D}"/>
              </a:ext>
            </a:extLst>
          </p:cNvPr>
          <p:cNvCxnSpPr>
            <a:cxnSpLocks/>
            <a:stCxn id="7" idx="0"/>
          </p:cNvCxnSpPr>
          <p:nvPr/>
        </p:nvCxnSpPr>
        <p:spPr>
          <a:xfrm flipV="1">
            <a:off x="7335421" y="2751059"/>
            <a:ext cx="830171" cy="648189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字方塊 1">
                <a:extLst>
                  <a:ext uri="{FF2B5EF4-FFF2-40B4-BE49-F238E27FC236}">
                    <a16:creationId xmlns:a16="http://schemas.microsoft.com/office/drawing/2014/main" id="{A3293EBD-8514-55EF-6A3A-58E2A3882D43}"/>
                  </a:ext>
                </a:extLst>
              </p:cNvPr>
              <p:cNvSpPr txBox="1"/>
              <p:nvPr/>
            </p:nvSpPr>
            <p:spPr>
              <a:xfrm>
                <a:off x="525066" y="1500332"/>
                <a:ext cx="9658508" cy="125072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200" b="0" i="1" smtClean="0">
                          <a:latin typeface="Cambria Math" panose="02040503050406030204" pitchFamily="18" charset="0"/>
                          <a:ea typeface="+mj-ea"/>
                        </a:rPr>
                        <m:t>𝑚𝑎𝑥𝑖𝑚𝑖𝑧𝑒</m:t>
                      </m:r>
                      <m:r>
                        <a:rPr lang="en-US" altLang="zh-TW" sz="3200" b="0" i="1" smtClean="0">
                          <a:latin typeface="Cambria Math" panose="02040503050406030204" pitchFamily="18" charset="0"/>
                          <a:ea typeface="+mj-ea"/>
                        </a:rPr>
                        <m:t>(</m:t>
                      </m:r>
                      <m:sSub>
                        <m:sSubPr>
                          <m:ctrlPr>
                            <a:rPr lang="en-US" altLang="zh-TW" sz="3200" b="0" i="1" smtClean="0">
                              <a:latin typeface="Cambria Math" panose="02040503050406030204" pitchFamily="18" charset="0"/>
                              <a:ea typeface="+mj-ea"/>
                            </a:rPr>
                          </m:ctrlPr>
                        </m:sSubPr>
                        <m:e>
                          <m:r>
                            <a:rPr lang="en-US" altLang="zh-TW" sz="3200" b="0" i="1" smtClean="0">
                              <a:latin typeface="Cambria Math" panose="02040503050406030204" pitchFamily="18" charset="0"/>
                              <a:ea typeface="+mj-ea"/>
                            </a:rPr>
                            <m:t>𝑊</m:t>
                          </m:r>
                        </m:e>
                        <m:sub>
                          <m:r>
                            <a:rPr lang="en-US" altLang="zh-TW" sz="3200" b="0" i="1" smtClean="0">
                              <a:latin typeface="Cambria Math" panose="02040503050406030204" pitchFamily="18" charset="0"/>
                              <a:ea typeface="+mj-ea"/>
                            </a:rPr>
                            <m:t>𝑡𝑎𝑠𝑘</m:t>
                          </m:r>
                        </m:sub>
                      </m:sSub>
                      <m:r>
                        <a:rPr lang="en-US" altLang="zh-TW" sz="3200" b="0" i="1" smtClean="0">
                          <a:latin typeface="Cambria Math" panose="02040503050406030204" pitchFamily="18" charset="0"/>
                          <a:ea typeface="+mj-ea"/>
                        </a:rPr>
                        <m:t>×</m:t>
                      </m:r>
                      <m:nary>
                        <m:naryPr>
                          <m:chr m:val="∑"/>
                          <m:supHide m:val="on"/>
                          <m:ctrlPr>
                            <a:rPr lang="pt-BR" altLang="zh-TW" sz="3200" i="1" smtClean="0">
                              <a:latin typeface="Cambria Math" panose="02040503050406030204" pitchFamily="18" charset="0"/>
                              <a:ea typeface="+mj-ea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TW" sz="3200" i="1" smtClean="0">
                              <a:latin typeface="Cambria Math" panose="02040503050406030204" pitchFamily="18" charset="0"/>
                              <a:ea typeface="+mj-ea"/>
                            </a:rPr>
                            <m:t>𝑖</m:t>
                          </m:r>
                          <m:r>
                            <a:rPr lang="pt-BR" altLang="zh-TW" sz="3200" i="1">
                              <a:latin typeface="Cambria Math" panose="02040503050406030204" pitchFamily="18" charset="0"/>
                              <a:ea typeface="+mj-ea"/>
                            </a:rPr>
                            <m:t>∈</m:t>
                          </m:r>
                          <m:r>
                            <a:rPr lang="en-US" altLang="zh-TW" sz="3200" i="1">
                              <a:latin typeface="Cambria Math" panose="02040503050406030204" pitchFamily="18" charset="0"/>
                              <a:ea typeface="+mj-ea"/>
                            </a:rPr>
                            <m:t>𝐴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pt-BR" altLang="zh-TW" sz="3200" i="1">
                                  <a:latin typeface="Cambria Math" panose="02040503050406030204" pitchFamily="18" charset="0"/>
                                  <a:ea typeface="+mj-ea"/>
                                </a:rPr>
                              </m:ctrlPr>
                            </m:sSubPr>
                            <m:e>
                              <m:r>
                                <a:rPr lang="en-US" altLang="zh-TW" sz="3200" i="1">
                                  <a:latin typeface="Cambria Math" panose="02040503050406030204" pitchFamily="18" charset="0"/>
                                  <a:ea typeface="+mj-ea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3200" i="1">
                                  <a:latin typeface="Cambria Math" panose="02040503050406030204" pitchFamily="18" charset="0"/>
                                  <a:ea typeface="+mj-ea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altLang="zh-TW" sz="3200" b="0" i="1" smtClean="0">
                          <a:latin typeface="Cambria Math" panose="02040503050406030204" pitchFamily="18" charset="0"/>
                          <a:ea typeface="+mj-ea"/>
                        </a:rPr>
                        <m:t>−</m:t>
                      </m:r>
                      <m:sSub>
                        <m:sSubPr>
                          <m:ctrlPr>
                            <a:rPr lang="en-US" altLang="zh-TW" sz="3200" b="0" i="1" smtClean="0">
                              <a:latin typeface="Cambria Math" panose="02040503050406030204" pitchFamily="18" charset="0"/>
                              <a:ea typeface="+mj-ea"/>
                            </a:rPr>
                          </m:ctrlPr>
                        </m:sSubPr>
                        <m:e>
                          <m:r>
                            <a:rPr lang="zh-TW" altLang="en-US" sz="3200" b="0" i="1" smtClean="0">
                              <a:latin typeface="Cambria Math" panose="02040503050406030204" pitchFamily="18" charset="0"/>
                              <a:ea typeface="+mj-ea"/>
                            </a:rPr>
                            <m:t>𝛼</m:t>
                          </m:r>
                        </m:e>
                        <m:sub>
                          <m:r>
                            <a:rPr lang="en-US" altLang="zh-TW" sz="3200" b="0" i="1" smtClean="0">
                              <a:latin typeface="Cambria Math" panose="02040503050406030204" pitchFamily="18" charset="0"/>
                              <a:ea typeface="+mj-ea"/>
                            </a:rPr>
                            <m:t>𝑙𝑎𝑡𝑒</m:t>
                          </m:r>
                        </m:sub>
                      </m:sSub>
                      <m:r>
                        <a:rPr lang="en-US" altLang="zh-TW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nary>
                        <m:naryPr>
                          <m:chr m:val="∑"/>
                          <m:supHide m:val="on"/>
                          <m:ctrlPr>
                            <a:rPr lang="pt-BR" altLang="zh-TW" sz="3200" i="1" smtClean="0">
                              <a:latin typeface="Cambria Math" panose="02040503050406030204" pitchFamily="18" charset="0"/>
                              <a:ea typeface="+mj-ea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TW" sz="3200" b="0" i="1" smtClean="0">
                              <a:latin typeface="Cambria Math" panose="02040503050406030204" pitchFamily="18" charset="0"/>
                              <a:ea typeface="+mj-ea"/>
                            </a:rPr>
                            <m:t>𝑗</m:t>
                          </m:r>
                          <m:r>
                            <a:rPr lang="pt-BR" altLang="zh-TW" sz="3200" i="1">
                              <a:latin typeface="Cambria Math" panose="02040503050406030204" pitchFamily="18" charset="0"/>
                              <a:ea typeface="+mj-ea"/>
                            </a:rPr>
                            <m:t>∈</m:t>
                          </m:r>
                          <m:r>
                            <a:rPr lang="en-US" altLang="zh-TW" sz="3200" b="0" i="1" smtClean="0">
                              <a:latin typeface="Cambria Math" panose="02040503050406030204" pitchFamily="18" charset="0"/>
                              <a:ea typeface="+mj-ea"/>
                            </a:rPr>
                            <m:t>𝐷</m:t>
                          </m:r>
                          <m:r>
                            <a:rPr lang="en-US" altLang="zh-TW" sz="3200" b="0" i="1" smtClean="0">
                              <a:latin typeface="Cambria Math" panose="02040503050406030204" pitchFamily="18" charset="0"/>
                              <a:ea typeface="+mj-ea"/>
                            </a:rPr>
                            <m:t>,  </m:t>
                          </m:r>
                          <m:r>
                            <a:rPr lang="en-US" altLang="zh-TW" sz="3200" b="0" i="1" smtClean="0">
                              <a:latin typeface="Cambria Math" panose="02040503050406030204" pitchFamily="18" charset="0"/>
                              <a:ea typeface="+mj-ea"/>
                            </a:rPr>
                            <m:t>𝑅</m:t>
                          </m:r>
                        </m:sub>
                        <m:sup/>
                        <m:e>
                          <m:f>
                            <m:fPr>
                              <m:ctrlPr>
                                <a:rPr lang="en-US" altLang="zh-TW" sz="3200" b="0" i="1" smtClean="0">
                                  <a:latin typeface="Cambria Math" panose="02040503050406030204" pitchFamily="18" charset="0"/>
                                  <a:ea typeface="+mj-ea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ja-JP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ja-JP" altLang="en-US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altLang="ja-JP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altLang="zh-TW" sz="3200" b="0" i="1" smtClean="0">
                                  <a:latin typeface="Cambria Math" panose="02040503050406030204" pitchFamily="18" charset="0"/>
                                  <a:ea typeface="+mj-ea"/>
                                </a:rPr>
                                <m:t>𝑀</m:t>
                              </m:r>
                            </m:den>
                          </m:f>
                          <m:r>
                            <a:rPr lang="en-US" altLang="zh-TW" sz="3200" b="0" i="1" smtClean="0">
                              <a:latin typeface="Cambria Math" panose="02040503050406030204" pitchFamily="18" charset="0"/>
                              <a:ea typeface="+mj-ea"/>
                            </a:rPr>
                            <m:t> </m:t>
                          </m:r>
                          <m:r>
                            <a:rPr lang="en-US" altLang="ja-JP" sz="3200" b="0" i="1" smtClean="0">
                              <a:latin typeface="Cambria Math" panose="02040503050406030204" pitchFamily="18" charset="0"/>
                              <a:ea typeface="+mj-ea"/>
                              <a:cs typeface="Times New Roman" panose="020206030504050203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zh-TW" altLang="en-US" sz="2400" dirty="0">
                  <a:latin typeface="+mj-lt"/>
                  <a:ea typeface="+mj-ea"/>
                </a:endParaRPr>
              </a:p>
            </p:txBody>
          </p:sp>
        </mc:Choice>
        <mc:Fallback xmlns="">
          <p:sp>
            <p:nvSpPr>
              <p:cNvPr id="2" name="文字方塊 1">
                <a:extLst>
                  <a:ext uri="{FF2B5EF4-FFF2-40B4-BE49-F238E27FC236}">
                    <a16:creationId xmlns:a16="http://schemas.microsoft.com/office/drawing/2014/main" id="{A3293EBD-8514-55EF-6A3A-58E2A3882D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066" y="1500332"/>
                <a:ext cx="9658508" cy="125072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FE3C76A8-64EB-D8C6-8CB5-457295A7D0EC}"/>
                  </a:ext>
                </a:extLst>
              </p:cNvPr>
              <p:cNvSpPr txBox="1"/>
              <p:nvPr/>
            </p:nvSpPr>
            <p:spPr>
              <a:xfrm>
                <a:off x="4882896" y="4599577"/>
                <a:ext cx="5102863" cy="73257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TW" sz="2000" b="0" i="0" dirty="0">
                    <a:solidFill>
                      <a:srgbClr val="333333"/>
                    </a:solidFill>
                    <a:effectLst/>
                    <a:latin typeface="標楷體" panose="03000509000000000000" pitchFamily="65" charset="-120"/>
                    <a:ea typeface="標楷體" panose="03000509000000000000" pitchFamily="65" charset="-12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ja-JP" alt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ja-JP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ja-JP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:</m:t>
                    </m:r>
                  </m:oMath>
                </a14:m>
                <a:r>
                  <a:rPr lang="zh-TW" altLang="en-US" sz="2000" b="0" i="0" dirty="0">
                    <a:solidFill>
                      <a:srgbClr val="333333"/>
                    </a:solidFill>
                    <a:effectLst/>
                    <a:latin typeface="標楷體" panose="03000509000000000000" pitchFamily="65" charset="-120"/>
                    <a:ea typeface="標楷體" panose="03000509000000000000" pitchFamily="65" charset="-120"/>
                  </a:rPr>
                  <a:t> 任務開始時間</a:t>
                </a:r>
                <a:r>
                  <a:rPr lang="zh-TW" altLang="en-US" sz="2000" dirty="0">
                    <a:solidFill>
                      <a:srgbClr val="333333"/>
                    </a:solidFill>
                    <a:latin typeface="標楷體" panose="03000509000000000000" pitchFamily="65" charset="-120"/>
                    <a:ea typeface="標楷體" panose="03000509000000000000" pitchFamily="65" charset="-120"/>
                  </a:rPr>
                  <a:t>， </a:t>
                </a:r>
                <a:r>
                  <a:rPr lang="en-US" altLang="zh-TW" sz="2000" b="0" i="0" dirty="0">
                    <a:solidFill>
                      <a:srgbClr val="333333"/>
                    </a:solidFill>
                    <a:effectLst/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M</a:t>
                </a:r>
                <a:r>
                  <a:rPr lang="en-US" altLang="zh-TW" sz="2000" b="0" i="0" dirty="0">
                    <a:solidFill>
                      <a:srgbClr val="333333"/>
                    </a:solidFill>
                    <a:effectLst/>
                    <a:latin typeface="標楷體" panose="03000509000000000000" pitchFamily="65" charset="-120"/>
                    <a:ea typeface="標楷體" panose="03000509000000000000" pitchFamily="65" charset="-120"/>
                  </a:rPr>
                  <a:t>:</a:t>
                </a:r>
                <a:r>
                  <a:rPr lang="zh-TW" altLang="en-US" sz="2000" b="0" i="0" dirty="0">
                    <a:solidFill>
                      <a:srgbClr val="333333"/>
                    </a:solidFill>
                    <a:effectLst/>
                    <a:latin typeface="標楷體" panose="03000509000000000000" pitchFamily="65" charset="-120"/>
                    <a:ea typeface="標楷體" panose="03000509000000000000" pitchFamily="65" charset="-120"/>
                  </a:rPr>
                  <a:t> </a:t>
                </a:r>
                <a:r>
                  <a:rPr lang="zh-TW" altLang="en-US" sz="2000" dirty="0">
                    <a:solidFill>
                      <a:srgbClr val="333333"/>
                    </a:solidFill>
                    <a:latin typeface="標楷體" panose="03000509000000000000" pitchFamily="65" charset="-120"/>
                    <a:ea typeface="標楷體" panose="03000509000000000000" pitchFamily="65" charset="-120"/>
                  </a:rPr>
                  <a:t>以所有任務中開始時間最晚的任務的開始時間加上一天為值</a:t>
                </a:r>
                <a:r>
                  <a:rPr lang="en-US" altLang="zh-TW" sz="2000" b="0" i="0" dirty="0">
                    <a:solidFill>
                      <a:srgbClr val="333333"/>
                    </a:solidFill>
                    <a:effectLst/>
                    <a:latin typeface="標楷體" panose="03000509000000000000" pitchFamily="65" charset="-120"/>
                    <a:ea typeface="標楷體" panose="03000509000000000000" pitchFamily="65" charset="-120"/>
                  </a:rPr>
                  <a:t>)</a:t>
                </a:r>
                <a:endParaRPr lang="zh-TW" altLang="en-US" sz="2000" dirty="0"/>
              </a:p>
            </p:txBody>
          </p:sp>
        </mc:Choice>
        <mc:Fallback xmlns="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FE3C76A8-64EB-D8C6-8CB5-457295A7D0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2896" y="4599577"/>
                <a:ext cx="5102863" cy="732573"/>
              </a:xfrm>
              <a:prstGeom prst="rect">
                <a:avLst/>
              </a:prstGeom>
              <a:blipFill>
                <a:blip r:embed="rId6"/>
                <a:stretch>
                  <a:fillRect l="-1195" t="-5000" r="-1792" b="-141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583D1B50-3AC6-3C98-D632-4904CF53D0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2459400"/>
              </p:ext>
            </p:extLst>
          </p:nvPr>
        </p:nvGraphicFramePr>
        <p:xfrm>
          <a:off x="10636899" y="0"/>
          <a:ext cx="1555100" cy="685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5100">
                  <a:extLst>
                    <a:ext uri="{9D8B030D-6E8A-4147-A177-3AD203B41FA5}">
                      <a16:colId xmlns:a16="http://schemas.microsoft.com/office/drawing/2014/main" val="1048587396"/>
                    </a:ext>
                  </a:extLst>
                </a:gridCol>
              </a:tblGrid>
              <a:tr h="137160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zh-TW" b="1" dirty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/>
                        </a:rPr>
                        <a:t>問題背景與</a:t>
                      </a:r>
                      <a:endParaRPr lang="en-US" altLang="zh-TW" b="1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/>
                      </a:endParaRP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zh-TW" b="1" dirty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/>
                        </a:rPr>
                        <a:t>挑戰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491059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zh-TW" sz="1800" b="1" kern="1200" dirty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/>
                          <a:cs typeface="+mn-cs"/>
                        </a:rPr>
                        <a:t>模型一</a:t>
                      </a:r>
                      <a:r>
                        <a:rPr lang="zh-TW" altLang="en-US" b="1" dirty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/>
                        </a:rPr>
                        <a:t>：</a:t>
                      </a:r>
                      <a:endParaRPr lang="en-US" altLang="zh-TW" sz="1800" b="1" kern="1200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/>
                        <a:cs typeface="+mn-cs"/>
                      </a:endParaRP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/>
                          <a:cs typeface="Times New Roman" panose="02020603050405020304" pitchFamily="18" charset="0"/>
                        </a:rPr>
                        <a:t>MILP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6077213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pPr lvl="0" algn="ctr"/>
                      <a:r>
                        <a:rPr lang="zh-TW" altLang="zh-TW" b="1" dirty="0">
                          <a:solidFill>
                            <a:schemeClr val="tx1"/>
                          </a:solidFill>
                          <a:latin typeface="Times New Roman"/>
                          <a:ea typeface="標楷體"/>
                          <a:cs typeface="Times New Roman"/>
                        </a:rPr>
                        <a:t>模型二</a:t>
                      </a:r>
                      <a:r>
                        <a:rPr lang="zh-TW" altLang="en-US" b="1" dirty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/>
                        </a:rPr>
                        <a:t>：</a:t>
                      </a:r>
                      <a:endParaRPr lang="en-US" altLang="zh-TW" b="1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/>
                        <a:cs typeface="+mn-cs"/>
                      </a:endParaRPr>
                    </a:p>
                    <a:p>
                      <a:pPr lvl="0"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/>
                          <a:ea typeface="標楷體"/>
                          <a:cs typeface="Times New Roman"/>
                        </a:rPr>
                        <a:t>CP</a:t>
                      </a:r>
                      <a:r>
                        <a:rPr lang="zh-TW" altLang="zh-TW" b="1" dirty="0">
                          <a:solidFill>
                            <a:schemeClr val="tx1"/>
                          </a:solidFill>
                          <a:latin typeface="Times New Roman"/>
                          <a:ea typeface="標楷體"/>
                          <a:cs typeface="Times New Roman"/>
                        </a:rPr>
                        <a:t> </a:t>
                      </a:r>
                      <a:r>
                        <a:rPr lang="en-US" altLang="zh-TW" b="1" baseline="0" dirty="0">
                          <a:solidFill>
                            <a:schemeClr val="tx1"/>
                          </a:solidFill>
                          <a:latin typeface="Times New Roman"/>
                          <a:ea typeface="標楷體"/>
                          <a:cs typeface="Times New Roman"/>
                        </a:rPr>
                        <a:t>optimizer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6202349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pPr lvl="0" algn="ctr"/>
                      <a:r>
                        <a:rPr lang="zh-TW" altLang="zh-TW" b="1" dirty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/>
                        </a:rPr>
                        <a:t>結果</a:t>
                      </a:r>
                      <a:r>
                        <a:rPr lang="zh-TW" altLang="en-US" b="1" dirty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/>
                        </a:rPr>
                        <a:t>：</a:t>
                      </a:r>
                      <a:endParaRPr lang="en-US" altLang="zh-TW" b="1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/>
                      </a:endParaRPr>
                    </a:p>
                    <a:p>
                      <a:pPr lvl="0" algn="ctr"/>
                      <a:r>
                        <a:rPr lang="zh-TW" altLang="zh-TW" b="1" dirty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模型</a:t>
                      </a:r>
                      <a:r>
                        <a:rPr lang="zh-TW" altLang="en-US" b="1" dirty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求解</a:t>
                      </a:r>
                      <a:r>
                        <a:rPr lang="zh-TW" altLang="zh-TW" b="1" dirty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比較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6817788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zh-TW" sz="1800" b="1" kern="1200" dirty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/>
                          <a:cs typeface="+mn-cs"/>
                        </a:rPr>
                        <a:t>實務建議與</a:t>
                      </a:r>
                      <a:endParaRPr lang="en-US" altLang="zh-TW" sz="1800" b="1" kern="1200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/>
                        <a:cs typeface="+mn-cs"/>
                      </a:endParaRP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zh-TW" sz="1800" b="1" kern="1200" dirty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/>
                          <a:cs typeface="+mn-cs"/>
                        </a:rPr>
                        <a:t>未來展望</a:t>
                      </a:r>
                      <a:endParaRPr lang="zh-TW" altLang="en-US" sz="1800" b="1" kern="1200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/>
                        <a:cs typeface="+mn-cs"/>
                      </a:endParaRP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12592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290757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75264F-4F29-7523-F7B5-B28BAE1854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BF63A24-B196-2923-24BB-7C2A1D0DFC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流程圖</a:t>
            </a:r>
          </a:p>
        </p:txBody>
      </p:sp>
      <p:graphicFrame>
        <p:nvGraphicFramePr>
          <p:cNvPr id="4" name="內容版面配置區 3">
            <a:extLst>
              <a:ext uri="{FF2B5EF4-FFF2-40B4-BE49-F238E27FC236}">
                <a16:creationId xmlns:a16="http://schemas.microsoft.com/office/drawing/2014/main" id="{7F8535E1-8114-8E73-310A-D04CDBB7825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77334" y="1407885"/>
          <a:ext cx="9241201" cy="4716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8" name="內容版面配置區 3">
            <a:extLst>
              <a:ext uri="{FF2B5EF4-FFF2-40B4-BE49-F238E27FC236}">
                <a16:creationId xmlns:a16="http://schemas.microsoft.com/office/drawing/2014/main" id="{A2003E8D-8734-5E5E-C006-202765D9F1D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51801678"/>
              </p:ext>
            </p:extLst>
          </p:nvPr>
        </p:nvGraphicFramePr>
        <p:xfrm>
          <a:off x="677334" y="1287585"/>
          <a:ext cx="9241201" cy="4716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12" name="文字方塊 11">
            <a:extLst>
              <a:ext uri="{FF2B5EF4-FFF2-40B4-BE49-F238E27FC236}">
                <a16:creationId xmlns:a16="http://schemas.microsoft.com/office/drawing/2014/main" id="{356DE442-A295-A9FE-E213-31EB70C171C3}"/>
              </a:ext>
            </a:extLst>
          </p:cNvPr>
          <p:cNvSpPr txBox="1"/>
          <p:nvPr/>
        </p:nvSpPr>
        <p:spPr>
          <a:xfrm>
            <a:off x="677332" y="2221468"/>
            <a:ext cx="21007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資料蒐集與前處理</a:t>
            </a: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2DA14575-5C2C-2582-DCAA-C535628700D0}"/>
              </a:ext>
            </a:extLst>
          </p:cNvPr>
          <p:cNvSpPr txBox="1"/>
          <p:nvPr/>
        </p:nvSpPr>
        <p:spPr>
          <a:xfrm>
            <a:off x="4042793" y="1035465"/>
            <a:ext cx="16594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MILP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模型建立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3C37026B-367B-D83B-332F-DEBE1AC3927A}"/>
              </a:ext>
            </a:extLst>
          </p:cNvPr>
          <p:cNvSpPr txBox="1"/>
          <p:nvPr/>
        </p:nvSpPr>
        <p:spPr>
          <a:xfrm>
            <a:off x="4038096" y="5524974"/>
            <a:ext cx="14086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CP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模型建立</a:t>
            </a:r>
          </a:p>
        </p:txBody>
      </p:sp>
      <p:sp>
        <p:nvSpPr>
          <p:cNvPr id="16" name="弧形 15">
            <a:extLst>
              <a:ext uri="{FF2B5EF4-FFF2-40B4-BE49-F238E27FC236}">
                <a16:creationId xmlns:a16="http://schemas.microsoft.com/office/drawing/2014/main" id="{609D522E-6EF1-FDEB-69FC-D033C077864D}"/>
              </a:ext>
            </a:extLst>
          </p:cNvPr>
          <p:cNvSpPr/>
          <p:nvPr/>
        </p:nvSpPr>
        <p:spPr>
          <a:xfrm rot="16200000">
            <a:off x="3322708" y="804154"/>
            <a:ext cx="900000" cy="1728000"/>
          </a:xfrm>
          <a:prstGeom prst="arc">
            <a:avLst>
              <a:gd name="adj1" fmla="val 16200000"/>
              <a:gd name="adj2" fmla="val 69443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dirty="0">
              <a:highlight>
                <a:srgbClr val="FFFF00"/>
              </a:highlight>
            </a:endParaRPr>
          </a:p>
        </p:txBody>
      </p:sp>
      <p:sp>
        <p:nvSpPr>
          <p:cNvPr id="17" name="弧形 16">
            <a:extLst>
              <a:ext uri="{FF2B5EF4-FFF2-40B4-BE49-F238E27FC236}">
                <a16:creationId xmlns:a16="http://schemas.microsoft.com/office/drawing/2014/main" id="{EDE57778-AE40-AFFE-00AF-45D0F4B74755}"/>
              </a:ext>
            </a:extLst>
          </p:cNvPr>
          <p:cNvSpPr/>
          <p:nvPr/>
        </p:nvSpPr>
        <p:spPr>
          <a:xfrm>
            <a:off x="3772708" y="1196196"/>
            <a:ext cx="3276000" cy="1008000"/>
          </a:xfrm>
          <a:prstGeom prst="arc">
            <a:avLst>
              <a:gd name="adj1" fmla="val 17781452"/>
              <a:gd name="adj2" fmla="val 21408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弧形 17">
            <a:extLst>
              <a:ext uri="{FF2B5EF4-FFF2-40B4-BE49-F238E27FC236}">
                <a16:creationId xmlns:a16="http://schemas.microsoft.com/office/drawing/2014/main" id="{0E6BCF88-ED0C-D8F2-FB35-C8440E605CA9}"/>
              </a:ext>
            </a:extLst>
          </p:cNvPr>
          <p:cNvSpPr/>
          <p:nvPr/>
        </p:nvSpPr>
        <p:spPr>
          <a:xfrm rot="16200000">
            <a:off x="3214708" y="4329805"/>
            <a:ext cx="1116000" cy="1728000"/>
          </a:xfrm>
          <a:prstGeom prst="arc">
            <a:avLst>
              <a:gd name="adj1" fmla="val 10567857"/>
              <a:gd name="adj2" fmla="val 16090388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dirty="0">
              <a:highlight>
                <a:srgbClr val="FFFF00"/>
              </a:highlight>
            </a:endParaRPr>
          </a:p>
        </p:txBody>
      </p:sp>
      <p:sp>
        <p:nvSpPr>
          <p:cNvPr id="19" name="弧形 18">
            <a:extLst>
              <a:ext uri="{FF2B5EF4-FFF2-40B4-BE49-F238E27FC236}">
                <a16:creationId xmlns:a16="http://schemas.microsoft.com/office/drawing/2014/main" id="{8347641B-15BC-E618-6B8E-EF25CB7ADAEE}"/>
              </a:ext>
            </a:extLst>
          </p:cNvPr>
          <p:cNvSpPr/>
          <p:nvPr/>
        </p:nvSpPr>
        <p:spPr>
          <a:xfrm>
            <a:off x="3718708" y="4653805"/>
            <a:ext cx="3384000" cy="1080000"/>
          </a:xfrm>
          <a:prstGeom prst="arc">
            <a:avLst>
              <a:gd name="adj1" fmla="val 145626"/>
              <a:gd name="adj2" fmla="val 4729924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7520954B-6C5F-197D-F6B7-9B39FA99E5A8}"/>
              </a:ext>
            </a:extLst>
          </p:cNvPr>
          <p:cNvSpPr txBox="1"/>
          <p:nvPr/>
        </p:nvSpPr>
        <p:spPr>
          <a:xfrm>
            <a:off x="677332" y="5953902"/>
            <a:ext cx="80003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程式架構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 使用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P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ython並導入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IBM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提供的支援的數學規劃模組 </a:t>
            </a:r>
            <a:r>
              <a:rPr lang="en-US" altLang="zh-TW" dirty="0" err="1">
                <a:latin typeface="Times New Roman" panose="02020603050405020304" pitchFamily="18" charset="0"/>
                <a:ea typeface="標楷體" panose="03000509000000000000" pitchFamily="65" charset="-120"/>
              </a:rPr>
              <a:t>DOcplex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（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Decision Optimization Modeling for Python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）建模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A099755-BD35-0350-DB5A-AF7DDC9C6638}"/>
              </a:ext>
            </a:extLst>
          </p:cNvPr>
          <p:cNvSpPr/>
          <p:nvPr/>
        </p:nvSpPr>
        <p:spPr>
          <a:xfrm>
            <a:off x="2639376" y="3374546"/>
            <a:ext cx="4672584" cy="2622135"/>
          </a:xfrm>
          <a:prstGeom prst="rect">
            <a:avLst/>
          </a:prstGeom>
          <a:noFill/>
          <a:ln w="571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694350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7070BC-0B82-5D7B-1F9D-BB0850E9D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350A12F-C41B-8D7A-FCAF-CFF2645A13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3. CP</a:t>
            </a:r>
            <a:r>
              <a:rPr kumimoji="1" lang="zh-TW" altLang="en-US" b="1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 模型建立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0ABB766-2A57-4D73-B8F3-3ED457D6AD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3897" y="1371600"/>
            <a:ext cx="10023042" cy="5486399"/>
          </a:xfrm>
        </p:spPr>
        <p:txBody>
          <a:bodyPr>
            <a:normAutofit fontScale="85000" lnSpcReduction="10000"/>
          </a:bodyPr>
          <a:lstStyle/>
          <a:p>
            <a:pPr lvl="1">
              <a:lnSpc>
                <a:spcPct val="170000"/>
              </a:lnSpc>
            </a:pPr>
            <a:r>
              <a:rPr lang="zh-TW" altLang="en-US" sz="2200" dirty="0">
                <a:latin typeface="Times New Roman" panose="02020603050405020304" pitchFamily="18" charset="0"/>
                <a:ea typeface="標楷體" panose="03000509000000000000" pitchFamily="65" charset="-120"/>
              </a:rPr>
              <a:t>導入 </a:t>
            </a:r>
            <a:r>
              <a:rPr lang="en-US" altLang="zh-TW" sz="2200" dirty="0">
                <a:latin typeface="Times New Roman" panose="02020603050405020304" pitchFamily="18" charset="0"/>
                <a:ea typeface="標楷體" panose="03000509000000000000" pitchFamily="65" charset="-120"/>
              </a:rPr>
              <a:t>Module </a:t>
            </a:r>
            <a:r>
              <a:rPr lang="en-US" altLang="zh-TW" sz="2200" dirty="0" err="1">
                <a:latin typeface="Times New Roman" panose="02020603050405020304" pitchFamily="18" charset="0"/>
                <a:ea typeface="標楷體" panose="03000509000000000000" pitchFamily="65" charset="-120"/>
              </a:rPr>
              <a:t>docplex.cp.model</a:t>
            </a:r>
            <a:r>
              <a:rPr lang="zh-TW" altLang="en-US" sz="2200" dirty="0">
                <a:latin typeface="Times New Roman" panose="02020603050405020304" pitchFamily="18" charset="0"/>
                <a:ea typeface="標楷體" panose="03000509000000000000" pitchFamily="65" charset="-120"/>
              </a:rPr>
              <a:t>　</a:t>
            </a:r>
            <a:r>
              <a:rPr lang="en-US" altLang="zh-TW" sz="2200" dirty="0">
                <a:latin typeface="Times New Roman" panose="02020603050405020304" pitchFamily="18" charset="0"/>
                <a:ea typeface="標楷體" panose="03000509000000000000" pitchFamily="65" charset="-120"/>
              </a:rPr>
              <a:t>(Constraint Programming)</a:t>
            </a:r>
          </a:p>
          <a:p>
            <a:pPr marL="914400" lvl="2" indent="0">
              <a:lnSpc>
                <a:spcPct val="170000"/>
              </a:lnSpc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(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基於 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MILP 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模型之限制式做轉換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)</a:t>
            </a:r>
          </a:p>
          <a:p>
            <a:pPr marR="0" lvl="1" fontAlgn="base">
              <a:lnSpc>
                <a:spcPct val="170000"/>
              </a:lnSpc>
              <a:tabLst/>
            </a:pPr>
            <a:r>
              <a:rPr lang="zh-TW" altLang="zh-TW" sz="2200" dirty="0">
                <a:latin typeface="Times New Roman" panose="02020603050405020304" pitchFamily="18" charset="0"/>
                <a:ea typeface="標楷體" panose="03000509000000000000" pitchFamily="65" charset="-120"/>
              </a:rPr>
              <a:t>變數型態：</a:t>
            </a:r>
            <a:endParaRPr lang="en-US" altLang="zh-TW" sz="22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lvl="2" fontAlgn="base">
              <a:lnSpc>
                <a:spcPct val="170000"/>
              </a:lnSpc>
            </a:pPr>
            <a:r>
              <a:rPr lang="zh-TW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interval_var </a:t>
            </a:r>
            <a:r>
              <a:rPr lang="zh-TW" altLang="zh-TW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= 任務一個區間</a:t>
            </a: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lvl="2" fontAlgn="base">
              <a:lnSpc>
                <a:spcPct val="170000"/>
              </a:lnSpc>
            </a:pPr>
            <a:r>
              <a:rPr lang="zh-TW" altLang="zh-TW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presence_of(iv) = 這個區間是否被選擇（0/1 表達式）</a:t>
            </a:r>
          </a:p>
          <a:p>
            <a:pPr marR="0" lvl="1" fontAlgn="base">
              <a:lnSpc>
                <a:spcPct val="170000"/>
              </a:lnSpc>
              <a:tabLst/>
            </a:pPr>
            <a:r>
              <a:rPr lang="zh-TW" altLang="zh-TW" sz="2200" dirty="0">
                <a:latin typeface="Times New Roman" panose="02020603050405020304" pitchFamily="18" charset="0"/>
                <a:ea typeface="標楷體" panose="03000509000000000000" pitchFamily="65" charset="-120"/>
              </a:rPr>
              <a:t>限制式語意化：</a:t>
            </a:r>
          </a:p>
          <a:p>
            <a:pPr lvl="2" fontAlgn="base">
              <a:lnSpc>
                <a:spcPct val="170000"/>
              </a:lnSpc>
            </a:pPr>
            <a:r>
              <a:rPr lang="zh-TW" altLang="zh-TW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no_overlap(...)：任務不能重疊</a:t>
            </a:r>
          </a:p>
          <a:p>
            <a:pPr lvl="2" fontAlgn="base">
              <a:lnSpc>
                <a:spcPct val="170000"/>
              </a:lnSpc>
            </a:pPr>
            <a:r>
              <a:rPr lang="zh-TW" altLang="zh-TW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alternative(master, copies)：主任務必須對應到一個候選區間（例如 Download 選某個 contact）</a:t>
            </a:r>
          </a:p>
          <a:p>
            <a:pPr lvl="2" fontAlgn="base">
              <a:lnSpc>
                <a:spcPct val="170000"/>
              </a:lnSpc>
            </a:pPr>
            <a:r>
              <a:rPr lang="zh-TW" altLang="zh-TW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if_then(condition, constraint)：條件式限制</a:t>
            </a: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R="0" lvl="1" fontAlgn="base">
              <a:lnSpc>
                <a:spcPct val="170000"/>
              </a:lnSpc>
              <a:tabLst/>
            </a:pPr>
            <a:endParaRPr lang="zh-TW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B0DD729B-57D5-5E20-0868-B5226F572C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0534497"/>
              </p:ext>
            </p:extLst>
          </p:nvPr>
        </p:nvGraphicFramePr>
        <p:xfrm>
          <a:off x="10636899" y="0"/>
          <a:ext cx="1555100" cy="685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5100">
                  <a:extLst>
                    <a:ext uri="{9D8B030D-6E8A-4147-A177-3AD203B41FA5}">
                      <a16:colId xmlns:a16="http://schemas.microsoft.com/office/drawing/2014/main" val="1048587396"/>
                    </a:ext>
                  </a:extLst>
                </a:gridCol>
              </a:tblGrid>
              <a:tr h="137160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zh-TW" b="1" dirty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/>
                        </a:rPr>
                        <a:t>問題背景與</a:t>
                      </a:r>
                      <a:endParaRPr lang="en-US" altLang="zh-TW" b="1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/>
                      </a:endParaRP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zh-TW" b="1" dirty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/>
                        </a:rPr>
                        <a:t>挑戰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491059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zh-TW" sz="1800" b="1" kern="1200" dirty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/>
                          <a:cs typeface="+mn-cs"/>
                        </a:rPr>
                        <a:t>模型一</a:t>
                      </a:r>
                      <a:r>
                        <a:rPr lang="zh-TW" altLang="en-US" b="1" dirty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/>
                        </a:rPr>
                        <a:t>：</a:t>
                      </a:r>
                      <a:endParaRPr lang="en-US" altLang="zh-TW" sz="1800" b="1" kern="1200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/>
                        <a:cs typeface="+mn-cs"/>
                      </a:endParaRP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/>
                          <a:cs typeface="Times New Roman" panose="02020603050405020304" pitchFamily="18" charset="0"/>
                        </a:rPr>
                        <a:t>MILP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6077213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pPr lvl="0" algn="ctr"/>
                      <a:r>
                        <a:rPr lang="zh-TW" altLang="zh-TW" b="1" dirty="0">
                          <a:solidFill>
                            <a:schemeClr val="tx1"/>
                          </a:solidFill>
                          <a:latin typeface="Times New Roman"/>
                          <a:ea typeface="標楷體"/>
                          <a:cs typeface="Times New Roman"/>
                        </a:rPr>
                        <a:t>模型二</a:t>
                      </a:r>
                      <a:r>
                        <a:rPr lang="zh-TW" altLang="en-US" b="1" dirty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/>
                        </a:rPr>
                        <a:t>：</a:t>
                      </a:r>
                      <a:endParaRPr lang="en-US" altLang="zh-TW" b="1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/>
                        <a:cs typeface="+mn-cs"/>
                      </a:endParaRPr>
                    </a:p>
                    <a:p>
                      <a:pPr lvl="0"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/>
                          <a:ea typeface="標楷體"/>
                          <a:cs typeface="Times New Roman"/>
                        </a:rPr>
                        <a:t>CP</a:t>
                      </a:r>
                      <a:r>
                        <a:rPr lang="zh-TW" altLang="zh-TW" b="1" dirty="0">
                          <a:solidFill>
                            <a:schemeClr val="tx1"/>
                          </a:solidFill>
                          <a:latin typeface="Times New Roman"/>
                          <a:ea typeface="標楷體"/>
                          <a:cs typeface="Times New Roman"/>
                        </a:rPr>
                        <a:t> </a:t>
                      </a:r>
                      <a:r>
                        <a:rPr lang="en-US" altLang="zh-TW" b="1" baseline="0" dirty="0">
                          <a:solidFill>
                            <a:schemeClr val="tx1"/>
                          </a:solidFill>
                          <a:latin typeface="Times New Roman"/>
                          <a:ea typeface="標楷體"/>
                          <a:cs typeface="Times New Roman"/>
                        </a:rPr>
                        <a:t>optimizer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6202349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pPr lvl="0" algn="ctr"/>
                      <a:r>
                        <a:rPr lang="zh-TW" altLang="zh-TW" b="1" dirty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/>
                        </a:rPr>
                        <a:t>結果</a:t>
                      </a:r>
                      <a:r>
                        <a:rPr lang="zh-TW" altLang="en-US" b="1" dirty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/>
                        </a:rPr>
                        <a:t>：</a:t>
                      </a:r>
                      <a:endParaRPr lang="en-US" altLang="zh-TW" b="1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/>
                      </a:endParaRPr>
                    </a:p>
                    <a:p>
                      <a:pPr lvl="0" algn="ctr"/>
                      <a:r>
                        <a:rPr lang="zh-TW" altLang="zh-TW" b="1" dirty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模型</a:t>
                      </a:r>
                      <a:r>
                        <a:rPr lang="zh-TW" altLang="en-US" b="1" dirty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求解</a:t>
                      </a:r>
                      <a:r>
                        <a:rPr lang="zh-TW" altLang="zh-TW" b="1" dirty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比較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6817788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zh-TW" sz="1800" b="1" kern="1200" dirty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/>
                          <a:cs typeface="+mn-cs"/>
                        </a:rPr>
                        <a:t>實務建議與</a:t>
                      </a:r>
                      <a:endParaRPr lang="en-US" altLang="zh-TW" sz="1800" b="1" kern="1200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/>
                        <a:cs typeface="+mn-cs"/>
                      </a:endParaRP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zh-TW" sz="1800" b="1" kern="1200" dirty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/>
                          <a:cs typeface="+mn-cs"/>
                        </a:rPr>
                        <a:t>未來展望</a:t>
                      </a:r>
                      <a:endParaRPr lang="zh-TW" altLang="en-US" sz="1800" b="1" kern="1200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/>
                        <a:cs typeface="+mn-cs"/>
                      </a:endParaRP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12592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221062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190082-9667-88DC-5A31-A8FCA10D3F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61144B4-2DCA-1765-5200-B4408C792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流程圖</a:t>
            </a:r>
          </a:p>
        </p:txBody>
      </p:sp>
      <p:graphicFrame>
        <p:nvGraphicFramePr>
          <p:cNvPr id="4" name="內容版面配置區 3">
            <a:extLst>
              <a:ext uri="{FF2B5EF4-FFF2-40B4-BE49-F238E27FC236}">
                <a16:creationId xmlns:a16="http://schemas.microsoft.com/office/drawing/2014/main" id="{90B7FF90-DB4B-D78C-5659-8649D06816D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77334" y="1407885"/>
          <a:ext cx="9241201" cy="4716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8" name="內容版面配置區 3">
            <a:extLst>
              <a:ext uri="{FF2B5EF4-FFF2-40B4-BE49-F238E27FC236}">
                <a16:creationId xmlns:a16="http://schemas.microsoft.com/office/drawing/2014/main" id="{C9E307FD-093B-F0DE-D5A5-CE84E0CC10B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75381920"/>
              </p:ext>
            </p:extLst>
          </p:nvPr>
        </p:nvGraphicFramePr>
        <p:xfrm>
          <a:off x="677334" y="1287585"/>
          <a:ext cx="9241201" cy="4716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12" name="文字方塊 11">
            <a:extLst>
              <a:ext uri="{FF2B5EF4-FFF2-40B4-BE49-F238E27FC236}">
                <a16:creationId xmlns:a16="http://schemas.microsoft.com/office/drawing/2014/main" id="{55E3394B-6C64-ACB2-6E7D-3F023FD6444C}"/>
              </a:ext>
            </a:extLst>
          </p:cNvPr>
          <p:cNvSpPr txBox="1"/>
          <p:nvPr/>
        </p:nvSpPr>
        <p:spPr>
          <a:xfrm>
            <a:off x="677332" y="2221468"/>
            <a:ext cx="21007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資料蒐集與前處理</a:t>
            </a: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4B458EC6-5B77-F01C-A3EE-A9578DEFF8E5}"/>
              </a:ext>
            </a:extLst>
          </p:cNvPr>
          <p:cNvSpPr txBox="1"/>
          <p:nvPr/>
        </p:nvSpPr>
        <p:spPr>
          <a:xfrm>
            <a:off x="4042793" y="1035465"/>
            <a:ext cx="16594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MILP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模型建立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267E6796-7A13-2740-BDC3-9C0EA663FA59}"/>
              </a:ext>
            </a:extLst>
          </p:cNvPr>
          <p:cNvSpPr txBox="1"/>
          <p:nvPr/>
        </p:nvSpPr>
        <p:spPr>
          <a:xfrm>
            <a:off x="4038096" y="5524974"/>
            <a:ext cx="14086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CP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模型建立</a:t>
            </a:r>
          </a:p>
        </p:txBody>
      </p:sp>
      <p:sp>
        <p:nvSpPr>
          <p:cNvPr id="16" name="弧形 15">
            <a:extLst>
              <a:ext uri="{FF2B5EF4-FFF2-40B4-BE49-F238E27FC236}">
                <a16:creationId xmlns:a16="http://schemas.microsoft.com/office/drawing/2014/main" id="{9A112D4A-7D7F-585F-A747-7CA999E7905D}"/>
              </a:ext>
            </a:extLst>
          </p:cNvPr>
          <p:cNvSpPr/>
          <p:nvPr/>
        </p:nvSpPr>
        <p:spPr>
          <a:xfrm rot="16200000">
            <a:off x="3322708" y="804154"/>
            <a:ext cx="900000" cy="1728000"/>
          </a:xfrm>
          <a:prstGeom prst="arc">
            <a:avLst>
              <a:gd name="adj1" fmla="val 16200000"/>
              <a:gd name="adj2" fmla="val 69443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dirty="0">
              <a:highlight>
                <a:srgbClr val="FFFF00"/>
              </a:highlight>
            </a:endParaRPr>
          </a:p>
        </p:txBody>
      </p:sp>
      <p:sp>
        <p:nvSpPr>
          <p:cNvPr id="17" name="弧形 16">
            <a:extLst>
              <a:ext uri="{FF2B5EF4-FFF2-40B4-BE49-F238E27FC236}">
                <a16:creationId xmlns:a16="http://schemas.microsoft.com/office/drawing/2014/main" id="{DA704BD6-6C4E-8857-7931-B319BF943AA1}"/>
              </a:ext>
            </a:extLst>
          </p:cNvPr>
          <p:cNvSpPr/>
          <p:nvPr/>
        </p:nvSpPr>
        <p:spPr>
          <a:xfrm>
            <a:off x="3772708" y="1196196"/>
            <a:ext cx="3276000" cy="1008000"/>
          </a:xfrm>
          <a:prstGeom prst="arc">
            <a:avLst>
              <a:gd name="adj1" fmla="val 17781452"/>
              <a:gd name="adj2" fmla="val 21408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弧形 17">
            <a:extLst>
              <a:ext uri="{FF2B5EF4-FFF2-40B4-BE49-F238E27FC236}">
                <a16:creationId xmlns:a16="http://schemas.microsoft.com/office/drawing/2014/main" id="{D927C21E-5F5A-88D1-AEA5-4D5BD6F4C674}"/>
              </a:ext>
            </a:extLst>
          </p:cNvPr>
          <p:cNvSpPr/>
          <p:nvPr/>
        </p:nvSpPr>
        <p:spPr>
          <a:xfrm rot="16200000">
            <a:off x="3214708" y="4329805"/>
            <a:ext cx="1116000" cy="1728000"/>
          </a:xfrm>
          <a:prstGeom prst="arc">
            <a:avLst>
              <a:gd name="adj1" fmla="val 10567857"/>
              <a:gd name="adj2" fmla="val 16090388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dirty="0">
              <a:highlight>
                <a:srgbClr val="FFFF00"/>
              </a:highlight>
            </a:endParaRPr>
          </a:p>
        </p:txBody>
      </p:sp>
      <p:sp>
        <p:nvSpPr>
          <p:cNvPr id="19" name="弧形 18">
            <a:extLst>
              <a:ext uri="{FF2B5EF4-FFF2-40B4-BE49-F238E27FC236}">
                <a16:creationId xmlns:a16="http://schemas.microsoft.com/office/drawing/2014/main" id="{011B3D65-5DDF-74DB-8692-9782887E7A44}"/>
              </a:ext>
            </a:extLst>
          </p:cNvPr>
          <p:cNvSpPr/>
          <p:nvPr/>
        </p:nvSpPr>
        <p:spPr>
          <a:xfrm>
            <a:off x="3718708" y="4653805"/>
            <a:ext cx="3384000" cy="1080000"/>
          </a:xfrm>
          <a:prstGeom prst="arc">
            <a:avLst>
              <a:gd name="adj1" fmla="val 145626"/>
              <a:gd name="adj2" fmla="val 4729924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303FB349-2357-9791-83AD-9BFF169F5949}"/>
              </a:ext>
            </a:extLst>
          </p:cNvPr>
          <p:cNvSpPr txBox="1"/>
          <p:nvPr/>
        </p:nvSpPr>
        <p:spPr>
          <a:xfrm>
            <a:off x="677332" y="5953902"/>
            <a:ext cx="80003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程式架構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 使用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P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ython並導入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IBM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提供的支援的數學規劃模組 </a:t>
            </a:r>
            <a:r>
              <a:rPr lang="en-US" altLang="zh-TW" dirty="0" err="1">
                <a:latin typeface="Times New Roman" panose="02020603050405020304" pitchFamily="18" charset="0"/>
                <a:ea typeface="標楷體" panose="03000509000000000000" pitchFamily="65" charset="-120"/>
              </a:rPr>
              <a:t>DOcplex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（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Decision Optimization Modeling for Python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）建模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36E1ED9-6E23-DF7F-39F2-8EF768C982E2}"/>
              </a:ext>
            </a:extLst>
          </p:cNvPr>
          <p:cNvSpPr/>
          <p:nvPr/>
        </p:nvSpPr>
        <p:spPr>
          <a:xfrm rot="5400000">
            <a:off x="5810358" y="2617480"/>
            <a:ext cx="4374221" cy="1531653"/>
          </a:xfrm>
          <a:prstGeom prst="rect">
            <a:avLst/>
          </a:prstGeom>
          <a:noFill/>
          <a:ln w="571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512970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694F2F4-FD63-D88D-2B96-EAB7874884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4. </a:t>
            </a:r>
            <a:r>
              <a:rPr kumimoji="1" lang="zh-TW" altLang="en-US" b="1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模型求解方式比較</a:t>
            </a:r>
          </a:p>
        </p:txBody>
      </p:sp>
      <p:sp>
        <p:nvSpPr>
          <p:cNvPr id="4" name="內容版面配置區 2">
            <a:extLst>
              <a:ext uri="{FF2B5EF4-FFF2-40B4-BE49-F238E27FC236}">
                <a16:creationId xmlns:a16="http://schemas.microsoft.com/office/drawing/2014/main" id="{D4ECCE10-129F-109A-DBEF-6DF8F235C432}"/>
              </a:ext>
            </a:extLst>
          </p:cNvPr>
          <p:cNvSpPr txBox="1">
            <a:spLocks/>
          </p:cNvSpPr>
          <p:nvPr/>
        </p:nvSpPr>
        <p:spPr>
          <a:xfrm>
            <a:off x="677334" y="1424605"/>
            <a:ext cx="9243906" cy="5259659"/>
          </a:xfrm>
          <a:prstGeom prst="rect">
            <a:avLst/>
          </a:prstGeom>
        </p:spPr>
        <p:txBody>
          <a:bodyPr vert="horz" lIns="91440" tIns="45720" rIns="91440" bIns="45720" rtlCol="0">
            <a:normAutofit fontScale="25000" lnSpcReduction="2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 fontAlgn="base">
              <a:lnSpc>
                <a:spcPct val="170000"/>
              </a:lnSpc>
              <a:buFont typeface="Wingdings 3" charset="2"/>
              <a:buNone/>
            </a:pPr>
            <a:r>
              <a:rPr lang="en-US" altLang="zh-TW" sz="7200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CPLEX Optimizer</a:t>
            </a:r>
            <a:r>
              <a:rPr lang="zh-TW" altLang="en-US" sz="7200" dirty="0">
                <a:latin typeface="Times New Roman" panose="02020603050405020304" pitchFamily="18" charset="0"/>
                <a:ea typeface="標楷體" panose="03000509000000000000" pitchFamily="65" charset="-120"/>
              </a:rPr>
              <a:t>（數學規劃求解器</a:t>
            </a:r>
            <a:r>
              <a:rPr lang="en-US" altLang="zh-TW" sz="7200" dirty="0">
                <a:latin typeface="Times New Roman" panose="02020603050405020304" pitchFamily="18" charset="0"/>
                <a:ea typeface="標楷體" panose="03000509000000000000" pitchFamily="65" charset="-120"/>
              </a:rPr>
              <a:t>)</a:t>
            </a:r>
            <a:r>
              <a:rPr lang="zh-TW" altLang="en-US" sz="7200" dirty="0">
                <a:latin typeface="Times New Roman" panose="02020603050405020304" pitchFamily="18" charset="0"/>
                <a:ea typeface="標楷體" panose="03000509000000000000" pitchFamily="65" charset="-120"/>
              </a:rPr>
              <a:t>　</a:t>
            </a:r>
            <a:endParaRPr lang="en-US" altLang="zh-TW" sz="72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lvl="1" fontAlgn="base">
              <a:lnSpc>
                <a:spcPct val="170000"/>
              </a:lnSpc>
            </a:pPr>
            <a:r>
              <a:rPr lang="zh-TW" altLang="en-US" sz="7200" dirty="0">
                <a:latin typeface="Times New Roman" panose="02020603050405020304" pitchFamily="18" charset="0"/>
                <a:ea typeface="標楷體" panose="03000509000000000000" pitchFamily="65" charset="-120"/>
              </a:rPr>
              <a:t>採用數學演算法，通過嚴格的數學方法來找到解</a:t>
            </a:r>
            <a:endParaRPr lang="en-US" altLang="zh-TW" sz="72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lvl="1" fontAlgn="base">
              <a:lnSpc>
                <a:spcPct val="170000"/>
              </a:lnSpc>
            </a:pPr>
            <a:r>
              <a:rPr lang="en-US" altLang="zh-TW" sz="7200" dirty="0">
                <a:latin typeface="Times New Roman" panose="02020603050405020304" pitchFamily="18" charset="0"/>
                <a:ea typeface="標楷體" panose="03000509000000000000" pitchFamily="65" charset="-120"/>
              </a:rPr>
              <a:t>Branch and Bound/Cut</a:t>
            </a:r>
            <a:r>
              <a:rPr lang="zh-TW" altLang="en-US" sz="7200" dirty="0">
                <a:latin typeface="Times New Roman" panose="02020603050405020304" pitchFamily="18" charset="0"/>
                <a:ea typeface="標楷體" panose="03000509000000000000" pitchFamily="65" charset="-120"/>
              </a:rPr>
              <a:t>： 將整數問題分解為一系列易於求解的線性問題，並通過切割平面 </a:t>
            </a:r>
            <a:r>
              <a:rPr lang="en-US" altLang="zh-TW" sz="7200" dirty="0">
                <a:latin typeface="Times New Roman" panose="02020603050405020304" pitchFamily="18" charset="0"/>
                <a:ea typeface="標楷體" panose="03000509000000000000" pitchFamily="65" charset="-120"/>
              </a:rPr>
              <a:t>(Cutting Planes) </a:t>
            </a:r>
            <a:r>
              <a:rPr lang="zh-TW" altLang="en-US" sz="7200" dirty="0">
                <a:latin typeface="Times New Roman" panose="02020603050405020304" pitchFamily="18" charset="0"/>
                <a:ea typeface="標楷體" panose="03000509000000000000" pitchFamily="65" charset="-120"/>
              </a:rPr>
              <a:t>和界限 </a:t>
            </a:r>
            <a:r>
              <a:rPr lang="en-US" altLang="zh-TW" sz="7200" dirty="0">
                <a:latin typeface="Times New Roman" panose="02020603050405020304" pitchFamily="18" charset="0"/>
                <a:ea typeface="標楷體" panose="03000509000000000000" pitchFamily="65" charset="-120"/>
              </a:rPr>
              <a:t>(Bounds) </a:t>
            </a:r>
            <a:r>
              <a:rPr lang="zh-TW" altLang="en-US" sz="7200" dirty="0">
                <a:latin typeface="Times New Roman" panose="02020603050405020304" pitchFamily="18" charset="0"/>
                <a:ea typeface="標楷體" panose="03000509000000000000" pitchFamily="65" charset="-120"/>
              </a:rPr>
              <a:t>來收斂到整數最佳解。</a:t>
            </a:r>
            <a:endParaRPr lang="en-US" altLang="zh-TW" sz="72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457200" marR="0" lvl="1" indent="0" fontAlgn="base">
              <a:lnSpc>
                <a:spcPct val="170000"/>
              </a:lnSpc>
              <a:buNone/>
              <a:tabLst/>
            </a:pPr>
            <a:r>
              <a:rPr lang="en-US" altLang="zh-TW" sz="7200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CP Optimizer</a:t>
            </a:r>
            <a:r>
              <a:rPr lang="zh-TW" altLang="en-US" sz="7200" dirty="0">
                <a:latin typeface="Times New Roman" panose="02020603050405020304" pitchFamily="18" charset="0"/>
                <a:ea typeface="標楷體" panose="03000509000000000000" pitchFamily="65" charset="-120"/>
              </a:rPr>
              <a:t>（約束規劃求解器</a:t>
            </a:r>
            <a:r>
              <a:rPr lang="en-US" altLang="zh-TW" sz="7200" dirty="0">
                <a:latin typeface="Times New Roman" panose="02020603050405020304" pitchFamily="18" charset="0"/>
                <a:ea typeface="標楷體" panose="03000509000000000000" pitchFamily="65" charset="-120"/>
              </a:rPr>
              <a:t>)</a:t>
            </a:r>
            <a:r>
              <a:rPr lang="zh-TW" altLang="en-US" sz="7200" dirty="0">
                <a:latin typeface="Times New Roman" panose="02020603050405020304" pitchFamily="18" charset="0"/>
                <a:ea typeface="標楷體" panose="03000509000000000000" pitchFamily="65" charset="-120"/>
              </a:rPr>
              <a:t>　</a:t>
            </a:r>
            <a:endParaRPr lang="en-US" altLang="zh-TW" sz="72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R="0" lvl="1" fontAlgn="base">
              <a:lnSpc>
                <a:spcPct val="170000"/>
              </a:lnSpc>
              <a:tabLst/>
            </a:pPr>
            <a:r>
              <a:rPr lang="zh-TW" altLang="en-US" sz="7200" dirty="0">
                <a:latin typeface="Times New Roman" panose="02020603050405020304" pitchFamily="18" charset="0"/>
                <a:ea typeface="標楷體" panose="03000509000000000000" pitchFamily="65" charset="-120"/>
              </a:rPr>
              <a:t>先給變數 </a:t>
            </a:r>
            <a:r>
              <a:rPr lang="en-US" altLang="zh-TW" sz="7200" dirty="0">
                <a:latin typeface="Times New Roman" panose="02020603050405020304" pitchFamily="18" charset="0"/>
                <a:ea typeface="標楷體" panose="03000509000000000000" pitchFamily="65" charset="-120"/>
              </a:rPr>
              <a:t>domain</a:t>
            </a:r>
            <a:r>
              <a:rPr lang="zh-TW" altLang="en-US" sz="7200" dirty="0">
                <a:latin typeface="Times New Roman" panose="02020603050405020304" pitchFamily="18" charset="0"/>
                <a:ea typeface="標楷體" panose="03000509000000000000" pitchFamily="65" charset="-120"/>
              </a:rPr>
              <a:t>（範圍），再用 </a:t>
            </a:r>
            <a:r>
              <a:rPr lang="en-US" altLang="zh-TW" sz="7200" dirty="0">
                <a:latin typeface="Times New Roman" panose="02020603050405020304" pitchFamily="18" charset="0"/>
                <a:ea typeface="標楷體" panose="03000509000000000000" pitchFamily="65" charset="-120"/>
              </a:rPr>
              <a:t>propagation </a:t>
            </a:r>
            <a:r>
              <a:rPr lang="zh-TW" altLang="en-US" sz="7200" dirty="0">
                <a:latin typeface="Times New Roman" panose="02020603050405020304" pitchFamily="18" charset="0"/>
                <a:ea typeface="標楷體" panose="03000509000000000000" pitchFamily="65" charset="-120"/>
              </a:rPr>
              <a:t>逐步縮小 </a:t>
            </a:r>
            <a:r>
              <a:rPr lang="en-US" altLang="zh-TW" sz="7200" dirty="0">
                <a:latin typeface="Times New Roman" panose="02020603050405020304" pitchFamily="18" charset="0"/>
                <a:ea typeface="標楷體" panose="03000509000000000000" pitchFamily="65" charset="-120"/>
              </a:rPr>
              <a:t>domain</a:t>
            </a:r>
            <a:r>
              <a:rPr lang="zh-TW" altLang="en-US" sz="7200" dirty="0">
                <a:latin typeface="Times New Roman" panose="02020603050405020304" pitchFamily="18" charset="0"/>
                <a:ea typeface="標楷體" panose="03000509000000000000" pitchFamily="65" charset="-120"/>
              </a:rPr>
              <a:t>，最後用 </a:t>
            </a:r>
            <a:r>
              <a:rPr lang="en-US" altLang="zh-TW" sz="7200" dirty="0">
                <a:latin typeface="Times New Roman" panose="02020603050405020304" pitchFamily="18" charset="0"/>
                <a:ea typeface="標楷體" panose="03000509000000000000" pitchFamily="65" charset="-120"/>
              </a:rPr>
              <a:t>search </a:t>
            </a:r>
            <a:r>
              <a:rPr lang="zh-TW" altLang="en-US" sz="7200" dirty="0">
                <a:latin typeface="Times New Roman" panose="02020603050405020304" pitchFamily="18" charset="0"/>
                <a:ea typeface="標楷體" panose="03000509000000000000" pitchFamily="65" charset="-120"/>
              </a:rPr>
              <a:t>探索剩下的小範圍</a:t>
            </a:r>
            <a:endParaRPr lang="en-US" altLang="zh-TW" sz="72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R="0" lvl="1" fontAlgn="base">
              <a:lnSpc>
                <a:spcPct val="170000"/>
              </a:lnSpc>
              <a:tabLst/>
            </a:pPr>
            <a:r>
              <a:rPr lang="en-US" altLang="zh-TW" sz="7200" dirty="0">
                <a:latin typeface="Times New Roman" panose="02020603050405020304" pitchFamily="18" charset="0"/>
                <a:ea typeface="標楷體" panose="03000509000000000000" pitchFamily="65" charset="-120"/>
              </a:rPr>
              <a:t>Search: DFS + Conflict-directed Search/Learning + Large Neighborhood Search</a:t>
            </a:r>
            <a:r>
              <a:rPr lang="zh-TW" altLang="en-US" sz="7200" dirty="0">
                <a:latin typeface="Times New Roman" panose="02020603050405020304" pitchFamily="18" charset="0"/>
                <a:ea typeface="標楷體" panose="03000509000000000000" pitchFamily="65" charset="-120"/>
              </a:rPr>
              <a:t>（</a:t>
            </a:r>
            <a:r>
              <a:rPr lang="en-US" altLang="zh-TW" sz="7200" dirty="0">
                <a:latin typeface="Times New Roman" panose="02020603050405020304" pitchFamily="18" charset="0"/>
                <a:ea typeface="標楷體" panose="03000509000000000000" pitchFamily="65" charset="-120"/>
              </a:rPr>
              <a:t>LNS</a:t>
            </a:r>
            <a:r>
              <a:rPr lang="zh-TW" altLang="en-US" sz="7200" dirty="0">
                <a:latin typeface="Times New Roman" panose="02020603050405020304" pitchFamily="18" charset="0"/>
                <a:ea typeface="標楷體" panose="03000509000000000000" pitchFamily="65" charset="-120"/>
              </a:rPr>
              <a:t>）</a:t>
            </a:r>
            <a:endParaRPr lang="zh-TW" altLang="zh-TW" sz="72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lvl="1" fontAlgn="base">
              <a:lnSpc>
                <a:spcPct val="170000"/>
              </a:lnSpc>
            </a:pPr>
            <a:endParaRPr lang="zh-TW" altLang="en-US" sz="2000" dirty="0">
              <a:latin typeface="Times New Roman" panose="02020603050405020304" pitchFamily="18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C2BDA4D3-956F-BEF7-FD47-A723DD9345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5426930"/>
              </p:ext>
            </p:extLst>
          </p:nvPr>
        </p:nvGraphicFramePr>
        <p:xfrm>
          <a:off x="10636899" y="0"/>
          <a:ext cx="1555100" cy="685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5100">
                  <a:extLst>
                    <a:ext uri="{9D8B030D-6E8A-4147-A177-3AD203B41FA5}">
                      <a16:colId xmlns:a16="http://schemas.microsoft.com/office/drawing/2014/main" val="1048587396"/>
                    </a:ext>
                  </a:extLst>
                </a:gridCol>
              </a:tblGrid>
              <a:tr h="137160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zh-TW" b="1" dirty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/>
                        </a:rPr>
                        <a:t>問題背景與</a:t>
                      </a:r>
                      <a:endParaRPr lang="en-US" altLang="zh-TW" b="1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/>
                      </a:endParaRP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zh-TW" b="1" dirty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/>
                        </a:rPr>
                        <a:t>挑戰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491059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zh-TW" sz="1800" b="1" kern="1200" dirty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/>
                          <a:cs typeface="+mn-cs"/>
                        </a:rPr>
                        <a:t>模型一</a:t>
                      </a:r>
                      <a:r>
                        <a:rPr lang="zh-TW" altLang="en-US" b="1" dirty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/>
                        </a:rPr>
                        <a:t>：</a:t>
                      </a:r>
                      <a:endParaRPr lang="en-US" altLang="zh-TW" sz="1800" b="1" kern="1200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/>
                        <a:cs typeface="+mn-cs"/>
                      </a:endParaRP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/>
                          <a:cs typeface="Times New Roman" panose="02020603050405020304" pitchFamily="18" charset="0"/>
                        </a:rPr>
                        <a:t>MILP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6077213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pPr lvl="0" algn="ctr"/>
                      <a:r>
                        <a:rPr lang="zh-TW" altLang="zh-TW" b="1" dirty="0">
                          <a:solidFill>
                            <a:schemeClr val="tx1"/>
                          </a:solidFill>
                          <a:latin typeface="Times New Roman"/>
                          <a:ea typeface="標楷體"/>
                          <a:cs typeface="Times New Roman"/>
                        </a:rPr>
                        <a:t>模型二</a:t>
                      </a:r>
                      <a:r>
                        <a:rPr lang="zh-TW" altLang="en-US" b="1" dirty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/>
                        </a:rPr>
                        <a:t>：</a:t>
                      </a:r>
                      <a:endParaRPr lang="en-US" altLang="zh-TW" b="1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/>
                        <a:cs typeface="+mn-cs"/>
                      </a:endParaRPr>
                    </a:p>
                    <a:p>
                      <a:pPr lvl="0"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/>
                          <a:ea typeface="標楷體"/>
                          <a:cs typeface="Times New Roman"/>
                        </a:rPr>
                        <a:t>CP</a:t>
                      </a:r>
                      <a:r>
                        <a:rPr lang="zh-TW" altLang="zh-TW" b="1" dirty="0">
                          <a:solidFill>
                            <a:schemeClr val="tx1"/>
                          </a:solidFill>
                          <a:latin typeface="Times New Roman"/>
                          <a:ea typeface="標楷體"/>
                          <a:cs typeface="Times New Roman"/>
                        </a:rPr>
                        <a:t> </a:t>
                      </a:r>
                      <a:r>
                        <a:rPr lang="en-US" altLang="zh-TW" b="1" baseline="0" dirty="0">
                          <a:solidFill>
                            <a:schemeClr val="tx1"/>
                          </a:solidFill>
                          <a:latin typeface="Times New Roman"/>
                          <a:ea typeface="標楷體"/>
                          <a:cs typeface="Times New Roman"/>
                        </a:rPr>
                        <a:t>optimizer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6202349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pPr lvl="0" algn="ctr"/>
                      <a:r>
                        <a:rPr lang="zh-TW" altLang="zh-TW" b="1" dirty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/>
                        </a:rPr>
                        <a:t>結果</a:t>
                      </a:r>
                      <a:r>
                        <a:rPr lang="zh-TW" altLang="en-US" b="1" dirty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/>
                        </a:rPr>
                        <a:t>：</a:t>
                      </a:r>
                      <a:endParaRPr lang="en-US" altLang="zh-TW" b="1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/>
                      </a:endParaRPr>
                    </a:p>
                    <a:p>
                      <a:pPr lvl="0" algn="ctr"/>
                      <a:r>
                        <a:rPr lang="zh-TW" altLang="zh-TW" b="1" dirty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模型</a:t>
                      </a:r>
                      <a:r>
                        <a:rPr lang="zh-TW" altLang="en-US" b="1" dirty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求解</a:t>
                      </a:r>
                      <a:r>
                        <a:rPr lang="zh-TW" altLang="zh-TW" b="1" dirty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比較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6817788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zh-TW" sz="1800" b="1" kern="1200" dirty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/>
                          <a:cs typeface="+mn-cs"/>
                        </a:rPr>
                        <a:t>實務建議與</a:t>
                      </a:r>
                      <a:endParaRPr lang="en-US" altLang="zh-TW" sz="1800" b="1" kern="1200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/>
                        <a:cs typeface="+mn-cs"/>
                      </a:endParaRP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zh-TW" sz="1800" b="1" kern="1200" dirty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/>
                          <a:cs typeface="+mn-cs"/>
                        </a:rPr>
                        <a:t>未來展望</a:t>
                      </a:r>
                      <a:endParaRPr lang="zh-TW" altLang="en-US" sz="1800" b="1" kern="1200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/>
                        <a:cs typeface="+mn-cs"/>
                      </a:endParaRP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12592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372455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241ED48-1D71-1E11-43ED-23AD136AD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4.</a:t>
            </a:r>
            <a:r>
              <a:rPr kumimoji="1" lang="zh-TW" altLang="en-US" b="1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 模型效能比較 </a:t>
            </a:r>
            <a:r>
              <a:rPr kumimoji="1"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– 結果輸出</a:t>
            </a:r>
            <a:r>
              <a:rPr kumimoji="1" lang="zh-TW" altLang="en-US" b="1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示</a:t>
            </a:r>
            <a:r>
              <a:rPr kumimoji="1"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例</a:t>
            </a:r>
            <a:endParaRPr kumimoji="1" lang="zh-TW" altLang="en-US" b="1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pic>
        <p:nvPicPr>
          <p:cNvPr id="6" name="內容版面配置區 5" descr="一張含有 文字, 圖表, 螢幕擷取畫面, 繪圖 的圖片&#10;&#10;AI 產生的內容可能不正確。">
            <a:extLst>
              <a:ext uri="{FF2B5EF4-FFF2-40B4-BE49-F238E27FC236}">
                <a16:creationId xmlns:a16="http://schemas.microsoft.com/office/drawing/2014/main" id="{507FC7BC-FBB8-641E-D2E9-96DC5007DC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91505" y="4102112"/>
            <a:ext cx="6589687" cy="2628573"/>
          </a:xfrm>
          <a:prstGeom prst="rect">
            <a:avLst/>
          </a:prstGeom>
        </p:spPr>
      </p:pic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B0214533-75F6-4953-26F4-696B51A71E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9568043"/>
              </p:ext>
            </p:extLst>
          </p:nvPr>
        </p:nvGraphicFramePr>
        <p:xfrm>
          <a:off x="10636899" y="0"/>
          <a:ext cx="1555100" cy="685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5100">
                  <a:extLst>
                    <a:ext uri="{9D8B030D-6E8A-4147-A177-3AD203B41FA5}">
                      <a16:colId xmlns:a16="http://schemas.microsoft.com/office/drawing/2014/main" val="1048587396"/>
                    </a:ext>
                  </a:extLst>
                </a:gridCol>
              </a:tblGrid>
              <a:tr h="137160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zh-TW" b="1" dirty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/>
                        </a:rPr>
                        <a:t>問題背景與</a:t>
                      </a:r>
                      <a:endParaRPr lang="en-US" altLang="zh-TW" b="1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/>
                      </a:endParaRP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zh-TW" b="1" dirty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/>
                        </a:rPr>
                        <a:t>挑戰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491059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zh-TW" sz="1800" b="1" kern="1200" dirty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/>
                          <a:cs typeface="+mn-cs"/>
                        </a:rPr>
                        <a:t>模型一</a:t>
                      </a:r>
                      <a:r>
                        <a:rPr lang="zh-TW" altLang="en-US" b="1" dirty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/>
                        </a:rPr>
                        <a:t>：</a:t>
                      </a:r>
                      <a:endParaRPr lang="en-US" altLang="zh-TW" sz="1800" b="1" kern="1200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/>
                        <a:cs typeface="+mn-cs"/>
                      </a:endParaRP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/>
                          <a:cs typeface="Times New Roman" panose="02020603050405020304" pitchFamily="18" charset="0"/>
                        </a:rPr>
                        <a:t>MILP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6077213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pPr lvl="0" algn="ctr"/>
                      <a:r>
                        <a:rPr lang="zh-TW" altLang="zh-TW" b="1" dirty="0">
                          <a:solidFill>
                            <a:schemeClr val="tx1"/>
                          </a:solidFill>
                          <a:latin typeface="Times New Roman"/>
                          <a:ea typeface="標楷體"/>
                          <a:cs typeface="Times New Roman"/>
                        </a:rPr>
                        <a:t>模型二</a:t>
                      </a:r>
                      <a:r>
                        <a:rPr lang="zh-TW" altLang="en-US" b="1" dirty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/>
                        </a:rPr>
                        <a:t>：</a:t>
                      </a:r>
                      <a:endParaRPr lang="en-US" altLang="zh-TW" b="1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/>
                        <a:cs typeface="+mn-cs"/>
                      </a:endParaRPr>
                    </a:p>
                    <a:p>
                      <a:pPr lvl="0"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/>
                          <a:ea typeface="標楷體"/>
                          <a:cs typeface="Times New Roman"/>
                        </a:rPr>
                        <a:t>CP</a:t>
                      </a:r>
                      <a:r>
                        <a:rPr lang="zh-TW" altLang="zh-TW" b="1" dirty="0">
                          <a:solidFill>
                            <a:schemeClr val="tx1"/>
                          </a:solidFill>
                          <a:latin typeface="Times New Roman"/>
                          <a:ea typeface="標楷體"/>
                          <a:cs typeface="Times New Roman"/>
                        </a:rPr>
                        <a:t> </a:t>
                      </a:r>
                      <a:r>
                        <a:rPr lang="en-US" altLang="zh-TW" b="1" baseline="0" dirty="0">
                          <a:solidFill>
                            <a:schemeClr val="tx1"/>
                          </a:solidFill>
                          <a:latin typeface="Times New Roman"/>
                          <a:ea typeface="標楷體"/>
                          <a:cs typeface="Times New Roman"/>
                        </a:rPr>
                        <a:t>optimizer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6202349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pPr lvl="0" algn="ctr"/>
                      <a:r>
                        <a:rPr lang="zh-TW" altLang="zh-TW" b="1" dirty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/>
                        </a:rPr>
                        <a:t>結果</a:t>
                      </a:r>
                      <a:r>
                        <a:rPr lang="zh-TW" altLang="en-US" b="1" dirty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/>
                        </a:rPr>
                        <a:t>：</a:t>
                      </a:r>
                      <a:endParaRPr lang="en-US" altLang="zh-TW" b="1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/>
                      </a:endParaRPr>
                    </a:p>
                    <a:p>
                      <a:pPr lvl="0" algn="ctr"/>
                      <a:r>
                        <a:rPr lang="zh-TW" altLang="zh-TW" b="1" dirty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模型</a:t>
                      </a:r>
                      <a:r>
                        <a:rPr lang="zh-TW" altLang="en-US" b="1" dirty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求解</a:t>
                      </a:r>
                      <a:r>
                        <a:rPr lang="zh-TW" altLang="zh-TW" b="1" dirty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比較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6817788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zh-TW" sz="1800" b="1" kern="1200" dirty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/>
                          <a:cs typeface="+mn-cs"/>
                        </a:rPr>
                        <a:t>實務建議與</a:t>
                      </a:r>
                      <a:endParaRPr lang="en-US" altLang="zh-TW" sz="1800" b="1" kern="1200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/>
                        <a:cs typeface="+mn-cs"/>
                      </a:endParaRP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zh-TW" sz="1800" b="1" kern="1200" dirty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/>
                          <a:cs typeface="+mn-cs"/>
                        </a:rPr>
                        <a:t>未來展望</a:t>
                      </a:r>
                      <a:endParaRPr lang="zh-TW" altLang="en-US" sz="1800" b="1" kern="1200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/>
                        <a:cs typeface="+mn-cs"/>
                      </a:endParaRP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1259276"/>
                  </a:ext>
                </a:extLst>
              </a:tr>
            </a:tbl>
          </a:graphicData>
        </a:graphic>
      </p:graphicFrame>
      <p:pic>
        <p:nvPicPr>
          <p:cNvPr id="11" name="圖片 10">
            <a:extLst>
              <a:ext uri="{FF2B5EF4-FFF2-40B4-BE49-F238E27FC236}">
                <a16:creationId xmlns:a16="http://schemas.microsoft.com/office/drawing/2014/main" id="{E3221D83-8F8E-FB22-C656-05D3BF323B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1505" y="1497720"/>
            <a:ext cx="6519621" cy="2424530"/>
          </a:xfrm>
          <a:prstGeom prst="rect">
            <a:avLst/>
          </a:prstGeom>
        </p:spPr>
      </p:pic>
      <p:sp>
        <p:nvSpPr>
          <p:cNvPr id="14" name="文字方塊 13">
            <a:extLst>
              <a:ext uri="{FF2B5EF4-FFF2-40B4-BE49-F238E27FC236}">
                <a16:creationId xmlns:a16="http://schemas.microsoft.com/office/drawing/2014/main" id="{47EBF48E-84C5-B5F0-FD00-C91635AA9051}"/>
              </a:ext>
            </a:extLst>
          </p:cNvPr>
          <p:cNvSpPr txBox="1"/>
          <p:nvPr/>
        </p:nvSpPr>
        <p:spPr>
          <a:xfrm>
            <a:off x="7401602" y="1847164"/>
            <a:ext cx="3068516" cy="971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fontAlgn="base">
              <a:lnSpc>
                <a:spcPct val="170000"/>
              </a:lnSpc>
            </a:pPr>
            <a:r>
              <a:rPr lang="zh-TW" altLang="en-US" sz="1800" dirty="0">
                <a:latin typeface="Times New Roman" panose="02020603050405020304" pitchFamily="18" charset="0"/>
                <a:ea typeface="標楷體" panose="03000509000000000000" pitchFamily="65" charset="-120"/>
              </a:rPr>
              <a:t>排程結果以</a:t>
            </a:r>
            <a:r>
              <a:rPr lang="en-US" altLang="zh-TW" sz="1800" dirty="0">
                <a:latin typeface="Times New Roman" panose="02020603050405020304" pitchFamily="18" charset="0"/>
                <a:ea typeface="標楷體" panose="03000509000000000000" pitchFamily="65" charset="-120"/>
              </a:rPr>
              <a:t>excel</a:t>
            </a:r>
            <a:r>
              <a:rPr lang="zh-TW" altLang="en-US" sz="1800" dirty="0">
                <a:latin typeface="Times New Roman" panose="02020603050405020304" pitchFamily="18" charset="0"/>
                <a:ea typeface="標楷體" panose="03000509000000000000" pitchFamily="65" charset="-120"/>
              </a:rPr>
              <a:t>輸出，涵蓋各任務的各項細節</a:t>
            </a:r>
            <a:endParaRPr lang="en-US" altLang="zh-TW" sz="18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CD3136B5-4224-4B37-D779-6B33C7620404}"/>
              </a:ext>
            </a:extLst>
          </p:cNvPr>
          <p:cNvSpPr txBox="1"/>
          <p:nvPr/>
        </p:nvSpPr>
        <p:spPr>
          <a:xfrm>
            <a:off x="7401602" y="4720164"/>
            <a:ext cx="3068516" cy="971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fontAlgn="base">
              <a:lnSpc>
                <a:spcPct val="170000"/>
              </a:lnSpc>
            </a:pPr>
            <a:r>
              <a:rPr lang="zh-TW" altLang="en-US" sz="1800" dirty="0">
                <a:latin typeface="Times New Roman" panose="02020603050405020304" pitchFamily="18" charset="0"/>
                <a:ea typeface="標楷體" panose="03000509000000000000" pitchFamily="65" charset="-120"/>
              </a:rPr>
              <a:t>可輸出甘特圖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，視覺化排程結果</a:t>
            </a:r>
            <a:endParaRPr lang="en-US" altLang="zh-TW" sz="18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5696661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9F6EC0-23BB-BE44-AD46-64B6645112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E7008E5-394E-129E-CE1A-6A6E064542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9067557" cy="1320800"/>
          </a:xfrm>
        </p:spPr>
        <p:txBody>
          <a:bodyPr>
            <a:normAutofit/>
          </a:bodyPr>
          <a:lstStyle/>
          <a:p>
            <a:r>
              <a:rPr kumimoji="1"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4.</a:t>
            </a:r>
            <a:r>
              <a:rPr kumimoji="1" lang="zh-TW" altLang="en-US" b="1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 </a:t>
            </a:r>
            <a:r>
              <a:rPr kumimoji="1" lang="zh-TW" altLang="zh-TW" b="1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模型</a:t>
            </a:r>
            <a:r>
              <a:rPr kumimoji="1" lang="zh-TW" altLang="en-US" b="1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效能比較</a:t>
            </a:r>
            <a:r>
              <a:rPr kumimoji="1"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– </a:t>
            </a:r>
            <a:r>
              <a:rPr kumimoji="1" lang="zh-TW" altLang="en-US" b="1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基於到達穩定解的時間</a:t>
            </a:r>
            <a:br>
              <a:rPr kumimoji="1"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</a:br>
            <a:endParaRPr kumimoji="1" lang="zh-TW" altLang="en-US" b="1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8" name="AutoShape 2" descr="輸出圖像">
            <a:extLst>
              <a:ext uri="{FF2B5EF4-FFF2-40B4-BE49-F238E27FC236}">
                <a16:creationId xmlns:a16="http://schemas.microsoft.com/office/drawing/2014/main" id="{D3B36BA4-4CE7-62DF-0F0C-058E949DDDE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24" name="內容版面配置區 2">
            <a:extLst>
              <a:ext uri="{FF2B5EF4-FFF2-40B4-BE49-F238E27FC236}">
                <a16:creationId xmlns:a16="http://schemas.microsoft.com/office/drawing/2014/main" id="{10D6386E-6850-A0F2-2811-B0FE1B6BDB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3897" y="1463040"/>
            <a:ext cx="11644206" cy="5486399"/>
          </a:xfrm>
        </p:spPr>
        <p:txBody>
          <a:bodyPr>
            <a:normAutofit/>
          </a:bodyPr>
          <a:lstStyle/>
          <a:p>
            <a:pPr lvl="1">
              <a:lnSpc>
                <a:spcPct val="170000"/>
              </a:lnSpc>
            </a:pPr>
            <a:r>
              <a:rPr lang="zh-TW" altLang="en-US" sz="2600" dirty="0">
                <a:latin typeface="Times New Roman" panose="02020603050405020304" pitchFamily="18" charset="0"/>
                <a:ea typeface="標楷體" panose="03000509000000000000" pitchFamily="65" charset="-120"/>
              </a:rPr>
              <a:t>設定運行時間</a:t>
            </a:r>
            <a:endParaRPr lang="en-US" altLang="zh-TW" sz="26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lvl="2" fontAlgn="base">
              <a:lnSpc>
                <a:spcPct val="170000"/>
              </a:lnSpc>
            </a:pP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 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最大運行時間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600 (sec)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，觀察求解到達穩定狀況的時間</a:t>
            </a:r>
            <a:endParaRPr lang="en-US" altLang="zh-TW" sz="24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lvl="1" fontAlgn="base">
              <a:lnSpc>
                <a:spcPct val="170000"/>
              </a:lnSpc>
            </a:pPr>
            <a:r>
              <a:rPr lang="zh-TW" altLang="en-US" sz="2600" dirty="0">
                <a:latin typeface="Times New Roman" panose="02020603050405020304" pitchFamily="18" charset="0"/>
                <a:ea typeface="標楷體" panose="03000509000000000000" pitchFamily="65" charset="-120"/>
              </a:rPr>
              <a:t>六組不同數量測資 </a:t>
            </a:r>
            <a:r>
              <a:rPr lang="en-US" altLang="zh-TW" sz="2600" dirty="0">
                <a:latin typeface="Times New Roman" panose="02020603050405020304" pitchFamily="18" charset="0"/>
                <a:ea typeface="標楷體" panose="03000509000000000000" pitchFamily="65" charset="-120"/>
              </a:rPr>
              <a:t>(</a:t>
            </a:r>
            <a:r>
              <a:rPr lang="zh-TW" altLang="en-US" sz="2600" dirty="0">
                <a:latin typeface="Times New Roman" panose="02020603050405020304" pitchFamily="18" charset="0"/>
                <a:ea typeface="標楷體" panose="03000509000000000000" pitchFamily="65" charset="-120"/>
              </a:rPr>
              <a:t>各組任務不重複</a:t>
            </a:r>
            <a:r>
              <a:rPr lang="en-US" altLang="zh-TW" sz="2600" dirty="0">
                <a:latin typeface="Times New Roman" panose="02020603050405020304" pitchFamily="18" charset="0"/>
                <a:ea typeface="標楷體" panose="03000509000000000000" pitchFamily="65" charset="-120"/>
              </a:rPr>
              <a:t>)</a:t>
            </a:r>
          </a:p>
          <a:p>
            <a:pPr lvl="2" fontAlgn="base">
              <a:lnSpc>
                <a:spcPct val="170000"/>
              </a:lnSpc>
            </a:pP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small_1,small_2 (61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/ 69)</a:t>
            </a:r>
          </a:p>
          <a:p>
            <a:pPr lvl="2" fontAlgn="base">
              <a:lnSpc>
                <a:spcPct val="170000"/>
              </a:lnSpc>
            </a:pP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 medium_1, medium_2 (104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/ 112)</a:t>
            </a:r>
          </a:p>
          <a:p>
            <a:pPr lvl="2" fontAlgn="base">
              <a:lnSpc>
                <a:spcPct val="170000"/>
              </a:lnSpc>
            </a:pP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 large_1, large_2 (193 / 266)</a:t>
            </a:r>
          </a:p>
          <a:p>
            <a:pPr marR="0" lvl="1" fontAlgn="base">
              <a:lnSpc>
                <a:spcPct val="170000"/>
              </a:lnSpc>
              <a:tabLst/>
            </a:pPr>
            <a:endParaRPr lang="zh-TW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DD3D4F3C-4EC1-9939-E21D-B19ADE2E3D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1115904"/>
              </p:ext>
            </p:extLst>
          </p:nvPr>
        </p:nvGraphicFramePr>
        <p:xfrm>
          <a:off x="10636899" y="0"/>
          <a:ext cx="1555100" cy="685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5100">
                  <a:extLst>
                    <a:ext uri="{9D8B030D-6E8A-4147-A177-3AD203B41FA5}">
                      <a16:colId xmlns:a16="http://schemas.microsoft.com/office/drawing/2014/main" val="1048587396"/>
                    </a:ext>
                  </a:extLst>
                </a:gridCol>
              </a:tblGrid>
              <a:tr h="137160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zh-TW" b="1" dirty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/>
                        </a:rPr>
                        <a:t>問題背景與</a:t>
                      </a:r>
                      <a:endParaRPr lang="en-US" altLang="zh-TW" b="1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/>
                      </a:endParaRP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zh-TW" b="1" dirty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/>
                        </a:rPr>
                        <a:t>挑戰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491059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zh-TW" sz="1800" b="1" kern="1200" dirty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/>
                          <a:cs typeface="+mn-cs"/>
                        </a:rPr>
                        <a:t>模型一</a:t>
                      </a:r>
                      <a:r>
                        <a:rPr lang="zh-TW" altLang="en-US" b="1" dirty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/>
                        </a:rPr>
                        <a:t>：</a:t>
                      </a:r>
                      <a:endParaRPr lang="en-US" altLang="zh-TW" sz="1800" b="1" kern="1200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/>
                        <a:cs typeface="+mn-cs"/>
                      </a:endParaRP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/>
                          <a:cs typeface="Times New Roman" panose="02020603050405020304" pitchFamily="18" charset="0"/>
                        </a:rPr>
                        <a:t>MILP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6077213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pPr lvl="0" algn="ctr"/>
                      <a:r>
                        <a:rPr lang="zh-TW" altLang="zh-TW" b="1" dirty="0">
                          <a:solidFill>
                            <a:schemeClr val="tx1"/>
                          </a:solidFill>
                          <a:latin typeface="Times New Roman"/>
                          <a:ea typeface="標楷體"/>
                          <a:cs typeface="Times New Roman"/>
                        </a:rPr>
                        <a:t>模型二</a:t>
                      </a:r>
                      <a:r>
                        <a:rPr lang="zh-TW" altLang="en-US" b="1" dirty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/>
                        </a:rPr>
                        <a:t>：</a:t>
                      </a:r>
                      <a:endParaRPr lang="en-US" altLang="zh-TW" b="1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/>
                        <a:cs typeface="+mn-cs"/>
                      </a:endParaRPr>
                    </a:p>
                    <a:p>
                      <a:pPr lvl="0"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/>
                          <a:ea typeface="標楷體"/>
                          <a:cs typeface="Times New Roman"/>
                        </a:rPr>
                        <a:t>CP</a:t>
                      </a:r>
                      <a:r>
                        <a:rPr lang="zh-TW" altLang="zh-TW" b="1" dirty="0">
                          <a:solidFill>
                            <a:schemeClr val="tx1"/>
                          </a:solidFill>
                          <a:latin typeface="Times New Roman"/>
                          <a:ea typeface="標楷體"/>
                          <a:cs typeface="Times New Roman"/>
                        </a:rPr>
                        <a:t> </a:t>
                      </a:r>
                      <a:r>
                        <a:rPr lang="en-US" altLang="zh-TW" b="1" baseline="0" dirty="0">
                          <a:solidFill>
                            <a:schemeClr val="tx1"/>
                          </a:solidFill>
                          <a:latin typeface="Times New Roman"/>
                          <a:ea typeface="標楷體"/>
                          <a:cs typeface="Times New Roman"/>
                        </a:rPr>
                        <a:t>optimizer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6202349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pPr lvl="0" algn="ctr"/>
                      <a:r>
                        <a:rPr lang="zh-TW" altLang="zh-TW" b="1" dirty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/>
                        </a:rPr>
                        <a:t>結果</a:t>
                      </a:r>
                      <a:r>
                        <a:rPr lang="zh-TW" altLang="en-US" b="1" dirty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/>
                        </a:rPr>
                        <a:t>：</a:t>
                      </a:r>
                      <a:endParaRPr lang="en-US" altLang="zh-TW" b="1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/>
                      </a:endParaRPr>
                    </a:p>
                    <a:p>
                      <a:pPr lvl="0" algn="ctr"/>
                      <a:r>
                        <a:rPr lang="zh-TW" altLang="zh-TW" b="1" dirty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模型</a:t>
                      </a:r>
                      <a:r>
                        <a:rPr lang="zh-TW" altLang="en-US" b="1" dirty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求解</a:t>
                      </a:r>
                      <a:r>
                        <a:rPr lang="zh-TW" altLang="zh-TW" b="1" dirty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比較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6817788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zh-TW" sz="1800" b="1" kern="1200" dirty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/>
                          <a:cs typeface="+mn-cs"/>
                        </a:rPr>
                        <a:t>實務建議與</a:t>
                      </a:r>
                      <a:endParaRPr lang="en-US" altLang="zh-TW" sz="1800" b="1" kern="1200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/>
                        <a:cs typeface="+mn-cs"/>
                      </a:endParaRP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zh-TW" sz="1800" b="1" kern="1200" dirty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/>
                          <a:cs typeface="+mn-cs"/>
                        </a:rPr>
                        <a:t>未來展望</a:t>
                      </a:r>
                      <a:endParaRPr lang="zh-TW" altLang="en-US" sz="1800" b="1" kern="1200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/>
                        <a:cs typeface="+mn-cs"/>
                      </a:endParaRP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12592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566948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F50718-907E-070B-2DAF-55E5D8383A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表格 17">
            <a:extLst>
              <a:ext uri="{FF2B5EF4-FFF2-40B4-BE49-F238E27FC236}">
                <a16:creationId xmlns:a16="http://schemas.microsoft.com/office/drawing/2014/main" id="{C3D37365-B70F-F201-E077-D03D7FC78E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7652445"/>
              </p:ext>
            </p:extLst>
          </p:nvPr>
        </p:nvGraphicFramePr>
        <p:xfrm>
          <a:off x="10636899" y="0"/>
          <a:ext cx="1555100" cy="685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5100">
                  <a:extLst>
                    <a:ext uri="{9D8B030D-6E8A-4147-A177-3AD203B41FA5}">
                      <a16:colId xmlns:a16="http://schemas.microsoft.com/office/drawing/2014/main" val="1048587396"/>
                    </a:ext>
                  </a:extLst>
                </a:gridCol>
              </a:tblGrid>
              <a:tr h="137160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zh-TW" b="1" dirty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/>
                        </a:rPr>
                        <a:t>問題背景與</a:t>
                      </a:r>
                      <a:endParaRPr lang="en-US" altLang="zh-TW" b="1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/>
                      </a:endParaRP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zh-TW" b="1" dirty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/>
                        </a:rPr>
                        <a:t>挑戰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491059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zh-TW" sz="1800" b="1" kern="1200" dirty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/>
                          <a:cs typeface="+mn-cs"/>
                        </a:rPr>
                        <a:t>模型一</a:t>
                      </a:r>
                      <a:r>
                        <a:rPr lang="zh-TW" altLang="en-US" b="1" dirty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/>
                        </a:rPr>
                        <a:t>：</a:t>
                      </a:r>
                      <a:endParaRPr lang="en-US" altLang="zh-TW" sz="1800" b="1" kern="1200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/>
                        <a:cs typeface="+mn-cs"/>
                      </a:endParaRP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/>
                          <a:cs typeface="Times New Roman" panose="02020603050405020304" pitchFamily="18" charset="0"/>
                        </a:rPr>
                        <a:t>MILP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6077213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pPr lvl="0" algn="ctr"/>
                      <a:r>
                        <a:rPr lang="zh-TW" altLang="zh-TW" b="1" dirty="0">
                          <a:solidFill>
                            <a:schemeClr val="tx1"/>
                          </a:solidFill>
                          <a:latin typeface="Times New Roman"/>
                          <a:ea typeface="標楷體"/>
                          <a:cs typeface="Times New Roman"/>
                        </a:rPr>
                        <a:t>模型二</a:t>
                      </a:r>
                      <a:r>
                        <a:rPr lang="zh-TW" altLang="en-US" b="1" dirty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/>
                        </a:rPr>
                        <a:t>：</a:t>
                      </a:r>
                      <a:endParaRPr lang="en-US" altLang="zh-TW" b="1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/>
                        <a:cs typeface="+mn-cs"/>
                      </a:endParaRPr>
                    </a:p>
                    <a:p>
                      <a:pPr lvl="0"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/>
                          <a:ea typeface="標楷體"/>
                          <a:cs typeface="Times New Roman"/>
                        </a:rPr>
                        <a:t>CP</a:t>
                      </a:r>
                      <a:r>
                        <a:rPr lang="zh-TW" altLang="zh-TW" b="1" dirty="0">
                          <a:solidFill>
                            <a:schemeClr val="tx1"/>
                          </a:solidFill>
                          <a:latin typeface="Times New Roman"/>
                          <a:ea typeface="標楷體"/>
                          <a:cs typeface="Times New Roman"/>
                        </a:rPr>
                        <a:t> </a:t>
                      </a:r>
                      <a:r>
                        <a:rPr lang="en-US" altLang="zh-TW" b="1" baseline="0" dirty="0">
                          <a:solidFill>
                            <a:schemeClr val="tx1"/>
                          </a:solidFill>
                          <a:latin typeface="Times New Roman"/>
                          <a:ea typeface="標楷體"/>
                          <a:cs typeface="Times New Roman"/>
                        </a:rPr>
                        <a:t>optimizer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6202349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pPr lvl="0" algn="ctr"/>
                      <a:r>
                        <a:rPr lang="zh-TW" altLang="zh-TW" b="1" dirty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/>
                        </a:rPr>
                        <a:t>結果</a:t>
                      </a:r>
                      <a:r>
                        <a:rPr lang="zh-TW" altLang="en-US" b="1" dirty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/>
                        </a:rPr>
                        <a:t>：</a:t>
                      </a:r>
                      <a:endParaRPr lang="en-US" altLang="zh-TW" b="1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/>
                      </a:endParaRPr>
                    </a:p>
                    <a:p>
                      <a:pPr lvl="0" algn="ctr"/>
                      <a:r>
                        <a:rPr lang="zh-TW" altLang="zh-TW" b="1" dirty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模型</a:t>
                      </a:r>
                      <a:r>
                        <a:rPr lang="zh-TW" altLang="en-US" b="1" dirty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求解</a:t>
                      </a:r>
                      <a:r>
                        <a:rPr lang="zh-TW" altLang="zh-TW" b="1" dirty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比較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6817788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zh-TW" sz="1800" b="1" kern="1200" dirty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/>
                          <a:cs typeface="+mn-cs"/>
                        </a:rPr>
                        <a:t>實務建議與</a:t>
                      </a:r>
                      <a:endParaRPr lang="en-US" altLang="zh-TW" sz="1800" b="1" kern="1200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/>
                        <a:cs typeface="+mn-cs"/>
                      </a:endParaRP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zh-TW" sz="1800" b="1" kern="1200" dirty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/>
                          <a:cs typeface="+mn-cs"/>
                        </a:rPr>
                        <a:t>未來展望</a:t>
                      </a:r>
                      <a:endParaRPr lang="zh-TW" altLang="en-US" sz="1800" b="1" kern="1200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/>
                        <a:cs typeface="+mn-cs"/>
                      </a:endParaRP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1259276"/>
                  </a:ext>
                </a:extLst>
              </a:tr>
            </a:tbl>
          </a:graphicData>
        </a:graphic>
      </p:graphicFrame>
      <p:pic>
        <p:nvPicPr>
          <p:cNvPr id="2" name="圖片 1">
            <a:extLst>
              <a:ext uri="{FF2B5EF4-FFF2-40B4-BE49-F238E27FC236}">
                <a16:creationId xmlns:a16="http://schemas.microsoft.com/office/drawing/2014/main" id="{67E015E5-7138-EF49-F25F-0409853B20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9085" y="3291841"/>
            <a:ext cx="4221689" cy="2473234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1E9CF44E-E9A4-B72A-FFCF-8B516C40B128}"/>
              </a:ext>
            </a:extLst>
          </p:cNvPr>
          <p:cNvSpPr txBox="1"/>
          <p:nvPr/>
        </p:nvSpPr>
        <p:spPr>
          <a:xfrm>
            <a:off x="548625" y="265810"/>
            <a:ext cx="10020921" cy="1451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TW" sz="3600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4.</a:t>
            </a:r>
            <a:r>
              <a:rPr kumimoji="1" lang="zh-TW" altLang="en-US" sz="3600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 </a:t>
            </a:r>
            <a:r>
              <a:rPr kumimoji="1" lang="zh-TW" altLang="zh-TW" sz="3600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模型效能比較</a:t>
            </a:r>
            <a:r>
              <a:rPr kumimoji="1" lang="en-US" altLang="zh-TW" sz="3600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-</a:t>
            </a:r>
            <a:r>
              <a:rPr kumimoji="1" lang="zh-TW" altLang="en-US" sz="3600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 </a:t>
            </a:r>
            <a:r>
              <a:rPr lang="zh-TW" altLang="en-US" sz="26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針對不同測資到達穩定狀況的時間</a:t>
            </a:r>
          </a:p>
          <a:p>
            <a:pPr>
              <a:lnSpc>
                <a:spcPct val="150000"/>
              </a:lnSpc>
            </a:pPr>
            <a:endParaRPr lang="zh-TW" altLang="en-US" sz="2600" b="1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F69404A9-F949-B937-F992-50B66BCA6A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5470989"/>
              </p:ext>
            </p:extLst>
          </p:nvPr>
        </p:nvGraphicFramePr>
        <p:xfrm>
          <a:off x="548625" y="1419497"/>
          <a:ext cx="4772311" cy="4598133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713343">
                  <a:extLst>
                    <a:ext uri="{9D8B030D-6E8A-4147-A177-3AD203B41FA5}">
                      <a16:colId xmlns:a16="http://schemas.microsoft.com/office/drawing/2014/main" val="4156249495"/>
                    </a:ext>
                  </a:extLst>
                </a:gridCol>
                <a:gridCol w="657369">
                  <a:extLst>
                    <a:ext uri="{9D8B030D-6E8A-4147-A177-3AD203B41FA5}">
                      <a16:colId xmlns:a16="http://schemas.microsoft.com/office/drawing/2014/main" val="2944898682"/>
                    </a:ext>
                  </a:extLst>
                </a:gridCol>
                <a:gridCol w="989023">
                  <a:extLst>
                    <a:ext uri="{9D8B030D-6E8A-4147-A177-3AD203B41FA5}">
                      <a16:colId xmlns:a16="http://schemas.microsoft.com/office/drawing/2014/main" val="254597774"/>
                    </a:ext>
                  </a:extLst>
                </a:gridCol>
                <a:gridCol w="737429">
                  <a:extLst>
                    <a:ext uri="{9D8B030D-6E8A-4147-A177-3AD203B41FA5}">
                      <a16:colId xmlns:a16="http://schemas.microsoft.com/office/drawing/2014/main" val="3232792752"/>
                    </a:ext>
                  </a:extLst>
                </a:gridCol>
                <a:gridCol w="971671">
                  <a:extLst>
                    <a:ext uri="{9D8B030D-6E8A-4147-A177-3AD203B41FA5}">
                      <a16:colId xmlns:a16="http://schemas.microsoft.com/office/drawing/2014/main" val="912538377"/>
                    </a:ext>
                  </a:extLst>
                </a:gridCol>
                <a:gridCol w="703476">
                  <a:extLst>
                    <a:ext uri="{9D8B030D-6E8A-4147-A177-3AD203B41FA5}">
                      <a16:colId xmlns:a16="http://schemas.microsoft.com/office/drawing/2014/main" val="2539510174"/>
                    </a:ext>
                  </a:extLst>
                </a:gridCol>
              </a:tblGrid>
              <a:tr h="22544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</a:t>
                      </a:r>
                      <a:endParaRPr lang="en-US" sz="1200" b="1" i="0" u="none" strike="noStrike" dirty="0"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  <a:endParaRPr lang="en-US" sz="1200" b="1" i="0" u="none" strike="noStrike" dirty="0"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status</a:t>
                      </a:r>
                      <a:endParaRPr lang="en-US" sz="1200" b="1" i="0" u="none" strike="noStrike" dirty="0"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solvetime</a:t>
                      </a:r>
                      <a:endParaRPr lang="en-US" sz="1200" b="1" i="0" u="none" strike="noStrike" dirty="0"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objective</a:t>
                      </a:r>
                      <a:endParaRPr lang="en-US" sz="1200" b="1" i="0" u="none" strike="noStrike" dirty="0"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task ratio</a:t>
                      </a:r>
                      <a:endParaRPr lang="en-US" sz="1200" b="1" i="0" u="none" strike="noStrike" dirty="0"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7739126"/>
                  </a:ext>
                </a:extLst>
              </a:tr>
              <a:tr h="22544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small_1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MILP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optimal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24.41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36320.43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100%</a:t>
                      </a:r>
                      <a:endParaRPr lang="en-US" altLang="zh-TW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562394246"/>
                  </a:ext>
                </a:extLst>
              </a:tr>
              <a:tr h="26301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zh-TW" alt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CP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optimal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2.51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36320.43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100%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17829143"/>
                  </a:ext>
                </a:extLst>
              </a:tr>
              <a:tr h="22544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diff ratio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altLang="en-US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　</a:t>
                      </a:r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873%</a:t>
                      </a:r>
                      <a:endParaRPr lang="en-US" altLang="zh-TW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0%</a:t>
                      </a:r>
                      <a:endParaRPr lang="en-US" altLang="zh-TW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0%</a:t>
                      </a:r>
                      <a:endParaRPr lang="en-US" altLang="zh-TW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4275730"/>
                  </a:ext>
                </a:extLst>
              </a:tr>
              <a:tr h="22544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small_2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MILP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best feasible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1.03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41195.7</a:t>
                      </a:r>
                      <a:endParaRPr lang="en-US" altLang="zh-TW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100%</a:t>
                      </a:r>
                      <a:endParaRPr lang="en-US" altLang="zh-TW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850641369"/>
                  </a:ext>
                </a:extLst>
              </a:tr>
              <a:tr h="28735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zh-TW" alt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CP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optimal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1.2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41195.7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100%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17165663"/>
                  </a:ext>
                </a:extLst>
              </a:tr>
              <a:tr h="22544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diff ratio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altLang="en-US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　</a:t>
                      </a:r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-14%</a:t>
                      </a:r>
                      <a:endParaRPr lang="en-US" altLang="zh-TW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0%</a:t>
                      </a:r>
                      <a:endParaRPr lang="en-US" altLang="zh-TW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0%</a:t>
                      </a:r>
                      <a:endParaRPr lang="en-US" altLang="zh-TW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5918690"/>
                  </a:ext>
                </a:extLst>
              </a:tr>
              <a:tr h="22544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medium_1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MILP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best feasible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169.05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61631.99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100%</a:t>
                      </a:r>
                      <a:endParaRPr lang="en-US" altLang="zh-TW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8690152"/>
                  </a:ext>
                </a:extLst>
              </a:tr>
              <a:tr h="27113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zh-TW" alt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CP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best feasible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3.29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61635.44</a:t>
                      </a:r>
                      <a:endParaRPr lang="en-US" altLang="zh-TW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100%</a:t>
                      </a:r>
                      <a:endParaRPr lang="en-US" altLang="zh-TW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1320874"/>
                  </a:ext>
                </a:extLst>
              </a:tr>
              <a:tr h="22544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diff ratio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altLang="en-US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　</a:t>
                      </a:r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5038%</a:t>
                      </a:r>
                      <a:endParaRPr lang="en-US" altLang="zh-TW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0%</a:t>
                      </a:r>
                      <a:endParaRPr lang="en-US" altLang="zh-TW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0%</a:t>
                      </a:r>
                      <a:endParaRPr lang="en-US" altLang="zh-TW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5076675"/>
                  </a:ext>
                </a:extLst>
              </a:tr>
              <a:tr h="22544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medium_2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MILP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stable feasible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60.11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65970.06</a:t>
                      </a:r>
                      <a:endParaRPr lang="en-US" altLang="zh-TW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99%</a:t>
                      </a:r>
                      <a:endParaRPr lang="en-US" altLang="zh-TW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6099914"/>
                  </a:ext>
                </a:extLst>
              </a:tr>
              <a:tr h="27924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zh-TW" alt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CP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best feasible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2.74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66586.42</a:t>
                      </a:r>
                      <a:endParaRPr lang="en-US" altLang="zh-TW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100%</a:t>
                      </a:r>
                      <a:endParaRPr lang="en-US" altLang="zh-TW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2502613"/>
                  </a:ext>
                </a:extLst>
              </a:tr>
              <a:tr h="22544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diff ratio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altLang="en-US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　</a:t>
                      </a:r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2094%</a:t>
                      </a:r>
                      <a:endParaRPr lang="en-US" altLang="zh-TW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1%</a:t>
                      </a:r>
                      <a:endParaRPr lang="en-US" altLang="zh-TW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1%</a:t>
                      </a:r>
                      <a:endParaRPr lang="en-US" altLang="zh-TW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973945"/>
                  </a:ext>
                </a:extLst>
              </a:tr>
              <a:tr h="22544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large_1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MILP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stable feasible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110.8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105086.22</a:t>
                      </a:r>
                      <a:endParaRPr lang="en-US" altLang="zh-TW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92%</a:t>
                      </a:r>
                      <a:endParaRPr lang="en-US" altLang="zh-TW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8986924"/>
                  </a:ext>
                </a:extLst>
              </a:tr>
              <a:tr h="29546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zh-TW" alt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CP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best feasible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18.27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114383.8</a:t>
                      </a:r>
                      <a:endParaRPr lang="en-US" altLang="zh-TW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100%</a:t>
                      </a:r>
                      <a:endParaRPr lang="en-US" altLang="zh-TW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2965857"/>
                  </a:ext>
                </a:extLst>
              </a:tr>
              <a:tr h="22544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diff ratio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altLang="en-US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　</a:t>
                      </a:r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506%</a:t>
                      </a:r>
                      <a:endParaRPr lang="en-US" altLang="zh-TW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8%</a:t>
                      </a:r>
                      <a:endParaRPr lang="en-US" altLang="zh-TW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8%</a:t>
                      </a:r>
                      <a:endParaRPr lang="en-US" altLang="zh-TW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6215889"/>
                  </a:ext>
                </a:extLst>
              </a:tr>
              <a:tr h="22544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large_2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MILP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stable feasible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97.67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144682.57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92%</a:t>
                      </a:r>
                      <a:endParaRPr lang="en-US" altLang="zh-TW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108400"/>
                  </a:ext>
                </a:extLst>
              </a:tr>
              <a:tr h="27113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zh-TW" alt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CP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best feasible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8.45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150674.1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96%</a:t>
                      </a:r>
                      <a:endParaRPr lang="en-US" altLang="zh-TW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1185570"/>
                  </a:ext>
                </a:extLst>
              </a:tr>
              <a:tr h="22544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diff ratio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altLang="en-US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　</a:t>
                      </a:r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1056%</a:t>
                      </a:r>
                      <a:endParaRPr lang="en-US" altLang="zh-TW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4%</a:t>
                      </a:r>
                      <a:endParaRPr lang="en-US" altLang="zh-TW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4%</a:t>
                      </a:r>
                      <a:endParaRPr lang="en-US" altLang="zh-TW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2607704"/>
                  </a:ext>
                </a:extLst>
              </a:tr>
            </a:tbl>
          </a:graphicData>
        </a:graphic>
      </p:graphicFrame>
      <p:sp>
        <p:nvSpPr>
          <p:cNvPr id="3" name="文字方塊 2">
            <a:extLst>
              <a:ext uri="{FF2B5EF4-FFF2-40B4-BE49-F238E27FC236}">
                <a16:creationId xmlns:a16="http://schemas.microsoft.com/office/drawing/2014/main" id="{89BC48F2-8F45-0393-DECF-762B5E43D67F}"/>
              </a:ext>
            </a:extLst>
          </p:cNvPr>
          <p:cNvSpPr txBox="1"/>
          <p:nvPr/>
        </p:nvSpPr>
        <p:spPr>
          <a:xfrm>
            <a:off x="5770109" y="2135301"/>
            <a:ext cx="401066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altLang="zh-TW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Optimal:		</a:t>
            </a:r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系統判定的全域最佳解</a:t>
            </a:r>
            <a:endParaRPr lang="en-US" altLang="zh-TW" sz="1400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altLang="zh-TW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 feasible:	</a:t>
            </a:r>
            <a:r>
              <a:rPr lang="en-US" altLang="zh-TW" sz="1400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600</a:t>
            </a:r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秒內能跑出的最佳解</a:t>
            </a:r>
            <a:endParaRPr lang="en-US" altLang="zh-TW" sz="1400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altLang="zh-TW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Stable feasible</a:t>
            </a:r>
            <a:r>
              <a:rPr lang="zh-TW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	</a:t>
            </a:r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穩定解</a:t>
            </a:r>
            <a:r>
              <a:rPr lang="en-US" altLang="zh-TW" sz="1400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後</a:t>
            </a:r>
            <a:r>
              <a:rPr lang="en-US" altLang="zh-TW" sz="1400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60</a:t>
            </a:r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秒內沒有更優解</a:t>
            </a:r>
            <a:r>
              <a:rPr lang="en-US" altLang="zh-TW" sz="1400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endParaRPr lang="zh-TW" altLang="en-US" sz="1400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36886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5DD009-3D90-0349-93EE-24170D540B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58DFF22-1944-2949-373E-EC86068992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4.</a:t>
            </a:r>
            <a:r>
              <a:rPr kumimoji="1" lang="zh-TW" altLang="en-US" b="1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 </a:t>
            </a:r>
            <a:r>
              <a:rPr kumimoji="1" lang="zh-TW" altLang="zh-TW" b="1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模型</a:t>
            </a:r>
            <a:r>
              <a:rPr kumimoji="1" lang="zh-TW" altLang="en-US" b="1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求解品質比較</a:t>
            </a:r>
            <a:r>
              <a:rPr kumimoji="1"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– </a:t>
            </a:r>
            <a:r>
              <a:rPr kumimoji="1" lang="zh-TW" altLang="en-US" b="1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基於運行時間限制</a:t>
            </a:r>
            <a:br>
              <a:rPr kumimoji="1"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</a:br>
            <a:endParaRPr kumimoji="1" lang="zh-TW" altLang="en-US" b="1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8" name="AutoShape 2" descr="輸出圖像">
            <a:extLst>
              <a:ext uri="{FF2B5EF4-FFF2-40B4-BE49-F238E27FC236}">
                <a16:creationId xmlns:a16="http://schemas.microsoft.com/office/drawing/2014/main" id="{F6B0A87E-14D0-C308-C60E-9AB2447EFA4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24" name="內容版面配置區 2">
            <a:extLst>
              <a:ext uri="{FF2B5EF4-FFF2-40B4-BE49-F238E27FC236}">
                <a16:creationId xmlns:a16="http://schemas.microsoft.com/office/drawing/2014/main" id="{85113ADC-F3B9-D346-009C-EB91F05292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3897" y="1463040"/>
            <a:ext cx="11644206" cy="5486399"/>
          </a:xfrm>
        </p:spPr>
        <p:txBody>
          <a:bodyPr>
            <a:normAutofit/>
          </a:bodyPr>
          <a:lstStyle/>
          <a:p>
            <a:pPr lvl="1">
              <a:lnSpc>
                <a:spcPct val="170000"/>
              </a:lnSpc>
            </a:pPr>
            <a:r>
              <a:rPr lang="zh-TW" altLang="en-US" sz="2600" dirty="0">
                <a:latin typeface="Times New Roman" panose="02020603050405020304" pitchFamily="18" charset="0"/>
                <a:ea typeface="標楷體" panose="03000509000000000000" pitchFamily="65" charset="-120"/>
              </a:rPr>
              <a:t>設定運行時間</a:t>
            </a:r>
            <a:endParaRPr lang="en-US" altLang="zh-TW" sz="26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lvl="2" fontAlgn="base">
              <a:lnSpc>
                <a:spcPct val="170000"/>
              </a:lnSpc>
            </a:pP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 30,60,120,180,300,600 (sec)</a:t>
            </a:r>
          </a:p>
          <a:p>
            <a:pPr lvl="1" fontAlgn="base">
              <a:lnSpc>
                <a:spcPct val="170000"/>
              </a:lnSpc>
            </a:pPr>
            <a:r>
              <a:rPr lang="zh-TW" altLang="en-US" sz="2600" dirty="0">
                <a:latin typeface="Times New Roman" panose="02020603050405020304" pitchFamily="18" charset="0"/>
                <a:ea typeface="標楷體" panose="03000509000000000000" pitchFamily="65" charset="-120"/>
              </a:rPr>
              <a:t>六組不同數量測資 </a:t>
            </a:r>
            <a:r>
              <a:rPr lang="en-US" altLang="zh-TW" sz="2600" dirty="0">
                <a:latin typeface="Times New Roman" panose="02020603050405020304" pitchFamily="18" charset="0"/>
                <a:ea typeface="標楷體" panose="03000509000000000000" pitchFamily="65" charset="-120"/>
              </a:rPr>
              <a:t>(</a:t>
            </a:r>
            <a:r>
              <a:rPr lang="zh-TW" altLang="en-US" sz="2600" dirty="0">
                <a:latin typeface="Times New Roman" panose="02020603050405020304" pitchFamily="18" charset="0"/>
                <a:ea typeface="標楷體" panose="03000509000000000000" pitchFamily="65" charset="-120"/>
              </a:rPr>
              <a:t>各組任務不重複</a:t>
            </a:r>
            <a:r>
              <a:rPr lang="en-US" altLang="zh-TW" sz="2600" dirty="0">
                <a:latin typeface="Times New Roman" panose="02020603050405020304" pitchFamily="18" charset="0"/>
                <a:ea typeface="標楷體" panose="03000509000000000000" pitchFamily="65" charset="-120"/>
              </a:rPr>
              <a:t>)</a:t>
            </a:r>
          </a:p>
          <a:p>
            <a:pPr lvl="2" fontAlgn="base">
              <a:lnSpc>
                <a:spcPct val="170000"/>
              </a:lnSpc>
            </a:pP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small_1,small_2 (61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/ 69)</a:t>
            </a:r>
          </a:p>
          <a:p>
            <a:pPr lvl="2" fontAlgn="base">
              <a:lnSpc>
                <a:spcPct val="170000"/>
              </a:lnSpc>
            </a:pP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 medium_1, medium_2 (104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/ 112)</a:t>
            </a:r>
          </a:p>
          <a:p>
            <a:pPr lvl="2" fontAlgn="base">
              <a:lnSpc>
                <a:spcPct val="170000"/>
              </a:lnSpc>
            </a:pP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 large_1, large_2 (193 / 266)</a:t>
            </a:r>
          </a:p>
          <a:p>
            <a:pPr marR="0" lvl="1" fontAlgn="base">
              <a:lnSpc>
                <a:spcPct val="170000"/>
              </a:lnSpc>
              <a:tabLst/>
            </a:pPr>
            <a:endParaRPr lang="zh-TW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EE6B971B-7434-438A-5759-F0C1FCDCC4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7111876"/>
              </p:ext>
            </p:extLst>
          </p:nvPr>
        </p:nvGraphicFramePr>
        <p:xfrm>
          <a:off x="10636899" y="0"/>
          <a:ext cx="1555100" cy="685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5100">
                  <a:extLst>
                    <a:ext uri="{9D8B030D-6E8A-4147-A177-3AD203B41FA5}">
                      <a16:colId xmlns:a16="http://schemas.microsoft.com/office/drawing/2014/main" val="1048587396"/>
                    </a:ext>
                  </a:extLst>
                </a:gridCol>
              </a:tblGrid>
              <a:tr h="137160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zh-TW" b="1" dirty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/>
                        </a:rPr>
                        <a:t>問題背景與</a:t>
                      </a:r>
                      <a:endParaRPr lang="en-US" altLang="zh-TW" b="1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/>
                      </a:endParaRP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zh-TW" b="1" dirty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/>
                        </a:rPr>
                        <a:t>挑戰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491059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zh-TW" sz="1800" b="1" kern="1200" dirty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/>
                          <a:cs typeface="+mn-cs"/>
                        </a:rPr>
                        <a:t>模型一</a:t>
                      </a:r>
                      <a:r>
                        <a:rPr lang="zh-TW" altLang="en-US" b="1" dirty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/>
                        </a:rPr>
                        <a:t>：</a:t>
                      </a:r>
                      <a:endParaRPr lang="en-US" altLang="zh-TW" sz="1800" b="1" kern="1200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/>
                        <a:cs typeface="+mn-cs"/>
                      </a:endParaRP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/>
                          <a:cs typeface="Times New Roman" panose="02020603050405020304" pitchFamily="18" charset="0"/>
                        </a:rPr>
                        <a:t>MILP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6077213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pPr lvl="0" algn="ctr"/>
                      <a:r>
                        <a:rPr lang="zh-TW" altLang="zh-TW" b="1" dirty="0">
                          <a:solidFill>
                            <a:schemeClr val="tx1"/>
                          </a:solidFill>
                          <a:latin typeface="Times New Roman"/>
                          <a:ea typeface="標楷體"/>
                          <a:cs typeface="Times New Roman"/>
                        </a:rPr>
                        <a:t>模型二</a:t>
                      </a:r>
                      <a:r>
                        <a:rPr lang="zh-TW" altLang="en-US" b="1" dirty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/>
                        </a:rPr>
                        <a:t>：</a:t>
                      </a:r>
                      <a:endParaRPr lang="en-US" altLang="zh-TW" b="1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/>
                        <a:cs typeface="+mn-cs"/>
                      </a:endParaRPr>
                    </a:p>
                    <a:p>
                      <a:pPr lvl="0"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/>
                          <a:ea typeface="標楷體"/>
                          <a:cs typeface="Times New Roman"/>
                        </a:rPr>
                        <a:t>CP</a:t>
                      </a:r>
                      <a:r>
                        <a:rPr lang="zh-TW" altLang="zh-TW" b="1" dirty="0">
                          <a:solidFill>
                            <a:schemeClr val="tx1"/>
                          </a:solidFill>
                          <a:latin typeface="Times New Roman"/>
                          <a:ea typeface="標楷體"/>
                          <a:cs typeface="Times New Roman"/>
                        </a:rPr>
                        <a:t> </a:t>
                      </a:r>
                      <a:r>
                        <a:rPr lang="en-US" altLang="zh-TW" b="1" baseline="0" dirty="0">
                          <a:solidFill>
                            <a:schemeClr val="tx1"/>
                          </a:solidFill>
                          <a:latin typeface="Times New Roman"/>
                          <a:ea typeface="標楷體"/>
                          <a:cs typeface="Times New Roman"/>
                        </a:rPr>
                        <a:t>optimizer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6202349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pPr lvl="0" algn="ctr"/>
                      <a:r>
                        <a:rPr lang="zh-TW" altLang="zh-TW" b="1" dirty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/>
                        </a:rPr>
                        <a:t>結果</a:t>
                      </a:r>
                      <a:r>
                        <a:rPr lang="zh-TW" altLang="en-US" b="1" dirty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/>
                        </a:rPr>
                        <a:t>：</a:t>
                      </a:r>
                      <a:endParaRPr lang="en-US" altLang="zh-TW" b="1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/>
                      </a:endParaRPr>
                    </a:p>
                    <a:p>
                      <a:pPr lvl="0" algn="ctr"/>
                      <a:r>
                        <a:rPr lang="zh-TW" altLang="zh-TW" b="1" dirty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模型</a:t>
                      </a:r>
                      <a:r>
                        <a:rPr lang="zh-TW" altLang="en-US" b="1" dirty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求解</a:t>
                      </a:r>
                      <a:r>
                        <a:rPr lang="zh-TW" altLang="zh-TW" b="1" dirty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比較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6817788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zh-TW" sz="1800" b="1" kern="1200" dirty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/>
                          <a:cs typeface="+mn-cs"/>
                        </a:rPr>
                        <a:t>實務建議與</a:t>
                      </a:r>
                      <a:endParaRPr lang="en-US" altLang="zh-TW" sz="1800" b="1" kern="1200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/>
                        <a:cs typeface="+mn-cs"/>
                      </a:endParaRP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zh-TW" sz="1800" b="1" kern="1200" dirty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/>
                          <a:cs typeface="+mn-cs"/>
                        </a:rPr>
                        <a:t>未來展望</a:t>
                      </a:r>
                      <a:endParaRPr lang="zh-TW" altLang="en-US" sz="1800" b="1" kern="1200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/>
                        <a:cs typeface="+mn-cs"/>
                      </a:endParaRP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12592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977949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90F6AA-B604-8892-8A66-A5A386E6B4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29D1C7CF-6FEB-3F38-CAB9-B334D262CF41}"/>
              </a:ext>
            </a:extLst>
          </p:cNvPr>
          <p:cNvSpPr txBox="1"/>
          <p:nvPr/>
        </p:nvSpPr>
        <p:spPr>
          <a:xfrm>
            <a:off x="1085538" y="335399"/>
            <a:ext cx="10020921" cy="11000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26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不同 </a:t>
            </a:r>
            <a:r>
              <a:rPr lang="en-US" altLang="zh-TW" sz="26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Time Limit </a:t>
            </a:r>
            <a:r>
              <a:rPr lang="zh-TW" altLang="en-US" sz="26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下的任務完成比例比較（</a:t>
            </a:r>
            <a:r>
              <a:rPr lang="en-US" altLang="zh-TW" sz="26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Tasks/K</a:t>
            </a:r>
            <a:r>
              <a:rPr lang="zh-TW" altLang="en-US" sz="26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）</a:t>
            </a:r>
            <a:endParaRPr lang="en-US" altLang="zh-TW" sz="26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>
              <a:lnSpc>
                <a:spcPct val="150000"/>
              </a:lnSpc>
            </a:pPr>
            <a:r>
              <a:rPr lang="en-US" altLang="zh-TW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(K:</a:t>
            </a:r>
            <a:r>
              <a:rPr lang="zh-TW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輸入的任務總量</a:t>
            </a:r>
            <a:r>
              <a:rPr lang="en-US" altLang="zh-TW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)</a:t>
            </a:r>
            <a:endParaRPr lang="zh-TW" altLang="en-US" sz="20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C2228A32-7FFA-2F25-2201-A2A7BD657AC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6809"/>
          <a:stretch>
            <a:fillRect/>
          </a:stretch>
        </p:blipFill>
        <p:spPr>
          <a:xfrm>
            <a:off x="782513" y="4060879"/>
            <a:ext cx="6745579" cy="2638859"/>
          </a:xfrm>
          <a:prstGeom prst="rect">
            <a:avLst/>
          </a:prstGeom>
        </p:spPr>
      </p:pic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7C4FF915-1E5C-4933-829F-6782DF41A6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1201673"/>
              </p:ext>
            </p:extLst>
          </p:nvPr>
        </p:nvGraphicFramePr>
        <p:xfrm>
          <a:off x="782513" y="1615946"/>
          <a:ext cx="9381397" cy="2205816"/>
        </p:xfrm>
        <a:graphic>
          <a:graphicData uri="http://schemas.openxmlformats.org/drawingml/2006/table">
            <a:tbl>
              <a:tblPr/>
              <a:tblGrid>
                <a:gridCol w="778815">
                  <a:extLst>
                    <a:ext uri="{9D8B030D-6E8A-4147-A177-3AD203B41FA5}">
                      <a16:colId xmlns:a16="http://schemas.microsoft.com/office/drawing/2014/main" val="2135144838"/>
                    </a:ext>
                  </a:extLst>
                </a:gridCol>
                <a:gridCol w="1218978">
                  <a:extLst>
                    <a:ext uri="{9D8B030D-6E8A-4147-A177-3AD203B41FA5}">
                      <a16:colId xmlns:a16="http://schemas.microsoft.com/office/drawing/2014/main" val="776372356"/>
                    </a:ext>
                  </a:extLst>
                </a:gridCol>
                <a:gridCol w="1140398">
                  <a:extLst>
                    <a:ext uri="{9D8B030D-6E8A-4147-A177-3AD203B41FA5}">
                      <a16:colId xmlns:a16="http://schemas.microsoft.com/office/drawing/2014/main" val="320743566"/>
                    </a:ext>
                  </a:extLst>
                </a:gridCol>
                <a:gridCol w="1140398">
                  <a:extLst>
                    <a:ext uri="{9D8B030D-6E8A-4147-A177-3AD203B41FA5}">
                      <a16:colId xmlns:a16="http://schemas.microsoft.com/office/drawing/2014/main" val="3014156978"/>
                    </a:ext>
                  </a:extLst>
                </a:gridCol>
                <a:gridCol w="1140398">
                  <a:extLst>
                    <a:ext uri="{9D8B030D-6E8A-4147-A177-3AD203B41FA5}">
                      <a16:colId xmlns:a16="http://schemas.microsoft.com/office/drawing/2014/main" val="2106374110"/>
                    </a:ext>
                  </a:extLst>
                </a:gridCol>
                <a:gridCol w="813922">
                  <a:extLst>
                    <a:ext uri="{9D8B030D-6E8A-4147-A177-3AD203B41FA5}">
                      <a16:colId xmlns:a16="http://schemas.microsoft.com/office/drawing/2014/main" val="2910170257"/>
                    </a:ext>
                  </a:extLst>
                </a:gridCol>
                <a:gridCol w="1070854">
                  <a:extLst>
                    <a:ext uri="{9D8B030D-6E8A-4147-A177-3AD203B41FA5}">
                      <a16:colId xmlns:a16="http://schemas.microsoft.com/office/drawing/2014/main" val="3873666139"/>
                    </a:ext>
                  </a:extLst>
                </a:gridCol>
                <a:gridCol w="1052546">
                  <a:extLst>
                    <a:ext uri="{9D8B030D-6E8A-4147-A177-3AD203B41FA5}">
                      <a16:colId xmlns:a16="http://schemas.microsoft.com/office/drawing/2014/main" val="1916021214"/>
                    </a:ext>
                  </a:extLst>
                </a:gridCol>
                <a:gridCol w="1025088">
                  <a:extLst>
                    <a:ext uri="{9D8B030D-6E8A-4147-A177-3AD203B41FA5}">
                      <a16:colId xmlns:a16="http://schemas.microsoft.com/office/drawing/2014/main" val="336322640"/>
                    </a:ext>
                  </a:extLst>
                </a:gridCol>
              </a:tblGrid>
              <a:tr h="29960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Instance</a:t>
                      </a:r>
                    </a:p>
                  </a:txBody>
                  <a:tcPr marL="74643" marR="74643" marT="37322" marB="3732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buNone/>
                      </a:pPr>
                      <a:r>
                        <a:rPr lang="en-US" sz="140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Time limit (s)</a:t>
                      </a:r>
                    </a:p>
                  </a:txBody>
                  <a:tcPr marL="74643" marR="74643" marT="37322" marB="3732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buNone/>
                      </a:pPr>
                      <a:r>
                        <a:rPr lang="en-US" sz="140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MILP ratio</a:t>
                      </a:r>
                    </a:p>
                  </a:txBody>
                  <a:tcPr marL="74643" marR="74643" marT="37322" marB="3732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buNone/>
                      </a:pPr>
                      <a:r>
                        <a:rPr lang="en-US" sz="140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CP ratio</a:t>
                      </a:r>
                    </a:p>
                  </a:txBody>
                  <a:tcPr marL="74643" marR="74643" marT="37322" marB="3732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buNone/>
                      </a:pPr>
                      <a:r>
                        <a:rPr lang="el-GR" altLang="zh-TW" sz="1400" b="1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Δ </a:t>
                      </a:r>
                      <a:r>
                        <a:rPr lang="en-US" altLang="zh-TW" sz="1400" b="1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ratio</a:t>
                      </a:r>
                      <a:r>
                        <a:rPr lang="zh-TW" altLang="en-US" sz="1400" b="1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 </a:t>
                      </a:r>
                      <a:r>
                        <a:rPr lang="en-US" altLang="zh-TW" sz="1400" b="1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(%)</a:t>
                      </a:r>
                      <a:r>
                        <a:rPr lang="zh-TW" altLang="en-US" sz="1400" b="1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 </a:t>
                      </a:r>
                      <a:r>
                        <a:rPr lang="en-US" altLang="zh-TW" sz="1400" b="1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(CP-MILP)</a:t>
                      </a:r>
                    </a:p>
                  </a:txBody>
                  <a:tcPr marL="51072" marR="51072" marT="25536" marB="255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buNone/>
                      </a:pPr>
                      <a:r>
                        <a:rPr lang="en-US" sz="140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Instance</a:t>
                      </a:r>
                    </a:p>
                  </a:txBody>
                  <a:tcPr marL="74643" marR="74643" marT="37322" marB="3732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buNone/>
                      </a:pPr>
                      <a:r>
                        <a:rPr lang="en-US" sz="140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MILP ratio</a:t>
                      </a:r>
                    </a:p>
                  </a:txBody>
                  <a:tcPr marL="74643" marR="74643" marT="37322" marB="3732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buNone/>
                      </a:pPr>
                      <a:r>
                        <a:rPr lang="en-US" sz="140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CP ratio</a:t>
                      </a:r>
                    </a:p>
                  </a:txBody>
                  <a:tcPr marL="74643" marR="74643" marT="37322" marB="3732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buNone/>
                      </a:pPr>
                      <a:r>
                        <a:rPr lang="el-GR" sz="1400" b="1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Δ </a:t>
                      </a:r>
                      <a:r>
                        <a:rPr lang="en-US" sz="1400" b="1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ratio</a:t>
                      </a:r>
                      <a:r>
                        <a:rPr lang="zh-TW" altLang="en-US" sz="1400" b="1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 </a:t>
                      </a:r>
                      <a:r>
                        <a:rPr lang="en-US" altLang="zh-TW" sz="1400" b="1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(%)</a:t>
                      </a:r>
                      <a:r>
                        <a:rPr lang="zh-TW" altLang="en-US" sz="1400" b="1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 </a:t>
                      </a:r>
                      <a:r>
                        <a:rPr lang="en-US" altLang="zh-TW" sz="1400" b="1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(CP-MILP)</a:t>
                      </a:r>
                    </a:p>
                  </a:txBody>
                  <a:tcPr marL="51072" marR="51072" marT="25536" marB="255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3377989"/>
                  </a:ext>
                </a:extLst>
              </a:tr>
              <a:tr h="243733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large_1</a:t>
                      </a:r>
                      <a:endParaRPr lang="en-US" altLang="zh-TW" sz="140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marL="74643" marR="74643" marT="37322" marB="3732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buNone/>
                      </a:pPr>
                      <a:r>
                        <a:rPr lang="en-US" altLang="zh-TW" sz="140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30</a:t>
                      </a:r>
                    </a:p>
                  </a:txBody>
                  <a:tcPr marL="74643" marR="74643" marT="37322" marB="3732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0.751</a:t>
                      </a:r>
                    </a:p>
                  </a:txBody>
                  <a:tcPr marL="74643" marR="74643" marT="37322" marB="3732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buNone/>
                      </a:pPr>
                      <a:r>
                        <a:rPr lang="en-US" altLang="zh-TW" sz="140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1.000</a:t>
                      </a:r>
                    </a:p>
                  </a:txBody>
                  <a:tcPr marL="74643" marR="74643" marT="37322" marB="3732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buNone/>
                      </a:pPr>
                      <a:r>
                        <a:rPr lang="en-US" altLang="zh-TW" sz="1400" b="1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+24.870</a:t>
                      </a:r>
                    </a:p>
                  </a:txBody>
                  <a:tcPr marL="51072" marR="51072" marT="25536" marB="255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buNone/>
                      </a:pPr>
                      <a:r>
                        <a:rPr lang="en-US" sz="1400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large_2</a:t>
                      </a:r>
                      <a:endParaRPr lang="en-US" sz="1400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marL="51072" marR="51072" marT="25536" marB="255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buNone/>
                      </a:pPr>
                      <a:r>
                        <a:rPr lang="en-US" altLang="zh-TW" sz="140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0.361</a:t>
                      </a:r>
                    </a:p>
                  </a:txBody>
                  <a:tcPr marL="51072" marR="51072" marT="25536" marB="255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buNone/>
                      </a:pPr>
                      <a:r>
                        <a:rPr lang="en-US" altLang="zh-TW" sz="1400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0.959</a:t>
                      </a:r>
                      <a:endParaRPr lang="en-US" altLang="zh-TW" sz="1400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marL="51072" marR="51072" marT="25536" marB="255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buNone/>
                      </a:pPr>
                      <a:r>
                        <a:rPr lang="en-US" altLang="zh-TW" sz="1400" b="1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+59.774</a:t>
                      </a:r>
                    </a:p>
                  </a:txBody>
                  <a:tcPr marL="51072" marR="51072" marT="25536" marB="255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606864"/>
                  </a:ext>
                </a:extLst>
              </a:tr>
              <a:tr h="243733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large_1</a:t>
                      </a:r>
                    </a:p>
                  </a:txBody>
                  <a:tcPr marL="74643" marR="74643" marT="37322" marB="3732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buNone/>
                      </a:pPr>
                      <a:r>
                        <a:rPr lang="en-US" altLang="zh-TW" sz="140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60</a:t>
                      </a:r>
                    </a:p>
                  </a:txBody>
                  <a:tcPr marL="74643" marR="74643" marT="37322" marB="3732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0.886</a:t>
                      </a:r>
                    </a:p>
                  </a:txBody>
                  <a:tcPr marL="74643" marR="74643" marT="37322" marB="3732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buNone/>
                      </a:pPr>
                      <a:r>
                        <a:rPr lang="en-US" altLang="zh-TW" sz="140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1.000</a:t>
                      </a:r>
                    </a:p>
                  </a:txBody>
                  <a:tcPr marL="74643" marR="74643" marT="37322" marB="3732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buNone/>
                      </a:pPr>
                      <a:r>
                        <a:rPr lang="en-US" altLang="zh-TW" sz="1400" b="1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+11.399</a:t>
                      </a:r>
                    </a:p>
                  </a:txBody>
                  <a:tcPr marL="51072" marR="51072" marT="25536" marB="255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buNone/>
                      </a:pPr>
                      <a:r>
                        <a:rPr lang="en-US" sz="140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large_2</a:t>
                      </a:r>
                    </a:p>
                  </a:txBody>
                  <a:tcPr marL="51072" marR="51072" marT="25536" marB="255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buNone/>
                      </a:pPr>
                      <a:r>
                        <a:rPr lang="en-US" altLang="zh-TW" sz="140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0.361</a:t>
                      </a:r>
                    </a:p>
                  </a:txBody>
                  <a:tcPr marL="51072" marR="51072" marT="25536" marB="255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buNone/>
                      </a:pPr>
                      <a:r>
                        <a:rPr lang="en-US" altLang="zh-TW" sz="140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0.959</a:t>
                      </a:r>
                    </a:p>
                  </a:txBody>
                  <a:tcPr marL="51072" marR="51072" marT="25536" marB="255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buNone/>
                      </a:pPr>
                      <a:r>
                        <a:rPr lang="en-US" altLang="zh-TW" sz="1400" b="1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+59.774</a:t>
                      </a:r>
                    </a:p>
                  </a:txBody>
                  <a:tcPr marL="51072" marR="51072" marT="25536" marB="255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2426654"/>
                  </a:ext>
                </a:extLst>
              </a:tr>
              <a:tr h="243733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large_1</a:t>
                      </a:r>
                    </a:p>
                  </a:txBody>
                  <a:tcPr marL="74643" marR="74643" marT="37322" marB="3732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buNone/>
                      </a:pPr>
                      <a:r>
                        <a:rPr lang="en-US" altLang="zh-TW" sz="1400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120</a:t>
                      </a:r>
                    </a:p>
                  </a:txBody>
                  <a:tcPr marL="74643" marR="74643" marT="37322" marB="3732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0.917</a:t>
                      </a:r>
                    </a:p>
                  </a:txBody>
                  <a:tcPr marL="74643" marR="74643" marT="37322" marB="3732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buNone/>
                      </a:pPr>
                      <a:r>
                        <a:rPr lang="en-US" altLang="zh-TW" sz="140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1.000</a:t>
                      </a:r>
                    </a:p>
                  </a:txBody>
                  <a:tcPr marL="74643" marR="74643" marT="37322" marB="3732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buNone/>
                      </a:pPr>
                      <a:r>
                        <a:rPr lang="en-US" altLang="zh-TW" sz="1400" b="1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+8.290</a:t>
                      </a:r>
                    </a:p>
                  </a:txBody>
                  <a:tcPr marL="51072" marR="51072" marT="25536" marB="255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buNone/>
                      </a:pPr>
                      <a:r>
                        <a:rPr lang="en-US" sz="1400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large_2</a:t>
                      </a:r>
                    </a:p>
                  </a:txBody>
                  <a:tcPr marL="51072" marR="51072" marT="25536" marB="255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buNone/>
                      </a:pPr>
                      <a:r>
                        <a:rPr lang="en-US" altLang="zh-TW" sz="140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0.921</a:t>
                      </a:r>
                    </a:p>
                  </a:txBody>
                  <a:tcPr marL="51072" marR="51072" marT="25536" marB="255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buNone/>
                      </a:pPr>
                      <a:r>
                        <a:rPr lang="en-US" altLang="zh-TW" sz="140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0.959</a:t>
                      </a:r>
                    </a:p>
                  </a:txBody>
                  <a:tcPr marL="51072" marR="51072" marT="25536" marB="255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buNone/>
                      </a:pPr>
                      <a:r>
                        <a:rPr lang="en-US" altLang="zh-TW" sz="1400" b="1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+3.759</a:t>
                      </a:r>
                      <a:endParaRPr lang="en-US" altLang="zh-TW" sz="1400" b="1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marL="51072" marR="51072" marT="25536" marB="255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0948664"/>
                  </a:ext>
                </a:extLst>
              </a:tr>
              <a:tr h="243733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large_1</a:t>
                      </a:r>
                    </a:p>
                  </a:txBody>
                  <a:tcPr marL="74643" marR="74643" marT="37322" marB="3732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buNone/>
                      </a:pPr>
                      <a:r>
                        <a:rPr lang="en-US" altLang="zh-TW" sz="1400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180</a:t>
                      </a:r>
                    </a:p>
                  </a:txBody>
                  <a:tcPr marL="74643" marR="74643" marT="37322" marB="3732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0.927</a:t>
                      </a:r>
                    </a:p>
                  </a:txBody>
                  <a:tcPr marL="74643" marR="74643" marT="37322" marB="3732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buNone/>
                      </a:pPr>
                      <a:r>
                        <a:rPr lang="en-US" altLang="zh-TW" sz="140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1.000</a:t>
                      </a:r>
                    </a:p>
                  </a:txBody>
                  <a:tcPr marL="74643" marR="74643" marT="37322" marB="3732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buNone/>
                      </a:pPr>
                      <a:r>
                        <a:rPr lang="en-US" altLang="zh-TW" sz="1400" b="1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+7.254</a:t>
                      </a:r>
                    </a:p>
                  </a:txBody>
                  <a:tcPr marL="51072" marR="51072" marT="25536" marB="255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buNone/>
                      </a:pPr>
                      <a:r>
                        <a:rPr lang="en-US" sz="140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large_2</a:t>
                      </a:r>
                    </a:p>
                  </a:txBody>
                  <a:tcPr marL="51072" marR="51072" marT="25536" marB="255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buNone/>
                      </a:pPr>
                      <a:r>
                        <a:rPr lang="en-US" altLang="zh-TW" sz="140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0.951</a:t>
                      </a:r>
                    </a:p>
                  </a:txBody>
                  <a:tcPr marL="51072" marR="51072" marT="25536" marB="255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buNone/>
                      </a:pPr>
                      <a:r>
                        <a:rPr lang="en-US" altLang="zh-TW" sz="140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0.959</a:t>
                      </a:r>
                    </a:p>
                  </a:txBody>
                  <a:tcPr marL="51072" marR="51072" marT="25536" marB="255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buNone/>
                      </a:pPr>
                      <a:r>
                        <a:rPr lang="en-US" altLang="zh-TW" sz="1400" b="1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+0.752</a:t>
                      </a:r>
                    </a:p>
                  </a:txBody>
                  <a:tcPr marL="51072" marR="51072" marT="25536" marB="255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3584227"/>
                  </a:ext>
                </a:extLst>
              </a:tr>
              <a:tr h="243733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large_1</a:t>
                      </a:r>
                    </a:p>
                  </a:txBody>
                  <a:tcPr marL="74643" marR="74643" marT="37322" marB="3732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buNone/>
                      </a:pPr>
                      <a:r>
                        <a:rPr lang="en-US" altLang="zh-TW" sz="140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300</a:t>
                      </a:r>
                    </a:p>
                  </a:txBody>
                  <a:tcPr marL="74643" marR="74643" marT="37322" marB="3732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0.927</a:t>
                      </a:r>
                    </a:p>
                  </a:txBody>
                  <a:tcPr marL="74643" marR="74643" marT="37322" marB="3732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buNone/>
                      </a:pPr>
                      <a:r>
                        <a:rPr lang="en-US" altLang="zh-TW" sz="140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1.000</a:t>
                      </a:r>
                    </a:p>
                  </a:txBody>
                  <a:tcPr marL="74643" marR="74643" marT="37322" marB="3732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buNone/>
                      </a:pPr>
                      <a:r>
                        <a:rPr lang="en-US" altLang="zh-TW" sz="1400" b="1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+7.254</a:t>
                      </a:r>
                    </a:p>
                  </a:txBody>
                  <a:tcPr marL="51072" marR="51072" marT="25536" marB="255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buNone/>
                      </a:pPr>
                      <a:r>
                        <a:rPr lang="en-US" sz="140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large_2</a:t>
                      </a:r>
                    </a:p>
                  </a:txBody>
                  <a:tcPr marL="51072" marR="51072" marT="25536" marB="255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buNone/>
                      </a:pPr>
                      <a:r>
                        <a:rPr lang="en-US" altLang="zh-TW" sz="140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0.951</a:t>
                      </a:r>
                    </a:p>
                  </a:txBody>
                  <a:tcPr marL="51072" marR="51072" marT="25536" marB="255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buNone/>
                      </a:pPr>
                      <a:r>
                        <a:rPr lang="en-US" altLang="zh-TW" sz="140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0.959</a:t>
                      </a:r>
                    </a:p>
                  </a:txBody>
                  <a:tcPr marL="51072" marR="51072" marT="25536" marB="255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buNone/>
                      </a:pPr>
                      <a:r>
                        <a:rPr lang="en-US" altLang="zh-TW" sz="1400" b="1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+0.752</a:t>
                      </a:r>
                    </a:p>
                  </a:txBody>
                  <a:tcPr marL="51072" marR="51072" marT="25536" marB="255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5592889"/>
                  </a:ext>
                </a:extLst>
              </a:tr>
              <a:tr h="243733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large_1</a:t>
                      </a:r>
                    </a:p>
                  </a:txBody>
                  <a:tcPr marL="74643" marR="74643" marT="37322" marB="3732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buNone/>
                      </a:pPr>
                      <a:r>
                        <a:rPr lang="en-US" altLang="zh-TW" sz="140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600</a:t>
                      </a:r>
                    </a:p>
                  </a:txBody>
                  <a:tcPr marL="74643" marR="74643" marT="37322" marB="3732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0.933</a:t>
                      </a:r>
                    </a:p>
                  </a:txBody>
                  <a:tcPr marL="74643" marR="74643" marT="37322" marB="3732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buNone/>
                      </a:pPr>
                      <a:r>
                        <a:rPr lang="en-US" altLang="zh-TW" sz="140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1.000</a:t>
                      </a:r>
                    </a:p>
                  </a:txBody>
                  <a:tcPr marL="74643" marR="74643" marT="37322" marB="3732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buNone/>
                      </a:pPr>
                      <a:r>
                        <a:rPr lang="en-US" altLang="zh-TW" sz="1400" b="1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+6.736</a:t>
                      </a:r>
                    </a:p>
                  </a:txBody>
                  <a:tcPr marL="51072" marR="51072" marT="25536" marB="255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buNone/>
                      </a:pPr>
                      <a:r>
                        <a:rPr lang="en-US" sz="140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large_2</a:t>
                      </a:r>
                    </a:p>
                  </a:txBody>
                  <a:tcPr marL="51072" marR="51072" marT="25536" marB="255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buNone/>
                      </a:pPr>
                      <a:r>
                        <a:rPr lang="en-US" altLang="zh-TW" sz="140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0.959</a:t>
                      </a:r>
                    </a:p>
                  </a:txBody>
                  <a:tcPr marL="51072" marR="51072" marT="25536" marB="255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buNone/>
                      </a:pPr>
                      <a:r>
                        <a:rPr lang="en-US" altLang="zh-TW" sz="140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0.959</a:t>
                      </a:r>
                    </a:p>
                  </a:txBody>
                  <a:tcPr marL="51072" marR="51072" marT="25536" marB="255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buNone/>
                      </a:pPr>
                      <a:r>
                        <a:rPr lang="en-US" altLang="zh-TW" sz="1400" b="1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+0.000</a:t>
                      </a:r>
                    </a:p>
                  </a:txBody>
                  <a:tcPr marL="51072" marR="51072" marT="25536" marB="255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7253230"/>
                  </a:ext>
                </a:extLst>
              </a:tr>
            </a:tbl>
          </a:graphicData>
        </a:graphic>
      </p:graphicFrame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A560E314-E961-2FC2-5452-BA62D586C8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36148"/>
              </p:ext>
            </p:extLst>
          </p:nvPr>
        </p:nvGraphicFramePr>
        <p:xfrm>
          <a:off x="10636899" y="0"/>
          <a:ext cx="1555100" cy="685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5100">
                  <a:extLst>
                    <a:ext uri="{9D8B030D-6E8A-4147-A177-3AD203B41FA5}">
                      <a16:colId xmlns:a16="http://schemas.microsoft.com/office/drawing/2014/main" val="1048587396"/>
                    </a:ext>
                  </a:extLst>
                </a:gridCol>
              </a:tblGrid>
              <a:tr h="137160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zh-TW" b="1" dirty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/>
                        </a:rPr>
                        <a:t>問題背景與</a:t>
                      </a:r>
                      <a:endParaRPr lang="en-US" altLang="zh-TW" b="1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/>
                      </a:endParaRP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zh-TW" b="1" dirty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/>
                        </a:rPr>
                        <a:t>挑戰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491059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zh-TW" sz="1800" b="1" kern="1200" dirty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/>
                          <a:cs typeface="+mn-cs"/>
                        </a:rPr>
                        <a:t>模型一</a:t>
                      </a:r>
                      <a:r>
                        <a:rPr lang="zh-TW" altLang="en-US" b="1" dirty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/>
                        </a:rPr>
                        <a:t>：</a:t>
                      </a:r>
                      <a:endParaRPr lang="en-US" altLang="zh-TW" sz="1800" b="1" kern="1200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/>
                        <a:cs typeface="+mn-cs"/>
                      </a:endParaRP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/>
                          <a:cs typeface="Times New Roman" panose="02020603050405020304" pitchFamily="18" charset="0"/>
                        </a:rPr>
                        <a:t>MILP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6077213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pPr lvl="0" algn="ctr"/>
                      <a:r>
                        <a:rPr lang="zh-TW" altLang="zh-TW" b="1" dirty="0">
                          <a:solidFill>
                            <a:schemeClr val="tx1"/>
                          </a:solidFill>
                          <a:latin typeface="Times New Roman"/>
                          <a:ea typeface="標楷體"/>
                          <a:cs typeface="Times New Roman"/>
                        </a:rPr>
                        <a:t>模型二</a:t>
                      </a:r>
                      <a:r>
                        <a:rPr lang="zh-TW" altLang="en-US" b="1" dirty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/>
                        </a:rPr>
                        <a:t>：</a:t>
                      </a:r>
                      <a:endParaRPr lang="en-US" altLang="zh-TW" b="1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/>
                        <a:cs typeface="+mn-cs"/>
                      </a:endParaRPr>
                    </a:p>
                    <a:p>
                      <a:pPr lvl="0"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/>
                          <a:ea typeface="標楷體"/>
                          <a:cs typeface="Times New Roman"/>
                        </a:rPr>
                        <a:t>CP</a:t>
                      </a:r>
                      <a:r>
                        <a:rPr lang="zh-TW" altLang="zh-TW" b="1" dirty="0">
                          <a:solidFill>
                            <a:schemeClr val="tx1"/>
                          </a:solidFill>
                          <a:latin typeface="Times New Roman"/>
                          <a:ea typeface="標楷體"/>
                          <a:cs typeface="Times New Roman"/>
                        </a:rPr>
                        <a:t> </a:t>
                      </a:r>
                      <a:r>
                        <a:rPr lang="en-US" altLang="zh-TW" b="1" baseline="0" dirty="0">
                          <a:solidFill>
                            <a:schemeClr val="tx1"/>
                          </a:solidFill>
                          <a:latin typeface="Times New Roman"/>
                          <a:ea typeface="標楷體"/>
                          <a:cs typeface="Times New Roman"/>
                        </a:rPr>
                        <a:t>optimizer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6202349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pPr lvl="0" algn="ctr"/>
                      <a:r>
                        <a:rPr lang="zh-TW" altLang="zh-TW" b="1" dirty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/>
                        </a:rPr>
                        <a:t>結果</a:t>
                      </a:r>
                      <a:r>
                        <a:rPr lang="zh-TW" altLang="en-US" b="1" dirty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/>
                        </a:rPr>
                        <a:t>：</a:t>
                      </a:r>
                      <a:endParaRPr lang="en-US" altLang="zh-TW" b="1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/>
                      </a:endParaRPr>
                    </a:p>
                    <a:p>
                      <a:pPr lvl="0" algn="ctr"/>
                      <a:r>
                        <a:rPr lang="zh-TW" altLang="zh-TW" b="1" dirty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模型</a:t>
                      </a:r>
                      <a:r>
                        <a:rPr lang="zh-TW" altLang="en-US" b="1" dirty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求解</a:t>
                      </a:r>
                      <a:r>
                        <a:rPr lang="zh-TW" altLang="zh-TW" b="1" dirty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比較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6817788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zh-TW" sz="1800" b="1" kern="1200" dirty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/>
                          <a:cs typeface="+mn-cs"/>
                        </a:rPr>
                        <a:t>實務建議與</a:t>
                      </a:r>
                      <a:endParaRPr lang="en-US" altLang="zh-TW" sz="1800" b="1" kern="1200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/>
                        <a:cs typeface="+mn-cs"/>
                      </a:endParaRP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zh-TW" sz="1800" b="1" kern="1200" dirty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/>
                          <a:cs typeface="+mn-cs"/>
                        </a:rPr>
                        <a:t>未來展望</a:t>
                      </a:r>
                      <a:endParaRPr lang="zh-TW" altLang="en-US" sz="1800" b="1" kern="1200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/>
                        <a:cs typeface="+mn-cs"/>
                      </a:endParaRP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1259276"/>
                  </a:ext>
                </a:extLst>
              </a:tr>
            </a:tbl>
          </a:graphicData>
        </a:graphic>
      </p:graphicFrame>
      <p:sp>
        <p:nvSpPr>
          <p:cNvPr id="15" name="文字方塊 14">
            <a:extLst>
              <a:ext uri="{FF2B5EF4-FFF2-40B4-BE49-F238E27FC236}">
                <a16:creationId xmlns:a16="http://schemas.microsoft.com/office/drawing/2014/main" id="{A75C3162-1B7C-0965-7C5C-1D7D908F2FAD}"/>
              </a:ext>
            </a:extLst>
          </p:cNvPr>
          <p:cNvSpPr txBox="1"/>
          <p:nvPr/>
        </p:nvSpPr>
        <p:spPr>
          <a:xfrm>
            <a:off x="6989884" y="5933503"/>
            <a:ext cx="3858303" cy="5004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fontAlgn="base">
              <a:lnSpc>
                <a:spcPct val="170000"/>
              </a:lnSpc>
            </a:pP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(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小、中型測資解題結果相似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)</a:t>
            </a:r>
            <a:endParaRPr lang="en-US" altLang="zh-TW" sz="18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606551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1">
            <a:extLst>
              <a:ext uri="{FF2B5EF4-FFF2-40B4-BE49-F238E27FC236}">
                <a16:creationId xmlns:a16="http://schemas.microsoft.com/office/drawing/2014/main" id="{BEDFDDBC-F859-45F8-869B-4FE0C50FE5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6721" y="505959"/>
            <a:ext cx="10418558" cy="1320800"/>
          </a:xfrm>
        </p:spPr>
        <p:txBody>
          <a:bodyPr>
            <a:normAutofit/>
          </a:bodyPr>
          <a:lstStyle/>
          <a:p>
            <a:r>
              <a:rPr lang="zh-TW" altLang="en-US" sz="26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不同 </a:t>
            </a:r>
            <a:r>
              <a:rPr lang="en-US" altLang="zh-TW" sz="26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Time Limit </a:t>
            </a:r>
            <a:r>
              <a:rPr lang="zh-TW" altLang="en-US" sz="26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下的 </a:t>
            </a:r>
            <a:r>
              <a:rPr lang="en-US" altLang="zh-TW" sz="26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Average </a:t>
            </a:r>
            <a:r>
              <a:rPr kumimoji="1" lang="en-US" altLang="zh-TW" sz="2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Normalized Start Time Ratio</a:t>
            </a:r>
            <a:r>
              <a:rPr kumimoji="1" lang="zh-TW" altLang="en-US" sz="2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比較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98DC5F59-2936-D011-24E1-FF8BE3008E07}"/>
              </a:ext>
            </a:extLst>
          </p:cNvPr>
          <p:cNvSpPr txBox="1"/>
          <p:nvPr/>
        </p:nvSpPr>
        <p:spPr>
          <a:xfrm>
            <a:off x="886721" y="912932"/>
            <a:ext cx="7935062" cy="961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kumimoji="1"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Normalized Start Time Ratio</a:t>
            </a:r>
            <a:r>
              <a:rPr kumimoji="1"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 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用來量化排程緊密程度，其值越低代表任務在越早可行的時間點執行，緊密程度越高，排程結果的品質更好。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endParaRPr lang="zh-TW" altLang="en-US" sz="2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5903FB44-DC2F-2D19-76B2-23FB68F682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1856282"/>
              </p:ext>
            </p:extLst>
          </p:nvPr>
        </p:nvGraphicFramePr>
        <p:xfrm>
          <a:off x="10636899" y="0"/>
          <a:ext cx="1555100" cy="685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5100">
                  <a:extLst>
                    <a:ext uri="{9D8B030D-6E8A-4147-A177-3AD203B41FA5}">
                      <a16:colId xmlns:a16="http://schemas.microsoft.com/office/drawing/2014/main" val="1048587396"/>
                    </a:ext>
                  </a:extLst>
                </a:gridCol>
              </a:tblGrid>
              <a:tr h="137160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zh-TW" b="1" dirty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/>
                        </a:rPr>
                        <a:t>問題背景與</a:t>
                      </a:r>
                      <a:endParaRPr lang="en-US" altLang="zh-TW" b="1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/>
                      </a:endParaRP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zh-TW" b="1" dirty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/>
                        </a:rPr>
                        <a:t>挑戰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491059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zh-TW" sz="1800" b="1" kern="1200" dirty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/>
                          <a:cs typeface="+mn-cs"/>
                        </a:rPr>
                        <a:t>模型一</a:t>
                      </a:r>
                      <a:r>
                        <a:rPr lang="zh-TW" altLang="en-US" b="1" dirty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/>
                        </a:rPr>
                        <a:t>：</a:t>
                      </a:r>
                      <a:endParaRPr lang="en-US" altLang="zh-TW" sz="1800" b="1" kern="1200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/>
                        <a:cs typeface="+mn-cs"/>
                      </a:endParaRP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/>
                          <a:cs typeface="Times New Roman" panose="02020603050405020304" pitchFamily="18" charset="0"/>
                        </a:rPr>
                        <a:t>MILP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6077213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pPr lvl="0" algn="ctr"/>
                      <a:r>
                        <a:rPr lang="zh-TW" altLang="zh-TW" b="1" dirty="0">
                          <a:solidFill>
                            <a:schemeClr val="tx1"/>
                          </a:solidFill>
                          <a:latin typeface="Times New Roman"/>
                          <a:ea typeface="標楷體"/>
                          <a:cs typeface="Times New Roman"/>
                        </a:rPr>
                        <a:t>模型二</a:t>
                      </a:r>
                      <a:r>
                        <a:rPr lang="zh-TW" altLang="en-US" b="1" dirty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/>
                        </a:rPr>
                        <a:t>：</a:t>
                      </a:r>
                      <a:endParaRPr lang="en-US" altLang="zh-TW" b="1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/>
                        <a:cs typeface="+mn-cs"/>
                      </a:endParaRPr>
                    </a:p>
                    <a:p>
                      <a:pPr lvl="0"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/>
                          <a:ea typeface="標楷體"/>
                          <a:cs typeface="Times New Roman"/>
                        </a:rPr>
                        <a:t>CP</a:t>
                      </a:r>
                      <a:r>
                        <a:rPr lang="zh-TW" altLang="zh-TW" b="1" dirty="0">
                          <a:solidFill>
                            <a:schemeClr val="tx1"/>
                          </a:solidFill>
                          <a:latin typeface="Times New Roman"/>
                          <a:ea typeface="標楷體"/>
                          <a:cs typeface="Times New Roman"/>
                        </a:rPr>
                        <a:t> </a:t>
                      </a:r>
                      <a:r>
                        <a:rPr lang="en-US" altLang="zh-TW" b="1" baseline="0" dirty="0">
                          <a:solidFill>
                            <a:schemeClr val="tx1"/>
                          </a:solidFill>
                          <a:latin typeface="Times New Roman"/>
                          <a:ea typeface="標楷體"/>
                          <a:cs typeface="Times New Roman"/>
                        </a:rPr>
                        <a:t>optimizer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6202349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pPr lvl="0" algn="ctr"/>
                      <a:r>
                        <a:rPr lang="zh-TW" altLang="zh-TW" b="1" dirty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/>
                        </a:rPr>
                        <a:t>結果</a:t>
                      </a:r>
                      <a:r>
                        <a:rPr lang="zh-TW" altLang="en-US" b="1" dirty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/>
                        </a:rPr>
                        <a:t>：</a:t>
                      </a:r>
                      <a:endParaRPr lang="en-US" altLang="zh-TW" b="1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/>
                      </a:endParaRPr>
                    </a:p>
                    <a:p>
                      <a:pPr lvl="0" algn="ctr"/>
                      <a:r>
                        <a:rPr lang="zh-TW" altLang="zh-TW" b="1" dirty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模型</a:t>
                      </a:r>
                      <a:r>
                        <a:rPr lang="zh-TW" altLang="en-US" b="1" dirty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求解</a:t>
                      </a:r>
                      <a:r>
                        <a:rPr lang="zh-TW" altLang="zh-TW" b="1" dirty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比較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6817788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zh-TW" sz="1800" b="1" kern="1200" dirty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/>
                          <a:cs typeface="+mn-cs"/>
                        </a:rPr>
                        <a:t>實務建議與</a:t>
                      </a:r>
                      <a:endParaRPr lang="en-US" altLang="zh-TW" sz="1800" b="1" kern="1200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/>
                        <a:cs typeface="+mn-cs"/>
                      </a:endParaRP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zh-TW" sz="1800" b="1" kern="1200" dirty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/>
                          <a:cs typeface="+mn-cs"/>
                        </a:rPr>
                        <a:t>未來展望</a:t>
                      </a:r>
                      <a:endParaRPr lang="zh-TW" altLang="en-US" sz="1800" b="1" kern="1200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/>
                        <a:cs typeface="+mn-cs"/>
                      </a:endParaRP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1259276"/>
                  </a:ext>
                </a:extLst>
              </a:tr>
            </a:tbl>
          </a:graphicData>
        </a:graphic>
      </p:graphicFrame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ACCB3BAF-5D5D-0DAC-8240-DEFACF4210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2406697"/>
              </p:ext>
            </p:extLst>
          </p:nvPr>
        </p:nvGraphicFramePr>
        <p:xfrm>
          <a:off x="685393" y="2115717"/>
          <a:ext cx="8976393" cy="1761204"/>
        </p:xfrm>
        <a:graphic>
          <a:graphicData uri="http://schemas.openxmlformats.org/drawingml/2006/table">
            <a:tbl>
              <a:tblPr/>
              <a:tblGrid>
                <a:gridCol w="817132">
                  <a:extLst>
                    <a:ext uri="{9D8B030D-6E8A-4147-A177-3AD203B41FA5}">
                      <a16:colId xmlns:a16="http://schemas.microsoft.com/office/drawing/2014/main" val="2216453671"/>
                    </a:ext>
                  </a:extLst>
                </a:gridCol>
                <a:gridCol w="1177622">
                  <a:extLst>
                    <a:ext uri="{9D8B030D-6E8A-4147-A177-3AD203B41FA5}">
                      <a16:colId xmlns:a16="http://schemas.microsoft.com/office/drawing/2014/main" val="737349963"/>
                    </a:ext>
                  </a:extLst>
                </a:gridCol>
                <a:gridCol w="997377">
                  <a:extLst>
                    <a:ext uri="{9D8B030D-6E8A-4147-A177-3AD203B41FA5}">
                      <a16:colId xmlns:a16="http://schemas.microsoft.com/office/drawing/2014/main" val="3270152822"/>
                    </a:ext>
                  </a:extLst>
                </a:gridCol>
                <a:gridCol w="997377">
                  <a:extLst>
                    <a:ext uri="{9D8B030D-6E8A-4147-A177-3AD203B41FA5}">
                      <a16:colId xmlns:a16="http://schemas.microsoft.com/office/drawing/2014/main" val="2548229102"/>
                    </a:ext>
                  </a:extLst>
                </a:gridCol>
                <a:gridCol w="997377">
                  <a:extLst>
                    <a:ext uri="{9D8B030D-6E8A-4147-A177-3AD203B41FA5}">
                      <a16:colId xmlns:a16="http://schemas.microsoft.com/office/drawing/2014/main" val="924055322"/>
                    </a:ext>
                  </a:extLst>
                </a:gridCol>
                <a:gridCol w="997377">
                  <a:extLst>
                    <a:ext uri="{9D8B030D-6E8A-4147-A177-3AD203B41FA5}">
                      <a16:colId xmlns:a16="http://schemas.microsoft.com/office/drawing/2014/main" val="1268728811"/>
                    </a:ext>
                  </a:extLst>
                </a:gridCol>
                <a:gridCol w="997377">
                  <a:extLst>
                    <a:ext uri="{9D8B030D-6E8A-4147-A177-3AD203B41FA5}">
                      <a16:colId xmlns:a16="http://schemas.microsoft.com/office/drawing/2014/main" val="2877808908"/>
                    </a:ext>
                  </a:extLst>
                </a:gridCol>
                <a:gridCol w="997377">
                  <a:extLst>
                    <a:ext uri="{9D8B030D-6E8A-4147-A177-3AD203B41FA5}">
                      <a16:colId xmlns:a16="http://schemas.microsoft.com/office/drawing/2014/main" val="1325069030"/>
                    </a:ext>
                  </a:extLst>
                </a:gridCol>
                <a:gridCol w="997377">
                  <a:extLst>
                    <a:ext uri="{9D8B030D-6E8A-4147-A177-3AD203B41FA5}">
                      <a16:colId xmlns:a16="http://schemas.microsoft.com/office/drawing/2014/main" val="1689346289"/>
                    </a:ext>
                  </a:extLst>
                </a:gridCol>
              </a:tblGrid>
              <a:tr h="364074"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buNone/>
                      </a:pPr>
                      <a:r>
                        <a:rPr lang="en-US" sz="140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Instance</a:t>
                      </a:r>
                    </a:p>
                  </a:txBody>
                  <a:tcPr marL="44614" marR="44614" marT="22307" marB="223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buNone/>
                      </a:pPr>
                      <a:r>
                        <a:rPr lang="en-US" sz="140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Time</a:t>
                      </a:r>
                      <a:r>
                        <a:rPr lang="zh-TW" altLang="en-US" sz="140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 </a:t>
                      </a:r>
                      <a:r>
                        <a:rPr lang="en-US" sz="140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Limit (s)</a:t>
                      </a:r>
                    </a:p>
                  </a:txBody>
                  <a:tcPr marL="44614" marR="44614" marT="22307" marB="223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buNone/>
                      </a:pPr>
                      <a:r>
                        <a:rPr lang="en-US" sz="1400" kern="1200" baseline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MILP</a:t>
                      </a:r>
                      <a:r>
                        <a:rPr lang="en-US" altLang="zh-TW" sz="1400" kern="1200" baseline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_</a:t>
                      </a:r>
                      <a:r>
                        <a:rPr lang="en-US" sz="1400" kern="1200" baseline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Avg</a:t>
                      </a:r>
                      <a:r>
                        <a:rPr lang="zh-TW" altLang="en-US" sz="140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 </a:t>
                      </a:r>
                      <a:r>
                        <a:rPr lang="en-US" altLang="zh-TW" sz="140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NST</a:t>
                      </a:r>
                      <a:r>
                        <a:rPr lang="zh-TW" altLang="en-US" sz="140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 </a:t>
                      </a:r>
                      <a:r>
                        <a:rPr lang="en-US" sz="140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Ratio</a:t>
                      </a:r>
                    </a:p>
                  </a:txBody>
                  <a:tcPr marL="44614" marR="44614" marT="22307" marB="223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buNone/>
                      </a:pPr>
                      <a:r>
                        <a:rPr lang="en-US" sz="1400" kern="1200" baseline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CP</a:t>
                      </a:r>
                      <a:r>
                        <a:rPr lang="en-US" altLang="zh-TW" sz="1400" kern="1200" baseline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_</a:t>
                      </a:r>
                      <a:r>
                        <a:rPr lang="en-US" sz="1400" kern="1200" baseline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Avg</a:t>
                      </a:r>
                      <a:r>
                        <a:rPr lang="zh-TW" altLang="en-US" sz="140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 </a:t>
                      </a:r>
                      <a:r>
                        <a:rPr lang="en-US" sz="140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NST</a:t>
                      </a:r>
                      <a:r>
                        <a:rPr lang="zh-TW" altLang="en-US" sz="140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 </a:t>
                      </a:r>
                      <a:r>
                        <a:rPr lang="en-US" sz="140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Ratio</a:t>
                      </a:r>
                    </a:p>
                  </a:txBody>
                  <a:tcPr marL="44614" marR="44614" marT="22307" marB="223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buNone/>
                      </a:pPr>
                      <a:r>
                        <a:rPr lang="en-US" sz="1400" b="1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CP − MILP</a:t>
                      </a:r>
                    </a:p>
                  </a:txBody>
                  <a:tcPr marL="44614" marR="44614" marT="22307" marB="223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buNone/>
                      </a:pPr>
                      <a:r>
                        <a:rPr lang="en-US" sz="140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Instance</a:t>
                      </a:r>
                    </a:p>
                  </a:txBody>
                  <a:tcPr marL="44614" marR="44614" marT="22307" marB="223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buNone/>
                      </a:pPr>
                      <a:r>
                        <a:rPr lang="en-US" sz="1400" kern="1200" baseline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MILP_Avg</a:t>
                      </a:r>
                      <a:r>
                        <a:rPr lang="zh-TW" altLang="en-US" sz="140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 </a:t>
                      </a:r>
                      <a:r>
                        <a:rPr lang="en-US" altLang="zh-TW" sz="140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NST</a:t>
                      </a:r>
                      <a:r>
                        <a:rPr lang="zh-TW" altLang="en-US" sz="140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 </a:t>
                      </a:r>
                      <a:r>
                        <a:rPr lang="en-US" sz="140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Ratio</a:t>
                      </a:r>
                    </a:p>
                  </a:txBody>
                  <a:tcPr marL="44614" marR="44614" marT="22307" marB="223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buNone/>
                      </a:pPr>
                      <a:r>
                        <a:rPr lang="en-US" sz="1400" kern="1200" baseline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CP_Avg</a:t>
                      </a:r>
                      <a:r>
                        <a:rPr lang="zh-TW" altLang="en-US" sz="140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 </a:t>
                      </a:r>
                      <a:r>
                        <a:rPr lang="en-US" altLang="zh-TW" sz="140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NST</a:t>
                      </a:r>
                      <a:r>
                        <a:rPr lang="zh-TW" altLang="en-US" sz="140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 </a:t>
                      </a:r>
                      <a:r>
                        <a:rPr lang="en-US" sz="140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Ratio</a:t>
                      </a:r>
                    </a:p>
                  </a:txBody>
                  <a:tcPr marL="44614" marR="44614" marT="22307" marB="223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buNone/>
                      </a:pPr>
                      <a:r>
                        <a:rPr lang="en-US" sz="1400" b="1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CP − MILP</a:t>
                      </a:r>
                    </a:p>
                  </a:txBody>
                  <a:tcPr marL="44614" marR="44614" marT="22307" marB="223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2505714"/>
                  </a:ext>
                </a:extLst>
              </a:tr>
              <a:tr h="207501"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buNone/>
                      </a:pPr>
                      <a:r>
                        <a:rPr lang="en-US" sz="140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Large_1</a:t>
                      </a:r>
                    </a:p>
                  </a:txBody>
                  <a:tcPr marL="44614" marR="44614" marT="22307" marB="223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buNone/>
                      </a:pPr>
                      <a:r>
                        <a:rPr lang="en-US" altLang="zh-TW" sz="1400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30</a:t>
                      </a:r>
                    </a:p>
                  </a:txBody>
                  <a:tcPr marL="44614" marR="44614" marT="22307" marB="223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buNone/>
                      </a:pPr>
                      <a:r>
                        <a:rPr lang="en-US" altLang="zh-TW" sz="140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0.176</a:t>
                      </a:r>
                    </a:p>
                  </a:txBody>
                  <a:tcPr marL="44614" marR="44614" marT="22307" marB="223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buNone/>
                      </a:pPr>
                      <a:r>
                        <a:rPr lang="en-US" altLang="zh-TW" sz="1400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0.180</a:t>
                      </a:r>
                    </a:p>
                  </a:txBody>
                  <a:tcPr marL="44614" marR="44614" marT="22307" marB="223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buNone/>
                      </a:pPr>
                      <a:r>
                        <a:rPr lang="en-US" altLang="zh-TW" sz="1400" b="1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0.004</a:t>
                      </a:r>
                    </a:p>
                  </a:txBody>
                  <a:tcPr marL="44614" marR="44614" marT="22307" marB="223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buNone/>
                      </a:pPr>
                      <a:r>
                        <a:rPr lang="en-US" sz="140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Large_2</a:t>
                      </a:r>
                    </a:p>
                  </a:txBody>
                  <a:tcPr marL="44614" marR="44614" marT="22307" marB="223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buNone/>
                      </a:pPr>
                      <a:r>
                        <a:rPr lang="en-US" altLang="zh-TW" sz="1400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0.422</a:t>
                      </a:r>
                    </a:p>
                  </a:txBody>
                  <a:tcPr marL="44614" marR="44614" marT="22307" marB="223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buNone/>
                      </a:pPr>
                      <a:r>
                        <a:rPr lang="en-US" altLang="zh-TW" sz="1400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0.036</a:t>
                      </a:r>
                    </a:p>
                  </a:txBody>
                  <a:tcPr marL="44614" marR="44614" marT="22307" marB="223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buNone/>
                      </a:pPr>
                      <a:r>
                        <a:rPr lang="en-US" altLang="zh-TW" sz="1400" b="1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-0.386</a:t>
                      </a:r>
                    </a:p>
                  </a:txBody>
                  <a:tcPr marL="44614" marR="44614" marT="22307" marB="223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6836720"/>
                  </a:ext>
                </a:extLst>
              </a:tr>
              <a:tr h="207501"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buNone/>
                      </a:pPr>
                      <a:r>
                        <a:rPr lang="en-US" sz="140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Large_1</a:t>
                      </a:r>
                    </a:p>
                  </a:txBody>
                  <a:tcPr marL="44614" marR="44614" marT="22307" marB="223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buNone/>
                      </a:pPr>
                      <a:r>
                        <a:rPr lang="en-US" altLang="zh-TW" sz="1400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60</a:t>
                      </a:r>
                    </a:p>
                  </a:txBody>
                  <a:tcPr marL="44614" marR="44614" marT="22307" marB="223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buNone/>
                      </a:pPr>
                      <a:r>
                        <a:rPr lang="en-US" altLang="zh-TW" sz="1400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0.307</a:t>
                      </a:r>
                    </a:p>
                  </a:txBody>
                  <a:tcPr marL="44614" marR="44614" marT="22307" marB="223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buNone/>
                      </a:pPr>
                      <a:r>
                        <a:rPr lang="en-US" altLang="zh-TW" sz="1400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0.159</a:t>
                      </a:r>
                    </a:p>
                  </a:txBody>
                  <a:tcPr marL="44614" marR="44614" marT="22307" marB="223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buNone/>
                      </a:pPr>
                      <a:r>
                        <a:rPr lang="en-US" altLang="zh-TW" sz="1400" b="1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-0.148</a:t>
                      </a:r>
                    </a:p>
                  </a:txBody>
                  <a:tcPr marL="44614" marR="44614" marT="22307" marB="223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buNone/>
                      </a:pPr>
                      <a:r>
                        <a:rPr lang="en-US" sz="140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Large_2</a:t>
                      </a:r>
                    </a:p>
                  </a:txBody>
                  <a:tcPr marL="44614" marR="44614" marT="22307" marB="223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buNone/>
                      </a:pPr>
                      <a:r>
                        <a:rPr lang="en-US" altLang="zh-TW" sz="1400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0.424</a:t>
                      </a:r>
                    </a:p>
                  </a:txBody>
                  <a:tcPr marL="44614" marR="44614" marT="22307" marB="223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buNone/>
                      </a:pPr>
                      <a:r>
                        <a:rPr lang="en-US" altLang="zh-TW" sz="1400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0.033</a:t>
                      </a:r>
                    </a:p>
                  </a:txBody>
                  <a:tcPr marL="44614" marR="44614" marT="22307" marB="223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buNone/>
                      </a:pPr>
                      <a:r>
                        <a:rPr lang="en-US" altLang="zh-TW" sz="1400" b="1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-0.391</a:t>
                      </a:r>
                    </a:p>
                  </a:txBody>
                  <a:tcPr marL="44614" marR="44614" marT="22307" marB="223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4921375"/>
                  </a:ext>
                </a:extLst>
              </a:tr>
              <a:tr h="207501"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buNone/>
                      </a:pPr>
                      <a:r>
                        <a:rPr lang="en-US" sz="140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Large_1</a:t>
                      </a:r>
                    </a:p>
                  </a:txBody>
                  <a:tcPr marL="44614" marR="44614" marT="22307" marB="223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buNone/>
                      </a:pPr>
                      <a:r>
                        <a:rPr lang="en-US" altLang="zh-TW" sz="140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120</a:t>
                      </a:r>
                    </a:p>
                  </a:txBody>
                  <a:tcPr marL="44614" marR="44614" marT="22307" marB="223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buNone/>
                      </a:pPr>
                      <a:r>
                        <a:rPr lang="en-US" altLang="zh-TW" sz="1400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0.303</a:t>
                      </a:r>
                    </a:p>
                  </a:txBody>
                  <a:tcPr marL="44614" marR="44614" marT="22307" marB="223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buNone/>
                      </a:pPr>
                      <a:r>
                        <a:rPr lang="en-US" altLang="zh-TW" sz="1400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0.157</a:t>
                      </a:r>
                    </a:p>
                  </a:txBody>
                  <a:tcPr marL="44614" marR="44614" marT="22307" marB="223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buNone/>
                      </a:pPr>
                      <a:r>
                        <a:rPr lang="en-US" altLang="zh-TW" sz="1400" b="1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-0.146</a:t>
                      </a:r>
                    </a:p>
                  </a:txBody>
                  <a:tcPr marL="44614" marR="44614" marT="22307" marB="223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buNone/>
                      </a:pPr>
                      <a:r>
                        <a:rPr lang="en-US" sz="140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Large_2</a:t>
                      </a:r>
                    </a:p>
                  </a:txBody>
                  <a:tcPr marL="44614" marR="44614" marT="22307" marB="223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buNone/>
                      </a:pPr>
                      <a:r>
                        <a:rPr lang="en-US" altLang="zh-TW" sz="1400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0.079</a:t>
                      </a:r>
                    </a:p>
                  </a:txBody>
                  <a:tcPr marL="44614" marR="44614" marT="22307" marB="223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buNone/>
                      </a:pPr>
                      <a:r>
                        <a:rPr lang="en-US" altLang="zh-TW" sz="1400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0.033</a:t>
                      </a:r>
                    </a:p>
                  </a:txBody>
                  <a:tcPr marL="44614" marR="44614" marT="22307" marB="223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buNone/>
                      </a:pPr>
                      <a:r>
                        <a:rPr lang="en-US" altLang="zh-TW" sz="1400" b="1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-0.046</a:t>
                      </a:r>
                    </a:p>
                  </a:txBody>
                  <a:tcPr marL="44614" marR="44614" marT="22307" marB="223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6686206"/>
                  </a:ext>
                </a:extLst>
              </a:tr>
              <a:tr h="207501"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buNone/>
                      </a:pPr>
                      <a:r>
                        <a:rPr lang="en-US" sz="1400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Large_1</a:t>
                      </a:r>
                    </a:p>
                  </a:txBody>
                  <a:tcPr marL="44614" marR="44614" marT="22307" marB="223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buNone/>
                      </a:pPr>
                      <a:r>
                        <a:rPr lang="en-US" altLang="zh-TW" sz="1400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180</a:t>
                      </a:r>
                    </a:p>
                  </a:txBody>
                  <a:tcPr marL="44614" marR="44614" marT="22307" marB="223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buNone/>
                      </a:pPr>
                      <a:r>
                        <a:rPr lang="en-US" altLang="zh-TW" sz="140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0.303</a:t>
                      </a:r>
                    </a:p>
                  </a:txBody>
                  <a:tcPr marL="44614" marR="44614" marT="22307" marB="223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buNone/>
                      </a:pPr>
                      <a:r>
                        <a:rPr lang="en-US" altLang="zh-TW" sz="140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0.157</a:t>
                      </a:r>
                    </a:p>
                  </a:txBody>
                  <a:tcPr marL="44614" marR="44614" marT="22307" marB="223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buNone/>
                      </a:pPr>
                      <a:r>
                        <a:rPr lang="en-US" altLang="zh-TW" sz="1400" b="1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-0.146</a:t>
                      </a:r>
                    </a:p>
                  </a:txBody>
                  <a:tcPr marL="44614" marR="44614" marT="22307" marB="223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buNone/>
                      </a:pPr>
                      <a:r>
                        <a:rPr lang="en-US" sz="140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Large_2</a:t>
                      </a:r>
                    </a:p>
                  </a:txBody>
                  <a:tcPr marL="44614" marR="44614" marT="22307" marB="223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buNone/>
                      </a:pPr>
                      <a:r>
                        <a:rPr lang="en-US" altLang="zh-TW" sz="140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0.077</a:t>
                      </a:r>
                    </a:p>
                  </a:txBody>
                  <a:tcPr marL="44614" marR="44614" marT="22307" marB="223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buNone/>
                      </a:pPr>
                      <a:r>
                        <a:rPr lang="en-US" altLang="zh-TW" sz="140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0.033</a:t>
                      </a:r>
                    </a:p>
                  </a:txBody>
                  <a:tcPr marL="44614" marR="44614" marT="22307" marB="223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buNone/>
                      </a:pPr>
                      <a:r>
                        <a:rPr lang="en-US" altLang="zh-TW" sz="1400" b="1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-0.044</a:t>
                      </a:r>
                    </a:p>
                  </a:txBody>
                  <a:tcPr marL="44614" marR="44614" marT="22307" marB="223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2995579"/>
                  </a:ext>
                </a:extLst>
              </a:tr>
              <a:tr h="207501"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buNone/>
                      </a:pPr>
                      <a:r>
                        <a:rPr lang="en-US" sz="1400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Large_1</a:t>
                      </a:r>
                    </a:p>
                  </a:txBody>
                  <a:tcPr marL="44614" marR="44614" marT="22307" marB="223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buNone/>
                      </a:pPr>
                      <a:r>
                        <a:rPr lang="en-US" altLang="zh-TW" sz="1400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300</a:t>
                      </a:r>
                    </a:p>
                  </a:txBody>
                  <a:tcPr marL="44614" marR="44614" marT="22307" marB="223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buNone/>
                      </a:pPr>
                      <a:r>
                        <a:rPr lang="en-US" altLang="zh-TW" sz="1400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0.303</a:t>
                      </a:r>
                    </a:p>
                  </a:txBody>
                  <a:tcPr marL="44614" marR="44614" marT="22307" marB="223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buNone/>
                      </a:pPr>
                      <a:r>
                        <a:rPr lang="en-US" altLang="zh-TW" sz="1400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0.156</a:t>
                      </a:r>
                    </a:p>
                  </a:txBody>
                  <a:tcPr marL="44614" marR="44614" marT="22307" marB="223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buNone/>
                      </a:pPr>
                      <a:r>
                        <a:rPr lang="en-US" altLang="zh-TW" sz="1400" b="1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-0.147</a:t>
                      </a:r>
                    </a:p>
                  </a:txBody>
                  <a:tcPr marL="44614" marR="44614" marT="22307" marB="223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buNone/>
                      </a:pPr>
                      <a:r>
                        <a:rPr lang="en-US" sz="140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Large_2</a:t>
                      </a:r>
                    </a:p>
                  </a:txBody>
                  <a:tcPr marL="44614" marR="44614" marT="22307" marB="223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buNone/>
                      </a:pPr>
                      <a:r>
                        <a:rPr lang="en-US" altLang="zh-TW" sz="140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0.077</a:t>
                      </a:r>
                    </a:p>
                  </a:txBody>
                  <a:tcPr marL="44614" marR="44614" marT="22307" marB="223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buNone/>
                      </a:pPr>
                      <a:r>
                        <a:rPr lang="en-US" altLang="zh-TW" sz="140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0.033</a:t>
                      </a:r>
                    </a:p>
                  </a:txBody>
                  <a:tcPr marL="44614" marR="44614" marT="22307" marB="223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buNone/>
                      </a:pPr>
                      <a:r>
                        <a:rPr lang="en-US" altLang="zh-TW" sz="1400" b="1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-0.044</a:t>
                      </a:r>
                    </a:p>
                  </a:txBody>
                  <a:tcPr marL="44614" marR="44614" marT="22307" marB="223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8239252"/>
                  </a:ext>
                </a:extLst>
              </a:tr>
            </a:tbl>
          </a:graphicData>
        </a:graphic>
      </p:graphicFrame>
      <p:sp>
        <p:nvSpPr>
          <p:cNvPr id="19" name="文字方塊 18">
            <a:extLst>
              <a:ext uri="{FF2B5EF4-FFF2-40B4-BE49-F238E27FC236}">
                <a16:creationId xmlns:a16="http://schemas.microsoft.com/office/drawing/2014/main" id="{E1696AEE-9A71-C9AF-FDEA-69A5ED53EA8E}"/>
              </a:ext>
            </a:extLst>
          </p:cNvPr>
          <p:cNvSpPr txBox="1"/>
          <p:nvPr/>
        </p:nvSpPr>
        <p:spPr>
          <a:xfrm>
            <a:off x="6947585" y="5842083"/>
            <a:ext cx="3858303" cy="5004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fontAlgn="base">
              <a:lnSpc>
                <a:spcPct val="170000"/>
              </a:lnSpc>
            </a:pP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(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小、中型測資解題結果相似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)</a:t>
            </a:r>
            <a:endParaRPr lang="en-US" altLang="zh-TW" sz="18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grpSp>
        <p:nvGrpSpPr>
          <p:cNvPr id="4" name="群組 3">
            <a:extLst>
              <a:ext uri="{FF2B5EF4-FFF2-40B4-BE49-F238E27FC236}">
                <a16:creationId xmlns:a16="http://schemas.microsoft.com/office/drawing/2014/main" id="{F486185B-A6D1-7908-44B3-3A02B74C7E26}"/>
              </a:ext>
            </a:extLst>
          </p:cNvPr>
          <p:cNvGrpSpPr/>
          <p:nvPr/>
        </p:nvGrpSpPr>
        <p:grpSpPr>
          <a:xfrm>
            <a:off x="685393" y="4056045"/>
            <a:ext cx="6391226" cy="2519028"/>
            <a:chOff x="0" y="4303296"/>
            <a:chExt cx="6391226" cy="2519028"/>
          </a:xfrm>
        </p:grpSpPr>
        <p:pic>
          <p:nvPicPr>
            <p:cNvPr id="6" name="圖片 5" descr="一張含有 文字, 行, 圖表, 繪圖 的圖片&#10;&#10;AI 產生的內容可能不正確。">
              <a:extLst>
                <a:ext uri="{FF2B5EF4-FFF2-40B4-BE49-F238E27FC236}">
                  <a16:creationId xmlns:a16="http://schemas.microsoft.com/office/drawing/2014/main" id="{AB022465-5BD7-25D0-722C-AFB1AB4738D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4303296"/>
              <a:ext cx="6391226" cy="2519028"/>
            </a:xfrm>
            <a:prstGeom prst="rect">
              <a:avLst/>
            </a:prstGeom>
          </p:spPr>
        </p:pic>
        <p:cxnSp>
          <p:nvCxnSpPr>
            <p:cNvPr id="8" name="直線單箭頭接點 7">
              <a:extLst>
                <a:ext uri="{FF2B5EF4-FFF2-40B4-BE49-F238E27FC236}">
                  <a16:creationId xmlns:a16="http://schemas.microsoft.com/office/drawing/2014/main" id="{AC3D685F-8FDA-2417-DCC9-F9329D4E75AA}"/>
                </a:ext>
              </a:extLst>
            </p:cNvPr>
            <p:cNvCxnSpPr>
              <a:cxnSpLocks/>
            </p:cNvCxnSpPr>
            <p:nvPr/>
          </p:nvCxnSpPr>
          <p:spPr>
            <a:xfrm>
              <a:off x="2790991" y="4664590"/>
              <a:ext cx="0" cy="1736210"/>
            </a:xfrm>
            <a:prstGeom prst="straightConnector1">
              <a:avLst/>
            </a:prstGeom>
            <a:ln w="28575"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直線單箭頭接點 8">
              <a:extLst>
                <a:ext uri="{FF2B5EF4-FFF2-40B4-BE49-F238E27FC236}">
                  <a16:creationId xmlns:a16="http://schemas.microsoft.com/office/drawing/2014/main" id="{0F5F72AC-9A19-2667-FE48-9F258E67AD5B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6202012"/>
              <a:ext cx="0" cy="198788"/>
            </a:xfrm>
            <a:prstGeom prst="straightConnector1">
              <a:avLst/>
            </a:prstGeom>
            <a:ln w="19050"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604F55E5-FDEA-8356-AFC0-7199C9361189}"/>
              </a:ext>
            </a:extLst>
          </p:cNvPr>
          <p:cNvSpPr txBox="1"/>
          <p:nvPr/>
        </p:nvSpPr>
        <p:spPr>
          <a:xfrm rot="10800000">
            <a:off x="3807440" y="4293326"/>
            <a:ext cx="338554" cy="552068"/>
          </a:xfrm>
          <a:prstGeom prst="rect">
            <a:avLst/>
          </a:prstGeom>
          <a:solidFill>
            <a:schemeClr val="bg1"/>
          </a:solidFill>
        </p:spPr>
        <p:txBody>
          <a:bodyPr vert="eaVert" wrap="square" rtlCol="0">
            <a:spAutoFit/>
          </a:bodyPr>
          <a:lstStyle/>
          <a:p>
            <a:r>
              <a:rPr lang="en-US" altLang="zh-TW" sz="900" dirty="0"/>
              <a:t>ratio</a:t>
            </a:r>
            <a:endParaRPr lang="zh-TW" altLang="en-US" sz="900" dirty="0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371B02FF-F117-079F-1953-A649C57AD250}"/>
              </a:ext>
            </a:extLst>
          </p:cNvPr>
          <p:cNvSpPr txBox="1"/>
          <p:nvPr/>
        </p:nvSpPr>
        <p:spPr>
          <a:xfrm rot="10800000">
            <a:off x="622878" y="4293326"/>
            <a:ext cx="338554" cy="552068"/>
          </a:xfrm>
          <a:prstGeom prst="rect">
            <a:avLst/>
          </a:prstGeom>
          <a:solidFill>
            <a:schemeClr val="bg1"/>
          </a:solidFill>
        </p:spPr>
        <p:txBody>
          <a:bodyPr vert="eaVert" wrap="square" rtlCol="0">
            <a:spAutoFit/>
          </a:bodyPr>
          <a:lstStyle/>
          <a:p>
            <a:r>
              <a:rPr lang="en-US" altLang="zh-TW" sz="900" dirty="0"/>
              <a:t>ratio</a:t>
            </a:r>
            <a:endParaRPr lang="zh-TW" altLang="en-US" sz="900" dirty="0"/>
          </a:p>
        </p:txBody>
      </p:sp>
    </p:spTree>
    <p:extLst>
      <p:ext uri="{BB962C8B-B14F-4D97-AF65-F5344CB8AC3E}">
        <p14:creationId xmlns:p14="http://schemas.microsoft.com/office/powerpoint/2010/main" val="16819066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4.</a:t>
            </a:r>
            <a:r>
              <a:rPr kumimoji="1" lang="zh-TW" altLang="en-US" b="1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 結論分析</a:t>
            </a:r>
            <a:endParaRPr kumimoji="1" b="1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3" y="1488613"/>
            <a:ext cx="9038167" cy="5096825"/>
          </a:xfrm>
        </p:spPr>
        <p:txBody>
          <a:bodyPr>
            <a:normAutofit/>
          </a:bodyPr>
          <a:lstStyle/>
          <a:p>
            <a:r>
              <a:rPr lang="af-ZA" sz="1700" dirty="0">
                <a:latin typeface="Times New Roman" panose="02020603050405020304" pitchFamily="18" charset="0"/>
                <a:ea typeface="標楷體" panose="03000509000000000000" pitchFamily="65" charset="-120"/>
              </a:rPr>
              <a:t>1. </a:t>
            </a:r>
            <a:r>
              <a:rPr lang="zh-TW" altLang="en-US" sz="1700" dirty="0">
                <a:latin typeface="Times New Roman" panose="02020603050405020304" pitchFamily="18" charset="0"/>
                <a:ea typeface="標楷體" panose="03000509000000000000" pitchFamily="65" charset="-120"/>
              </a:rPr>
              <a:t>求解品質差異</a:t>
            </a:r>
            <a:r>
              <a:rPr lang="zh-TW" altLang="af-ZA" sz="1700" dirty="0">
                <a:latin typeface="Times New Roman" panose="02020603050405020304" pitchFamily="18" charset="0"/>
                <a:ea typeface="標楷體" panose="03000509000000000000" pitchFamily="65" charset="-120"/>
              </a:rPr>
              <a:t>：</a:t>
            </a:r>
            <a:endParaRPr lang="zh-TW" altLang="en-US" sz="17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lvl="1"/>
            <a:r>
              <a:rPr lang="zh-TW" altLang="en-US" sz="1700" dirty="0">
                <a:latin typeface="Times New Roman" panose="02020603050405020304" pitchFamily="18" charset="0"/>
                <a:ea typeface="標楷體" panose="03000509000000000000" pitchFamily="65" charset="-120"/>
              </a:rPr>
              <a:t>小型測資、中型測資：</a:t>
            </a:r>
            <a:r>
              <a:rPr lang="af-ZA" altLang="zh-TW" sz="1700" dirty="0">
                <a:latin typeface="Times New Roman" panose="02020603050405020304" pitchFamily="18" charset="0"/>
                <a:ea typeface="標楷體" panose="03000509000000000000" pitchFamily="65" charset="-120"/>
              </a:rPr>
              <a:t>MILP </a:t>
            </a:r>
            <a:r>
              <a:rPr lang="zh-TW" altLang="en-US" sz="1700" dirty="0">
                <a:latin typeface="Times New Roman" panose="02020603050405020304" pitchFamily="18" charset="0"/>
                <a:ea typeface="標楷體" panose="03000509000000000000" pitchFamily="65" charset="-120"/>
              </a:rPr>
              <a:t>與 </a:t>
            </a:r>
            <a:r>
              <a:rPr lang="af-ZA" altLang="zh-TW" sz="1700" dirty="0">
                <a:latin typeface="Times New Roman" panose="02020603050405020304" pitchFamily="18" charset="0"/>
                <a:ea typeface="標楷體" panose="03000509000000000000" pitchFamily="65" charset="-120"/>
              </a:rPr>
              <a:t>CP </a:t>
            </a:r>
            <a:r>
              <a:rPr lang="zh-TW" altLang="en-US" sz="1700" dirty="0">
                <a:latin typeface="Times New Roman" panose="02020603050405020304" pitchFamily="18" charset="0"/>
                <a:ea typeface="標楷體" panose="03000509000000000000" pitchFamily="65" charset="-120"/>
              </a:rPr>
              <a:t>表現相近。</a:t>
            </a:r>
          </a:p>
          <a:p>
            <a:pPr lvl="1">
              <a:lnSpc>
                <a:spcPct val="150000"/>
              </a:lnSpc>
            </a:pPr>
            <a:r>
              <a:rPr lang="zh-TW" altLang="en-US" sz="1700" dirty="0">
                <a:latin typeface="Times New Roman" panose="02020603050405020304" pitchFamily="18" charset="0"/>
                <a:ea typeface="標楷體" panose="03000509000000000000" pitchFamily="65" charset="-120"/>
              </a:rPr>
              <a:t>大型測資：</a:t>
            </a:r>
            <a:r>
              <a:rPr lang="af-ZA" altLang="zh-TW" sz="1700" dirty="0">
                <a:latin typeface="Times New Roman" panose="02020603050405020304" pitchFamily="18" charset="0"/>
                <a:ea typeface="標楷體" panose="03000509000000000000" pitchFamily="65" charset="-120"/>
              </a:rPr>
              <a:t>CP </a:t>
            </a:r>
            <a:r>
              <a:rPr lang="zh-TW" altLang="en-US" sz="1700" dirty="0">
                <a:latin typeface="Times New Roman" panose="02020603050405020304" pitchFamily="18" charset="0"/>
                <a:ea typeface="標楷體" panose="03000509000000000000" pitchFamily="65" charset="-120"/>
              </a:rPr>
              <a:t>任務完成比例、</a:t>
            </a:r>
            <a:r>
              <a:rPr lang="af-ZA" altLang="zh-TW" sz="1700" dirty="0">
                <a:latin typeface="Times New Roman" panose="02020603050405020304" pitchFamily="18" charset="0"/>
                <a:ea typeface="標楷體" panose="03000509000000000000" pitchFamily="65" charset="-120"/>
              </a:rPr>
              <a:t>Objective</a:t>
            </a:r>
            <a:r>
              <a:rPr lang="zh-TW" altLang="af-ZA" sz="1700" dirty="0">
                <a:latin typeface="Times New Roman" panose="02020603050405020304" pitchFamily="18" charset="0"/>
                <a:ea typeface="標楷體" panose="03000509000000000000" pitchFamily="65" charset="-120"/>
              </a:rPr>
              <a:t>、</a:t>
            </a:r>
            <a:r>
              <a:rPr lang="en-US" altLang="zh-TW" sz="1700" dirty="0">
                <a:latin typeface="Times New Roman" panose="02020603050405020304" pitchFamily="18" charset="0"/>
                <a:ea typeface="標楷體" panose="03000509000000000000" pitchFamily="65" charset="-120"/>
              </a:rPr>
              <a:t>Average Normalized Start Time Ratio</a:t>
            </a:r>
            <a:r>
              <a:rPr lang="zh-TW" altLang="en-US" sz="1700" dirty="0">
                <a:latin typeface="Times New Roman" panose="02020603050405020304" pitchFamily="18" charset="0"/>
                <a:ea typeface="標楷體" panose="03000509000000000000" pitchFamily="65" charset="-120"/>
              </a:rPr>
              <a:t> 表現皆明顯優於 </a:t>
            </a:r>
            <a:r>
              <a:rPr lang="af-ZA" altLang="zh-TW" sz="1700" dirty="0">
                <a:latin typeface="Times New Roman" panose="02020603050405020304" pitchFamily="18" charset="0"/>
                <a:ea typeface="標楷體" panose="03000509000000000000" pitchFamily="65" charset="-120"/>
              </a:rPr>
              <a:t>MILP</a:t>
            </a:r>
            <a:r>
              <a:rPr lang="zh-TW" altLang="en-US" sz="1700" dirty="0">
                <a:latin typeface="Times New Roman" panose="02020603050405020304" pitchFamily="18" charset="0"/>
                <a:ea typeface="標楷體" panose="03000509000000000000" pitchFamily="65" charset="-120"/>
              </a:rPr>
              <a:t>，且資料量越大則 </a:t>
            </a:r>
            <a:r>
              <a:rPr lang="en-US" altLang="zh-TW" sz="1700" dirty="0">
                <a:latin typeface="Times New Roman" panose="02020603050405020304" pitchFamily="18" charset="0"/>
                <a:ea typeface="標楷體" panose="03000509000000000000" pitchFamily="65" charset="-120"/>
              </a:rPr>
              <a:t>MILP </a:t>
            </a:r>
            <a:r>
              <a:rPr lang="zh-TW" altLang="en-US" sz="1700" dirty="0">
                <a:latin typeface="Times New Roman" panose="02020603050405020304" pitchFamily="18" charset="0"/>
                <a:ea typeface="標楷體" panose="03000509000000000000" pitchFamily="65" charset="-120"/>
              </a:rPr>
              <a:t>模型越有可能出現不合理排程</a:t>
            </a:r>
            <a:r>
              <a:rPr lang="zh-TW" altLang="af-ZA" sz="1700" dirty="0">
                <a:latin typeface="Times New Roman" panose="02020603050405020304" pitchFamily="18" charset="0"/>
                <a:ea typeface="標楷體" panose="03000509000000000000" pitchFamily="65" charset="-120"/>
              </a:rPr>
              <a:t>。</a:t>
            </a:r>
          </a:p>
          <a:p>
            <a:r>
              <a:rPr lang="en-US" altLang="zh-TW" sz="1700" dirty="0">
                <a:latin typeface="Times New Roman" panose="02020603050405020304" pitchFamily="18" charset="0"/>
                <a:ea typeface="標楷體" panose="03000509000000000000" pitchFamily="65" charset="-120"/>
              </a:rPr>
              <a:t>2.</a:t>
            </a:r>
            <a:r>
              <a:rPr lang="zh-TW" altLang="en-US" sz="1700" dirty="0">
                <a:latin typeface="Times New Roman" panose="02020603050405020304" pitchFamily="18" charset="0"/>
                <a:ea typeface="標楷體" panose="03000509000000000000" pitchFamily="65" charset="-120"/>
              </a:rPr>
              <a:t> 效能差異</a:t>
            </a:r>
            <a:r>
              <a:rPr lang="zh-TW" altLang="af-ZA" sz="1700" dirty="0">
                <a:latin typeface="Times New Roman" panose="02020603050405020304" pitchFamily="18" charset="0"/>
                <a:ea typeface="標楷體" panose="03000509000000000000" pitchFamily="65" charset="-120"/>
              </a:rPr>
              <a:t>：</a:t>
            </a:r>
            <a:endParaRPr lang="en-US" altLang="zh-TW" sz="17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lvl="1"/>
            <a:r>
              <a:rPr lang="zh-TW" altLang="en-US" sz="1700" dirty="0">
                <a:latin typeface="Times New Roman" panose="02020603050405020304" pitchFamily="18" charset="0"/>
                <a:ea typeface="標楷體" panose="03000509000000000000" pitchFamily="65" charset="-120"/>
              </a:rPr>
              <a:t>除了小型測資外，</a:t>
            </a:r>
            <a:r>
              <a:rPr lang="af-ZA" altLang="zh-TW" sz="1700" dirty="0">
                <a:latin typeface="Times New Roman" panose="02020603050405020304" pitchFamily="18" charset="0"/>
                <a:ea typeface="標楷體" panose="03000509000000000000" pitchFamily="65" charset="-120"/>
              </a:rPr>
              <a:t>CP</a:t>
            </a:r>
            <a:r>
              <a:rPr lang="zh-TW" altLang="en-US" sz="1700" dirty="0">
                <a:latin typeface="Times New Roman" panose="02020603050405020304" pitchFamily="18" charset="0"/>
                <a:ea typeface="標楷體" panose="03000509000000000000" pitchFamily="65" charset="-120"/>
              </a:rPr>
              <a:t>到達穩定狀況的速度表現明顯優於 </a:t>
            </a:r>
            <a:r>
              <a:rPr lang="af-ZA" altLang="zh-TW" sz="1700" dirty="0">
                <a:latin typeface="Times New Roman" panose="02020603050405020304" pitchFamily="18" charset="0"/>
                <a:ea typeface="標楷體" panose="03000509000000000000" pitchFamily="65" charset="-120"/>
              </a:rPr>
              <a:t>MILP</a:t>
            </a:r>
            <a:r>
              <a:rPr lang="zh-TW" altLang="en-US" sz="1700" dirty="0">
                <a:latin typeface="Times New Roman" panose="02020603050405020304" pitchFamily="18" charset="0"/>
                <a:ea typeface="標楷體" panose="03000509000000000000" pitchFamily="65" charset="-120"/>
              </a:rPr>
              <a:t>。</a:t>
            </a:r>
            <a:endParaRPr lang="zh-TW" altLang="af-ZA" sz="17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r>
              <a:rPr lang="af-ZA" altLang="zh-TW" sz="1700" dirty="0">
                <a:latin typeface="Times New Roman" panose="02020603050405020304" pitchFamily="18" charset="0"/>
                <a:ea typeface="標楷體" panose="03000509000000000000" pitchFamily="65" charset="-120"/>
              </a:rPr>
              <a:t>3. </a:t>
            </a:r>
            <a:r>
              <a:rPr lang="zh-TW" altLang="en-US" sz="1700" dirty="0">
                <a:latin typeface="Times New Roman" panose="02020603050405020304" pitchFamily="18" charset="0"/>
                <a:ea typeface="標楷體" panose="03000509000000000000" pitchFamily="65" charset="-120"/>
              </a:rPr>
              <a:t>模型特性導致差異</a:t>
            </a:r>
          </a:p>
          <a:p>
            <a:pPr lvl="1"/>
            <a:r>
              <a:rPr lang="af-ZA" altLang="zh-TW" sz="1700" dirty="0">
                <a:latin typeface="Times New Roman" panose="02020603050405020304" pitchFamily="18" charset="0"/>
                <a:ea typeface="標楷體" panose="03000509000000000000" pitchFamily="65" charset="-120"/>
              </a:rPr>
              <a:t>MILP </a:t>
            </a:r>
            <a:r>
              <a:rPr lang="zh-TW" altLang="en-US" sz="1700" dirty="0">
                <a:latin typeface="Times New Roman" panose="02020603050405020304" pitchFamily="18" charset="0"/>
                <a:ea typeface="標楷體" panose="03000509000000000000" pitchFamily="65" charset="-120"/>
              </a:rPr>
              <a:t>搜尋空間巨大。</a:t>
            </a:r>
          </a:p>
          <a:p>
            <a:pPr lvl="1"/>
            <a:r>
              <a:rPr lang="af-ZA" altLang="zh-TW" sz="1700" dirty="0">
                <a:latin typeface="Times New Roman" panose="02020603050405020304" pitchFamily="18" charset="0"/>
                <a:ea typeface="標楷體" panose="03000509000000000000" pitchFamily="65" charset="-120"/>
              </a:rPr>
              <a:t>CP </a:t>
            </a:r>
            <a:r>
              <a:rPr lang="zh-TW" altLang="en-US" sz="1700" dirty="0">
                <a:latin typeface="Times New Roman" panose="02020603050405020304" pitchFamily="18" charset="0"/>
                <a:ea typeface="標楷體" panose="03000509000000000000" pitchFamily="65" charset="-120"/>
              </a:rPr>
              <a:t>透過 </a:t>
            </a:r>
            <a:r>
              <a:rPr lang="af-ZA" altLang="zh-TW" sz="1700" dirty="0">
                <a:latin typeface="Times New Roman" panose="02020603050405020304" pitchFamily="18" charset="0"/>
                <a:ea typeface="標楷體" panose="03000509000000000000" pitchFamily="65" charset="-120"/>
              </a:rPr>
              <a:t>propagation + LNS</a:t>
            </a:r>
            <a:r>
              <a:rPr lang="zh-TW" altLang="af-ZA" sz="1700" dirty="0">
                <a:latin typeface="Times New Roman" panose="02020603050405020304" pitchFamily="18" charset="0"/>
                <a:ea typeface="標楷體" panose="03000509000000000000" pitchFamily="65" charset="-120"/>
              </a:rPr>
              <a:t>，</a:t>
            </a:r>
            <a:r>
              <a:rPr lang="zh-TW" altLang="en-US" sz="1700" dirty="0">
                <a:latin typeface="Times New Roman" panose="02020603050405020304" pitchFamily="18" charset="0"/>
                <a:ea typeface="標楷體" panose="03000509000000000000" pitchFamily="65" charset="-120"/>
              </a:rPr>
              <a:t>對排程問題更適合。</a:t>
            </a:r>
          </a:p>
          <a:p>
            <a:r>
              <a:rPr lang="en-US" altLang="zh-TW" sz="1700" dirty="0">
                <a:latin typeface="Times New Roman" panose="02020603050405020304" pitchFamily="18" charset="0"/>
                <a:ea typeface="標楷體" panose="03000509000000000000" pitchFamily="65" charset="-120"/>
              </a:rPr>
              <a:t>4. </a:t>
            </a:r>
            <a:r>
              <a:rPr lang="zh-TW" altLang="en-US" sz="1700" dirty="0">
                <a:latin typeface="Times New Roman" panose="02020603050405020304" pitchFamily="18" charset="0"/>
                <a:ea typeface="標楷體" panose="03000509000000000000" pitchFamily="65" charset="-120"/>
              </a:rPr>
              <a:t>綜合觀察</a:t>
            </a:r>
          </a:p>
          <a:p>
            <a:pPr lvl="1"/>
            <a:r>
              <a:rPr lang="af-ZA" altLang="zh-TW" sz="1700" dirty="0">
                <a:latin typeface="Times New Roman" panose="02020603050405020304" pitchFamily="18" charset="0"/>
                <a:ea typeface="標楷體" panose="03000509000000000000" pitchFamily="65" charset="-120"/>
              </a:rPr>
              <a:t>MILP </a:t>
            </a:r>
            <a:r>
              <a:rPr lang="zh-TW" altLang="en-US" sz="1700" dirty="0">
                <a:latin typeface="Times New Roman" panose="02020603050405020304" pitchFamily="18" charset="0"/>
                <a:ea typeface="標楷體" panose="03000509000000000000" pitchFamily="65" charset="-120"/>
              </a:rPr>
              <a:t>可精確刻畫各種限制，適合中小型問題與敏感度分析。</a:t>
            </a:r>
          </a:p>
          <a:p>
            <a:pPr lvl="1"/>
            <a:r>
              <a:rPr lang="af-ZA" altLang="zh-TW" sz="1700" dirty="0">
                <a:latin typeface="Times New Roman" panose="02020603050405020304" pitchFamily="18" charset="0"/>
                <a:ea typeface="標楷體" panose="03000509000000000000" pitchFamily="65" charset="-120"/>
              </a:rPr>
              <a:t>CP </a:t>
            </a:r>
            <a:r>
              <a:rPr lang="zh-TW" altLang="en-US" sz="1700" dirty="0">
                <a:latin typeface="Times New Roman" panose="02020603050405020304" pitchFamily="18" charset="0"/>
                <a:ea typeface="標楷體" panose="03000509000000000000" pitchFamily="65" charset="-120"/>
              </a:rPr>
              <a:t>將任務建模在資源複雜、任務量大的情境下具有優勢。</a:t>
            </a:r>
          </a:p>
          <a:p>
            <a:pPr lvl="1"/>
            <a:endParaRPr lang="zh-TW" altLang="en-US" sz="17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endParaRPr lang="zh-TW" altLang="en-US" sz="17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8BB3CCAB-AC31-8460-2EF1-63976F62C2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5305310"/>
              </p:ext>
            </p:extLst>
          </p:nvPr>
        </p:nvGraphicFramePr>
        <p:xfrm>
          <a:off x="10636899" y="0"/>
          <a:ext cx="1555100" cy="685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5100">
                  <a:extLst>
                    <a:ext uri="{9D8B030D-6E8A-4147-A177-3AD203B41FA5}">
                      <a16:colId xmlns:a16="http://schemas.microsoft.com/office/drawing/2014/main" val="1048587396"/>
                    </a:ext>
                  </a:extLst>
                </a:gridCol>
              </a:tblGrid>
              <a:tr h="137160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zh-TW" b="1" dirty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/>
                        </a:rPr>
                        <a:t>問題背景與</a:t>
                      </a:r>
                      <a:endParaRPr lang="en-US" altLang="zh-TW" b="1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/>
                      </a:endParaRP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zh-TW" b="1" dirty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/>
                        </a:rPr>
                        <a:t>挑戰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491059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zh-TW" sz="1800" b="1" kern="1200" dirty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/>
                          <a:cs typeface="+mn-cs"/>
                        </a:rPr>
                        <a:t>模型一</a:t>
                      </a:r>
                      <a:r>
                        <a:rPr lang="zh-TW" altLang="en-US" b="1" dirty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/>
                        </a:rPr>
                        <a:t>：</a:t>
                      </a:r>
                      <a:endParaRPr lang="en-US" altLang="zh-TW" sz="1800" b="1" kern="1200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/>
                        <a:cs typeface="+mn-cs"/>
                      </a:endParaRP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/>
                          <a:cs typeface="Times New Roman" panose="02020603050405020304" pitchFamily="18" charset="0"/>
                        </a:rPr>
                        <a:t>MILP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6077213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pPr lvl="0" algn="ctr"/>
                      <a:r>
                        <a:rPr lang="zh-TW" altLang="zh-TW" b="1" dirty="0">
                          <a:solidFill>
                            <a:schemeClr val="tx1"/>
                          </a:solidFill>
                          <a:latin typeface="Times New Roman"/>
                          <a:ea typeface="標楷體"/>
                          <a:cs typeface="Times New Roman"/>
                        </a:rPr>
                        <a:t>模型二</a:t>
                      </a:r>
                      <a:r>
                        <a:rPr lang="zh-TW" altLang="en-US" b="1" dirty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/>
                        </a:rPr>
                        <a:t>：</a:t>
                      </a:r>
                      <a:endParaRPr lang="en-US" altLang="zh-TW" b="1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/>
                        <a:cs typeface="+mn-cs"/>
                      </a:endParaRPr>
                    </a:p>
                    <a:p>
                      <a:pPr lvl="0"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/>
                          <a:ea typeface="標楷體"/>
                          <a:cs typeface="Times New Roman"/>
                        </a:rPr>
                        <a:t>CP</a:t>
                      </a:r>
                      <a:r>
                        <a:rPr lang="zh-TW" altLang="zh-TW" b="1" dirty="0">
                          <a:solidFill>
                            <a:schemeClr val="tx1"/>
                          </a:solidFill>
                          <a:latin typeface="Times New Roman"/>
                          <a:ea typeface="標楷體"/>
                          <a:cs typeface="Times New Roman"/>
                        </a:rPr>
                        <a:t> </a:t>
                      </a:r>
                      <a:r>
                        <a:rPr lang="en-US" altLang="zh-TW" b="1" baseline="0" dirty="0">
                          <a:solidFill>
                            <a:schemeClr val="tx1"/>
                          </a:solidFill>
                          <a:latin typeface="Times New Roman"/>
                          <a:ea typeface="標楷體"/>
                          <a:cs typeface="Times New Roman"/>
                        </a:rPr>
                        <a:t>optimizer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6202349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pPr lvl="0" algn="ctr"/>
                      <a:r>
                        <a:rPr lang="zh-TW" altLang="zh-TW" b="1" dirty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/>
                        </a:rPr>
                        <a:t>結果</a:t>
                      </a:r>
                      <a:r>
                        <a:rPr lang="zh-TW" altLang="en-US" b="1" dirty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/>
                        </a:rPr>
                        <a:t>：</a:t>
                      </a:r>
                      <a:endParaRPr lang="en-US" altLang="zh-TW" b="1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/>
                      </a:endParaRPr>
                    </a:p>
                    <a:p>
                      <a:pPr lvl="0" algn="ctr"/>
                      <a:r>
                        <a:rPr lang="zh-TW" altLang="zh-TW" b="1" dirty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模型</a:t>
                      </a:r>
                      <a:r>
                        <a:rPr lang="zh-TW" altLang="en-US" b="1" dirty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求解</a:t>
                      </a:r>
                      <a:r>
                        <a:rPr lang="zh-TW" altLang="zh-TW" b="1" dirty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比較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6817788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zh-TW" sz="1800" b="1" kern="1200" dirty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/>
                          <a:cs typeface="+mn-cs"/>
                        </a:rPr>
                        <a:t>實務建議與</a:t>
                      </a:r>
                      <a:endParaRPr lang="en-US" altLang="zh-TW" sz="1800" b="1" kern="1200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/>
                        <a:cs typeface="+mn-cs"/>
                      </a:endParaRP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zh-TW" sz="1800" b="1" kern="1200" dirty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/>
                          <a:cs typeface="+mn-cs"/>
                        </a:rPr>
                        <a:t>未來展望</a:t>
                      </a:r>
                      <a:endParaRPr lang="zh-TW" altLang="en-US" sz="1800" b="1" kern="1200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/>
                        <a:cs typeface="+mn-cs"/>
                      </a:endParaRP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125927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5.</a:t>
            </a:r>
            <a:r>
              <a:rPr kumimoji="1" lang="zh-TW" altLang="en-US" b="1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 未來展望 </a:t>
            </a:r>
            <a:r>
              <a:rPr kumimoji="1"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(Future Work)</a:t>
            </a:r>
            <a:endParaRPr kumimoji="1" b="1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433146"/>
            <a:ext cx="8719215" cy="4362031"/>
          </a:xfrm>
        </p:spPr>
        <p:txBody>
          <a:bodyPr>
            <a:normAutofit/>
          </a:bodyPr>
          <a:lstStyle/>
          <a:p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1. 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混合策略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 MILP–CP</a:t>
            </a:r>
          </a:p>
          <a:p>
            <a:pPr lvl="1"/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CP 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排序 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+ MILP 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微調</a:t>
            </a:r>
          </a:p>
          <a:p>
            <a:endParaRPr lang="zh-TW" altLang="en-US" sz="20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2. 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實務應用擴展</a:t>
            </a:r>
          </a:p>
          <a:p>
            <a:pPr lvl="1"/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多衛星</a:t>
            </a:r>
          </a:p>
          <a:p>
            <a:pPr lvl="1"/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支援緊急任務插入</a:t>
            </a: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lvl="1"/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與實際任務控制系統整合（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UI + API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），讓排程結果能直接被營運人員使用與回饋</a:t>
            </a:r>
          </a:p>
          <a:p>
            <a:endParaRPr sz="17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71636A68-FA78-2E10-2929-A7820CDC51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1192051"/>
              </p:ext>
            </p:extLst>
          </p:nvPr>
        </p:nvGraphicFramePr>
        <p:xfrm>
          <a:off x="10636899" y="0"/>
          <a:ext cx="1555100" cy="685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5100">
                  <a:extLst>
                    <a:ext uri="{9D8B030D-6E8A-4147-A177-3AD203B41FA5}">
                      <a16:colId xmlns:a16="http://schemas.microsoft.com/office/drawing/2014/main" val="1048587396"/>
                    </a:ext>
                  </a:extLst>
                </a:gridCol>
              </a:tblGrid>
              <a:tr h="137160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zh-TW" b="1" dirty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/>
                        </a:rPr>
                        <a:t>問題背景與</a:t>
                      </a:r>
                      <a:endParaRPr lang="en-US" altLang="zh-TW" b="1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/>
                      </a:endParaRP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zh-TW" b="1" dirty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/>
                        </a:rPr>
                        <a:t>挑戰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491059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zh-TW" sz="1800" b="1" kern="1200" dirty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/>
                          <a:cs typeface="+mn-cs"/>
                        </a:rPr>
                        <a:t>模型一</a:t>
                      </a:r>
                      <a:r>
                        <a:rPr lang="zh-TW" altLang="en-US" b="1" dirty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/>
                        </a:rPr>
                        <a:t>：</a:t>
                      </a:r>
                      <a:endParaRPr lang="en-US" altLang="zh-TW" sz="1800" b="1" kern="1200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/>
                        <a:cs typeface="+mn-cs"/>
                      </a:endParaRP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/>
                          <a:cs typeface="Times New Roman" panose="02020603050405020304" pitchFamily="18" charset="0"/>
                        </a:rPr>
                        <a:t>MILP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6077213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pPr lvl="0" algn="ctr"/>
                      <a:r>
                        <a:rPr lang="zh-TW" altLang="zh-TW" b="1" dirty="0">
                          <a:solidFill>
                            <a:schemeClr val="tx1"/>
                          </a:solidFill>
                          <a:latin typeface="Times New Roman"/>
                          <a:ea typeface="標楷體"/>
                          <a:cs typeface="Times New Roman"/>
                        </a:rPr>
                        <a:t>模型二</a:t>
                      </a:r>
                      <a:r>
                        <a:rPr lang="zh-TW" altLang="en-US" b="1" dirty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/>
                        </a:rPr>
                        <a:t>：</a:t>
                      </a:r>
                      <a:endParaRPr lang="en-US" altLang="zh-TW" b="1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/>
                        <a:cs typeface="+mn-cs"/>
                      </a:endParaRPr>
                    </a:p>
                    <a:p>
                      <a:pPr lvl="0"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/>
                          <a:ea typeface="標楷體"/>
                          <a:cs typeface="Times New Roman"/>
                        </a:rPr>
                        <a:t>CP</a:t>
                      </a:r>
                      <a:r>
                        <a:rPr lang="zh-TW" altLang="zh-TW" b="1" dirty="0">
                          <a:solidFill>
                            <a:schemeClr val="tx1"/>
                          </a:solidFill>
                          <a:latin typeface="Times New Roman"/>
                          <a:ea typeface="標楷體"/>
                          <a:cs typeface="Times New Roman"/>
                        </a:rPr>
                        <a:t> </a:t>
                      </a:r>
                      <a:r>
                        <a:rPr lang="en-US" altLang="zh-TW" b="1" baseline="0" dirty="0">
                          <a:solidFill>
                            <a:schemeClr val="tx1"/>
                          </a:solidFill>
                          <a:latin typeface="Times New Roman"/>
                          <a:ea typeface="標楷體"/>
                          <a:cs typeface="Times New Roman"/>
                        </a:rPr>
                        <a:t>optimizer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6202349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pPr lvl="0" algn="ctr"/>
                      <a:r>
                        <a:rPr lang="zh-TW" altLang="zh-TW" b="1" dirty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/>
                        </a:rPr>
                        <a:t>結果</a:t>
                      </a:r>
                      <a:r>
                        <a:rPr lang="zh-TW" altLang="en-US" b="1" dirty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/>
                        </a:rPr>
                        <a:t>：</a:t>
                      </a:r>
                      <a:endParaRPr lang="en-US" altLang="zh-TW" b="1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/>
                      </a:endParaRPr>
                    </a:p>
                    <a:p>
                      <a:pPr lvl="0" algn="ctr"/>
                      <a:r>
                        <a:rPr lang="zh-TW" altLang="zh-TW" b="1" dirty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模型</a:t>
                      </a:r>
                      <a:r>
                        <a:rPr lang="zh-TW" altLang="en-US" b="1" dirty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求解</a:t>
                      </a:r>
                      <a:r>
                        <a:rPr lang="zh-TW" altLang="zh-TW" b="1" dirty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比較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6817788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zh-TW" sz="1800" b="1" kern="1200" dirty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/>
                          <a:cs typeface="+mn-cs"/>
                        </a:rPr>
                        <a:t>實務建議與</a:t>
                      </a:r>
                      <a:endParaRPr lang="en-US" altLang="zh-TW" sz="1800" b="1" kern="1200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/>
                        <a:cs typeface="+mn-cs"/>
                      </a:endParaRP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zh-TW" sz="1800" b="1" kern="1200" dirty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/>
                          <a:cs typeface="+mn-cs"/>
                        </a:rPr>
                        <a:t>未來展望</a:t>
                      </a:r>
                      <a:endParaRPr lang="zh-TW" altLang="en-US" sz="1800" b="1" kern="1200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/>
                        <a:cs typeface="+mn-cs"/>
                      </a:endParaRP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125927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多面向">
  <a:themeElements>
    <a:clrScheme name="多面向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多面向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多面向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多面向">
    <a:dk1>
      <a:sysClr val="windowText" lastClr="000000"/>
    </a:dk1>
    <a:lt1>
      <a:sysClr val="window" lastClr="FFFFFF"/>
    </a:lt1>
    <a:dk2>
      <a:srgbClr val="2C3C43"/>
    </a:dk2>
    <a:lt2>
      <a:srgbClr val="EBEBEB"/>
    </a:lt2>
    <a:accent1>
      <a:srgbClr val="5FCBEF"/>
    </a:accent1>
    <a:accent2>
      <a:srgbClr val="2E83C3"/>
    </a:accent2>
    <a:accent3>
      <a:srgbClr val="42D0A2"/>
    </a:accent3>
    <a:accent4>
      <a:srgbClr val="2E946B"/>
    </a:accent4>
    <a:accent5>
      <a:srgbClr val="42B051"/>
    </a:accent5>
    <a:accent6>
      <a:srgbClr val="96D141"/>
    </a:accent6>
    <a:hlink>
      <a:srgbClr val="3FCDE7"/>
    </a:hlink>
    <a:folHlink>
      <a:srgbClr val="A9D3E1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3547</TotalTime>
  <Words>2488</Words>
  <Application>Microsoft Office PowerPoint</Application>
  <PresentationFormat>寬螢幕</PresentationFormat>
  <Paragraphs>556</Paragraphs>
  <Slides>18</Slides>
  <Notes>12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18</vt:i4>
      </vt:variant>
    </vt:vector>
  </HeadingPairs>
  <TitlesOfParts>
    <vt:vector size="26" baseType="lpstr">
      <vt:lpstr>游ゴシック</vt:lpstr>
      <vt:lpstr>標楷體</vt:lpstr>
      <vt:lpstr>Arial</vt:lpstr>
      <vt:lpstr>Cambria Math</vt:lpstr>
      <vt:lpstr>Times New Roman</vt:lpstr>
      <vt:lpstr>Trebuchet MS</vt:lpstr>
      <vt:lpstr>Wingdings 3</vt:lpstr>
      <vt:lpstr>多面向</vt:lpstr>
      <vt:lpstr>第十組-衛星任務排程最佳化： 混合整數線性規劃與限制式規劃之研究</vt:lpstr>
      <vt:lpstr>1. 問題背景與挑戰</vt:lpstr>
      <vt:lpstr>1. 問題背景與挑戰</vt:lpstr>
      <vt:lpstr>流程圖</vt:lpstr>
      <vt:lpstr>2. MILP 模型建立</vt:lpstr>
      <vt:lpstr>2. 目標式建立</vt:lpstr>
      <vt:lpstr>流程圖</vt:lpstr>
      <vt:lpstr>3. CP 模型建立</vt:lpstr>
      <vt:lpstr>流程圖</vt:lpstr>
      <vt:lpstr>4. 模型求解方式比較</vt:lpstr>
      <vt:lpstr>4. 模型效能比較 – 結果輸出示例</vt:lpstr>
      <vt:lpstr>4. 模型效能比較– 基於到達穩定解的時間 </vt:lpstr>
      <vt:lpstr>PowerPoint 簡報</vt:lpstr>
      <vt:lpstr>4. 模型求解品質比較– 基於運行時間限制 </vt:lpstr>
      <vt:lpstr>PowerPoint 簡報</vt:lpstr>
      <vt:lpstr>不同 Time Limit 下的 Average Normalized Start Time Ratio比較</vt:lpstr>
      <vt:lpstr>4. 結論分析</vt:lpstr>
      <vt:lpstr>5. 未來展望 (Future Work)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尹品玲</dc:creator>
  <cp:lastModifiedBy>jason lo</cp:lastModifiedBy>
  <cp:revision>99</cp:revision>
  <dcterms:created xsi:type="dcterms:W3CDTF">2025-09-03T10:32:05Z</dcterms:created>
  <dcterms:modified xsi:type="dcterms:W3CDTF">2025-12-17T12:56:10Z</dcterms:modified>
</cp:coreProperties>
</file>