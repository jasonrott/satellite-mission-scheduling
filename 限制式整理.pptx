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9" r:id="rId4"/>
    <p:sldId id="269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  <p:sldId id="270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3F2344-3DEA-4D39-8A8C-2E9F44CD5158}" v="12" dt="2025-12-02T12:38:35.1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910" autoAdjust="0"/>
  </p:normalViewPr>
  <p:slideViewPr>
    <p:cSldViewPr snapToGrid="0">
      <p:cViewPr varScale="1">
        <p:scale>
          <a:sx n="87" d="100"/>
          <a:sy n="87" d="100"/>
        </p:scale>
        <p:origin x="14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A7344-AE1B-4DC0-B095-B0BB4189656C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613C80-8143-4612-B2F8-1BFD66313B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22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集合一律大寫</a:t>
            </a:r>
            <a:endParaRPr kumimoji="1" lang="en-US" altLang="zh-TW" dirty="0"/>
          </a:p>
          <a:p>
            <a:r>
              <a:rPr kumimoji="1" lang="zh-TW" altLang="en-US" dirty="0"/>
              <a:t>集合、參數、變數一律斜體且用英文字母或希臘字母表示</a:t>
            </a:r>
            <a:endParaRPr kumimoji="1" lang="ja-JP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98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需再更詳細敘述限制式意涵</a:t>
            </a:r>
            <a:endParaRPr kumimoji="1" lang="ja-JP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610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2607C2-8846-4C1B-9BFF-A94A68688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C07665A-C154-4AB9-9B39-860ABF897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B725E5-A917-4FE9-9793-279CB081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A2F8C7-8391-4800-9028-5E265BC87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42E1CC-BA4A-4FD5-B0B4-2CA9D3ED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07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B7C6C0-D48E-4126-8606-2DD1F10BC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407E1D-777E-4F2B-AB59-9947016FC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722C1B-CC94-4BC2-8129-422C8F68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7693C4-767C-4108-A427-2ACC09EE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3266BF-7870-4902-9523-D697D3EE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0155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D999F7-85AD-4E59-BAE9-A5995AF5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5DB734-5B59-487F-9D74-E8B6192CE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06DCD6-BEE6-499C-A2FC-D04022F3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D39926-F80E-475B-8BC5-3BB62B67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C92D23-CA7A-45B5-A58F-9036C99B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DC9560-5101-4AED-95C2-190805D5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7D8F6A-2835-422F-992F-BE924C960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0B6CF8-4F26-406A-91FE-2513196E4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131E2B-20D6-44FB-B5F7-0B1E9AA55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0ED693-24AC-447F-AB20-165B8E6E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797E39-009E-4903-80F7-2F8975EF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37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4E66A8-868A-4750-9865-13594251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E2C6B6-40B4-47AD-97A8-086A50FCF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2D9648-FBCB-4D5C-A785-7F24A635C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F823F08-9E7C-490C-B200-9F51658CA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ABECC1D-CC44-44E2-999E-0A1C4753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C00607F-EA90-413A-81CB-D58F55554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417ACCE-8910-45E9-B3FE-019C2F36A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BEE979-EADA-4B14-92B8-C7B5D894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281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950892-90E8-4C1B-BF61-D864A2C9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B23DE97-6A3D-4D24-B0B9-4B1E105D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76728B-FF60-4F77-9F40-18DC2132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C1270A1-4991-4EDB-9942-F070F293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74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51252E8-153A-43F8-A933-D73D6401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618A4C7-1EC4-4199-ACCB-683C3908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8DDFF5-A9D5-4AA9-862F-23C73BC5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94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364608-37FE-4AB1-81A7-F139141A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48B3E7-84FE-4D8F-9D00-96CBAB464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0DD4EE-3AB3-4C0E-8381-798286406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7F0FAC-8227-40CA-97A9-EB390A93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C164DD-CC82-490E-B5AC-8F2D9609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3DC5F6F-7669-4C57-ABA9-F6B2FCEF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181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0CD77F-78B8-4CF0-8A11-F5EAF8EE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8A63EBF-465B-4A28-8BEA-A7D875C0A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6E035B0-568C-4D0C-8D94-26089B920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4FDBDD-1550-47F3-B982-6EDDB47A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A5D61C-A771-42E6-AF6A-EFA205D0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B0B662-78D0-4006-8318-CFA9E236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918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D14E21-AD87-4B30-AA44-AD984228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F12B12-1690-40D0-BA33-8B18930E1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76E38E-5F9B-476C-AB99-F9F5E622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C72FF8-596D-474B-BE83-04A950816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845D50-2D13-49B2-85CE-D4A49E30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34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11BD1AB-FE56-42D6-831E-0B48C3D48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71178D1-A503-4CBC-A2E1-D8DBB1C48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DF97BD-3EF2-4375-B543-CD4C240D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1C705E-FBBF-4887-B50F-2CEC9CA7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285C56-6544-4EF8-AA80-A656EDF3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932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2E8CD4C-BA8B-4364-AD94-922D6AD2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ja-JP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1FB57C-9AEA-495B-9BEE-16330D277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DF4C58-3D38-4FAB-8B46-20471A4E0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CE343-DEB8-42D3-AF4C-8758686CB5C1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44BA7B-5111-4293-8E6B-617A3DECF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73ED9-AB7A-433F-8E53-72D99762F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208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6A6A04-006B-B2BF-6EE1-A21046AB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84" y="2766218"/>
            <a:ext cx="7281232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8000" dirty="0"/>
              <a:t>限制式整理</a:t>
            </a:r>
          </a:p>
        </p:txBody>
      </p:sp>
    </p:spTree>
    <p:extLst>
      <p:ext uri="{BB962C8B-B14F-4D97-AF65-F5344CB8AC3E}">
        <p14:creationId xmlns:p14="http://schemas.microsoft.com/office/powerpoint/2010/main" val="109797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58E5981-90DB-4691-9447-E3C7A7BF4F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9738488"/>
                  </p:ext>
                </p:extLst>
              </p:nvPr>
            </p:nvGraphicFramePr>
            <p:xfrm>
              <a:off x="117642" y="47862"/>
              <a:ext cx="11956715" cy="67780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5516">
                      <a:extLst>
                        <a:ext uri="{9D8B030D-6E8A-4147-A177-3AD203B41FA5}">
                          <a16:colId xmlns:a16="http://schemas.microsoft.com/office/drawing/2014/main" val="4189296696"/>
                        </a:ext>
                      </a:extLst>
                    </a:gridCol>
                    <a:gridCol w="10871199">
                      <a:extLst>
                        <a:ext uri="{9D8B030D-6E8A-4147-A177-3AD203B41FA5}">
                          <a16:colId xmlns:a16="http://schemas.microsoft.com/office/drawing/2014/main" val="18347714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zh-TW" altLang="en-US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集合</a:t>
                          </a:r>
                          <a:endParaRPr kumimoji="1" lang="ja-JP" alt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3831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kumimoji="1" lang="ja-JP" alt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待排程的任務集合，再依任務類別劃分為多個子集合。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111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Track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任務集合，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74091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</a:t>
                          </a:r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Maneuver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任務集合，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7479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地面站的組別集合。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64177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Maneuver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任務集合，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，其中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代表該任務隸屬的組別，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88652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Maneuver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任務集合，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𝐻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𝐻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，其中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代表該任務隸屬的組別，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87073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日蝕集合。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2944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、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的組別集合，每一組中含有一個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、數個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和一個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078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任務集合。</a:t>
                          </a:r>
                          <a:endParaRPr kumimoji="1" lang="en-US" altLang="zh-TW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，其中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代表該任務隸屬的日蝕區間，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，其中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代表該任務隸屬的組別，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191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任務集合，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…, </m:t>
                                  </m:r>
                                  <m:sSubSup>
                                    <m:sSub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，其中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代表該任務隸屬的組別，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為組別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中的第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個任務。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5004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任務集合，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⊆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，其中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代表該任務隸屬的組別，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0777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J-type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地面站集合。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9521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地面站集合，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kumimoji="1"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, …</m:t>
                                  </m:r>
                                </m:e>
                              </m:d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，其中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代表該任務隸屬的組別，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582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記憶體容量與檔名使用的時間窗集合。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112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Duty cycle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的時間窗集合。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94827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658E5981-90DB-4691-9447-E3C7A7BF4F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9738488"/>
                  </p:ext>
                </p:extLst>
              </p:nvPr>
            </p:nvGraphicFramePr>
            <p:xfrm>
              <a:off x="117642" y="47862"/>
              <a:ext cx="11956715" cy="67780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5516">
                      <a:extLst>
                        <a:ext uri="{9D8B030D-6E8A-4147-A177-3AD203B41FA5}">
                          <a16:colId xmlns:a16="http://schemas.microsoft.com/office/drawing/2014/main" val="4189296696"/>
                        </a:ext>
                      </a:extLst>
                    </a:gridCol>
                    <a:gridCol w="10871199">
                      <a:extLst>
                        <a:ext uri="{9D8B030D-6E8A-4147-A177-3AD203B41FA5}">
                          <a16:colId xmlns:a16="http://schemas.microsoft.com/office/drawing/2014/main" val="18347714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zh-TW" altLang="en-US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集合</a:t>
                          </a:r>
                          <a:endParaRPr kumimoji="1" lang="ja-JP" alt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3831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4918" r="-1002247" b="-16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待排程的任務集合，再依任務類別劃分為多個子集合。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111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4918" r="-1002247" b="-1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78" t="-204918" b="-15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4091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4918" r="-1002247" b="-14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78" t="-304918" b="-14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479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11667" r="-1002247" b="-13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地面站的組別集合。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64177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3279" r="-1002247" b="-12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78" t="-503279" b="-1252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88652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603279" r="-1002247" b="-11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78" t="-603279" b="-1152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073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03279" r="-1002247" b="-10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日蝕集合。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2944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803279" r="-1002247" b="-9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、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的組別集合，每一組中含有一個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、數個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和一個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078621"/>
                      </a:ext>
                    </a:extLst>
                  </a:tr>
                  <a:tr h="92417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62500" r="-1002247" b="-282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78" t="-362500" b="-282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191543"/>
                      </a:ext>
                    </a:extLst>
                  </a:tr>
                  <a:tr h="66211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644954" r="-1002247" b="-2935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78" t="-644954" b="-293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5004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353333" r="-1002247" b="-4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78" t="-1353333" b="-4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0777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429508" r="-1002247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J-type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地面站集合。</a:t>
                          </a:r>
                          <a:endParaRPr kumimoji="1" lang="en-US" altLang="ja-JP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9521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529508" r="-1002247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78" t="-1529508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582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629508" r="-1002247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記憶體容量與檔名使用的時間窗集合。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112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729508" r="-1002247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Duty cycle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的時間窗集合。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94827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2738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458FBD7-FF29-4F4D-8287-BCD2DF660C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3560651"/>
                  </p:ext>
                </p:extLst>
              </p:nvPr>
            </p:nvGraphicFramePr>
            <p:xfrm>
              <a:off x="162427" y="151878"/>
              <a:ext cx="11867146" cy="5999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6773">
                      <a:extLst>
                        <a:ext uri="{9D8B030D-6E8A-4147-A177-3AD203B41FA5}">
                          <a16:colId xmlns:a16="http://schemas.microsoft.com/office/drawing/2014/main" val="2520777720"/>
                        </a:ext>
                      </a:extLst>
                    </a:gridCol>
                    <a:gridCol w="10810373">
                      <a:extLst>
                        <a:ext uri="{9D8B030D-6E8A-4147-A177-3AD203B41FA5}">
                          <a16:colId xmlns:a16="http://schemas.microsoft.com/office/drawing/2014/main" val="24575040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zh-TW" altLang="en-US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參數</a:t>
                          </a:r>
                          <a:endParaRPr kumimoji="1" lang="ja-JP" alt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509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極大值。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3933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任務開始時間。除了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此時間代表該任務最早可開始執行的時間外，其餘任務接代表確切開始執行的時間。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55340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任務結束時間。除了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此時間代表該任務最晚可執行的時間外，其餘任務接代表確切結束執行的時間。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875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任務執行時長。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67145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根據需求是要落在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J-type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或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便分別屬於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，而此兩參數分別代表衛星與該地面站接觸的開始與結束時間。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42377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，記憶體容量與檔名使用的時間窗之開始與結束時間。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0766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Duty cycle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的時間窗之開始與結束時間。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9998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ja-JP" alt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初始狀態下可使用的記憶體容量。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69064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ja-JP" alt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初始狀態下可使用的檔名數量。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0434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，表示該筆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佔用的記憶體容量。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868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，表示該筆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釋放的記憶體容量。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524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，表示該筆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佔用的檔名數量。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83071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，表示該筆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釋放的檔名數量。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22336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458FBD7-FF29-4F4D-8287-BCD2DF660C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3560651"/>
                  </p:ext>
                </p:extLst>
              </p:nvPr>
            </p:nvGraphicFramePr>
            <p:xfrm>
              <a:off x="162427" y="151878"/>
              <a:ext cx="11867146" cy="5999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6773">
                      <a:extLst>
                        <a:ext uri="{9D8B030D-6E8A-4147-A177-3AD203B41FA5}">
                          <a16:colId xmlns:a16="http://schemas.microsoft.com/office/drawing/2014/main" val="2520777720"/>
                        </a:ext>
                      </a:extLst>
                    </a:gridCol>
                    <a:gridCol w="10810373">
                      <a:extLst>
                        <a:ext uri="{9D8B030D-6E8A-4147-A177-3AD203B41FA5}">
                          <a16:colId xmlns:a16="http://schemas.microsoft.com/office/drawing/2014/main" val="24575040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zh-TW" altLang="en-US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參數</a:t>
                          </a:r>
                          <a:endParaRPr kumimoji="1" lang="ja-JP" alt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509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918" r="-1026012" b="-14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極大值。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39334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19048" r="-1026012" b="-7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119048" b="-73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553401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19048" r="-1026012" b="-6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219048" b="-63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875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49180" r="-1026012" b="-9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549180" b="-9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671454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77143" r="-1026012" b="-4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377143" b="-4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2377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821311" r="-1026012" b="-7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821311" b="-7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766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921311" r="-1026012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921311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8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21311" r="-1026012" b="-5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初始狀態下可使用的記憶體容量。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69064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121311" r="-1026012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初始狀態下可使用的檔名數量。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0434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221311" r="-1026012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1221311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68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321311" r="-1026012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1321311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524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421311" r="-102601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1421311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3071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521311" r="-1026012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46" t="-1521311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22336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1033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E09AC600-209D-4A07-B908-EC2E69A468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241863"/>
                  </p:ext>
                </p:extLst>
              </p:nvPr>
            </p:nvGraphicFramePr>
            <p:xfrm>
              <a:off x="162427" y="189330"/>
              <a:ext cx="11867146" cy="34869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8647">
                      <a:extLst>
                        <a:ext uri="{9D8B030D-6E8A-4147-A177-3AD203B41FA5}">
                          <a16:colId xmlns:a16="http://schemas.microsoft.com/office/drawing/2014/main" val="1531762235"/>
                        </a:ext>
                      </a:extLst>
                    </a:gridCol>
                    <a:gridCol w="10858499">
                      <a:extLst>
                        <a:ext uri="{9D8B030D-6E8A-4147-A177-3AD203B41FA5}">
                          <a16:colId xmlns:a16="http://schemas.microsoft.com/office/drawing/2014/main" val="24891068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zh-TW" altLang="en-US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變數</a:t>
                          </a:r>
                          <a:endParaRPr kumimoji="1" lang="ja-JP" alt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737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二元變數，若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可以執行，則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；反之為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2321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二元變數，用於選擇任務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接觸的地面站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會根據任務需求要與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J-type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或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R-type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地面站接觸分別屬於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，若任務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選擇與地面站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接觸，則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ja-JP" alt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；反之為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4461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二元變數，若任務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開始執行的時間晚於任務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開始執行的時間，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；反之為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2817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連續變數，對於開始執行時間不確定的任務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⋁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，其確切開始執行的時間。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3929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ja-JP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二元變數，用於控制記憶體和檔名的使用，若任務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的開始時間落於時間窗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內，則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；反之為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9764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ja-JP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二元變數，用於控制任務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在每軌的執行總時長，若任務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的開始時間落於時間窗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內，則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kumimoji="1"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；反之為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。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6958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E09AC600-209D-4A07-B908-EC2E69A468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241863"/>
                  </p:ext>
                </p:extLst>
              </p:nvPr>
            </p:nvGraphicFramePr>
            <p:xfrm>
              <a:off x="162427" y="189330"/>
              <a:ext cx="11867146" cy="34869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8647">
                      <a:extLst>
                        <a:ext uri="{9D8B030D-6E8A-4147-A177-3AD203B41FA5}">
                          <a16:colId xmlns:a16="http://schemas.microsoft.com/office/drawing/2014/main" val="1531762235"/>
                        </a:ext>
                      </a:extLst>
                    </a:gridCol>
                    <a:gridCol w="10858499">
                      <a:extLst>
                        <a:ext uri="{9D8B030D-6E8A-4147-A177-3AD203B41FA5}">
                          <a16:colId xmlns:a16="http://schemas.microsoft.com/office/drawing/2014/main" val="24891068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zh-TW" altLang="en-US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變數</a:t>
                          </a:r>
                          <a:endParaRPr kumimoji="1" lang="ja-JP" alt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737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6557" r="-1073494" b="-7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15" t="-106557" b="-7655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321204"/>
                      </a:ext>
                    </a:extLst>
                  </a:tr>
                  <a:tr h="662178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15596" r="-1073494" b="-3284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15" t="-115596" b="-3284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461750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73016" r="-1073494" b="-468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15" t="-373016" b="-4682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817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88525" r="-1073494" b="-3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15" t="-488525" b="-3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3929110"/>
                      </a:ext>
                    </a:extLst>
                  </a:tr>
                  <a:tr h="662178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29358" r="-1073494" b="-114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15" t="-329358" b="-1146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9764446"/>
                      </a:ext>
                    </a:extLst>
                  </a:tr>
                  <a:tr h="662178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29358" r="-1073494" b="-14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15" t="-429358" b="-146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6958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234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3727F13-A8CA-4CE7-9C55-28DC454C0396}"/>
              </a:ext>
            </a:extLst>
          </p:cNvPr>
          <p:cNvSpPr txBox="1"/>
          <p:nvPr/>
        </p:nvSpPr>
        <p:spPr>
          <a:xfrm>
            <a:off x="0" y="144379"/>
            <a:ext cx="149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953E159-C9C6-40F7-938E-295250853F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0060130"/>
                  </p:ext>
                </p:extLst>
              </p:nvPr>
            </p:nvGraphicFramePr>
            <p:xfrm>
              <a:off x="283411" y="957219"/>
              <a:ext cx="10657305" cy="42548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53347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1138989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636169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93084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kumimoji="1" lang="en-US" altLang="ja-JP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Track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執行開始時間需晚於使用之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的接觸開始時間。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kumimoji="1" lang="en-US" altLang="ja-JP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Track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執行結束時間需早於使用之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的接觸結束時間。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120226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kumimoji="1"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ja-JP" alt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一筆任務僅能最多落在一個接觸區間內。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148166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kumimoji="1" lang="en-US" altLang="ja-JP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Track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任務間執行期間不得重疊。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58876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953E159-C9C6-40F7-938E-295250853F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0060130"/>
                  </p:ext>
                </p:extLst>
              </p:nvPr>
            </p:nvGraphicFramePr>
            <p:xfrm>
              <a:off x="283411" y="957219"/>
              <a:ext cx="10657305" cy="42548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53347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1138989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636169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93084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249102" b="-356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67000" r="-316000" b="-356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Track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執行開始時間需晚於使用之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的接觸開始時間。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5714" r="-249102" b="-4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67000" t="-145714" r="-316000" b="-4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Track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執行結束時間需早於使用之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的接觸結束時間。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120226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30303" r="-249102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67000" t="-130303" r="-316000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一筆任務僅能最多落在一個接觸區間內。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148166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87654" r="-249102" b="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67000" t="-187654" r="-316000" b="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Track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任務間執行期間不得重疊。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58876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472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62525A7-45D4-44F8-B669-EFA9C61849B2}"/>
              </a:ext>
            </a:extLst>
          </p:cNvPr>
          <p:cNvSpPr txBox="1"/>
          <p:nvPr/>
        </p:nvSpPr>
        <p:spPr>
          <a:xfrm>
            <a:off x="0" y="144379"/>
            <a:ext cx="149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Shoot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03D61EF6-71F9-483C-BD24-187C38B323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9535320"/>
                  </p:ext>
                </p:extLst>
              </p:nvPr>
            </p:nvGraphicFramePr>
            <p:xfrm>
              <a:off x="0" y="667599"/>
              <a:ext cx="12047621" cy="41554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6168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310064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802105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299284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79223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1" lang="en-US" altLang="ja-JP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𝑆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𝑆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𝑆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∀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    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138615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4117785"/>
                      </a:ext>
                    </a:extLst>
                  </a:tr>
                  <a:tr h="631406">
                    <a:tc v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9464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∀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 ∀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𝐷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𝑜𝑟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∀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 ∀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      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255783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6844123"/>
                      </a:ext>
                    </a:extLst>
                  </a:tr>
                  <a:tr h="610491">
                    <a:tc v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5887601"/>
                      </a:ext>
                    </a:extLst>
                  </a:tr>
                  <a:tr h="61049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sSup>
                                      <m:sSup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p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≤480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限制每個日蝕區間內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的執行時長加總不能超過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分鐘（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480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秒）。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0221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03D61EF6-71F9-483C-BD24-187C38B323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9535320"/>
                  </p:ext>
                </p:extLst>
              </p:nvPr>
            </p:nvGraphicFramePr>
            <p:xfrm>
              <a:off x="0" y="667599"/>
              <a:ext cx="12047621" cy="41554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6168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310064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802105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299284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792233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59790" b="-429231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r="-220844" b="-16770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0028" b="-239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138615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2362" r="-159790" b="-33937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4117785"/>
                      </a:ext>
                    </a:extLst>
                  </a:tr>
                  <a:tr h="631406">
                    <a:tc vMerge="1"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94648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65806" r="-159790" b="-17806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t="-86242" r="-220844" b="-4463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255783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88112" r="-159790" b="-9300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6844123"/>
                      </a:ext>
                    </a:extLst>
                  </a:tr>
                  <a:tr h="610491">
                    <a:tc vMerge="1"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5887601"/>
                      </a:ext>
                    </a:extLst>
                  </a:tr>
                  <a:tr h="78041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33594" r="-159790" b="-39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t="-433594" r="-220844" b="-39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限制每個日蝕區間內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的執行時長加總不能超過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分鐘（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480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秒）。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02210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86143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62525A7-45D4-44F8-B669-EFA9C61849B2}"/>
              </a:ext>
            </a:extLst>
          </p:cNvPr>
          <p:cNvSpPr txBox="1"/>
          <p:nvPr/>
        </p:nvSpPr>
        <p:spPr>
          <a:xfrm>
            <a:off x="0" y="144379"/>
            <a:ext cx="149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Shoot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03D61EF6-71F9-483C-BD24-187C38B323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8588832"/>
                  </p:ext>
                </p:extLst>
              </p:nvPr>
            </p:nvGraphicFramePr>
            <p:xfrm>
              <a:off x="72189" y="667599"/>
              <a:ext cx="12047621" cy="46647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97642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005263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930442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3914274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1083486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r>
                                  <a:rPr lang="en-US" sz="1800" b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kern="1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(10)</a:t>
                          </a:r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1" lang="zh-TW" altLang="en-US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限制拍攝任務若可執行，需有足夠的記憶體容量和檔名數量。</a:t>
                          </a:r>
                          <a:endParaRPr kumimoji="1" lang="ja-JP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0221021"/>
                      </a:ext>
                    </a:extLst>
                  </a:tr>
                  <a:tr h="91190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r>
                                  <a:rPr lang="en-US" sz="1800" b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kern="1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(11)</a:t>
                          </a:r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kumimoji="1" lang="ja-JP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6733621"/>
                      </a:ext>
                    </a:extLst>
                  </a:tr>
                  <a:tr h="170046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∈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ja-JP" sz="1800" b="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ja-JP" sz="1800" b="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ja-JP" sz="1800" b="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supHide m:val="on"/>
                                        <m:ctrlPr>
                                          <a:rPr lang="ja-JP" sz="1800" b="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ja-JP" sz="1800" b="0" i="1" kern="1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𝑊</m:t>
                                            </m:r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|</m:t>
                                            </m:r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&lt;</m:t>
                                            </m:r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ja-JP" sz="1800" b="0" i="1" kern="1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×</m:t>
                                        </m:r>
                                        <m:sSub>
                                          <m:sSubPr>
                                            <m:ctrlPr>
                                              <a:rPr lang="ja-JP" sz="1800" b="0" i="1" kern="1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𝑙𝑗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kern="1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(12)</a:t>
                          </a:r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kumimoji="1" lang="ja-JP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79839223"/>
                      </a:ext>
                    </a:extLst>
                  </a:tr>
                  <a:tr h="610491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∈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ja-JP" sz="1800" b="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ja-JP" sz="1800" b="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ja-JP" sz="1800" b="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ja-JP" sz="1800" b="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supHide m:val="on"/>
                                        <m:ctrlPr>
                                          <a:rPr lang="ja-JP" sz="1800" b="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ja-JP" sz="1800" b="0" i="1" kern="1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𝑊</m:t>
                                            </m:r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|</m:t>
                                            </m:r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&lt;</m:t>
                                            </m:r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ja-JP" sz="1800" b="0" i="1" kern="1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  <m:r>
                                          <a:rPr lang="en-US" sz="1800" b="0" i="1" kern="1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×</m:t>
                                        </m:r>
                                        <m:sSub>
                                          <m:sSubPr>
                                            <m:ctrlPr>
                                              <a:rPr lang="ja-JP" sz="1800" b="0" i="1" kern="1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kern="1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𝑙𝑗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kern="1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(13)</a:t>
                          </a:r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kumimoji="1" lang="ja-JP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59254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03D61EF6-71F9-483C-BD24-187C38B323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8588832"/>
                  </p:ext>
                </p:extLst>
              </p:nvPr>
            </p:nvGraphicFramePr>
            <p:xfrm>
              <a:off x="72189" y="667599"/>
              <a:ext cx="12047621" cy="46647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97642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005263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930442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3914274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108348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31887" b="-3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485" r="-240909" b="-3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kern="1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(10)</a:t>
                          </a:r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1" lang="zh-TW" altLang="en-US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限制拍攝任務若可執行，需有足夠的記憶體容量和檔名數量。</a:t>
                          </a:r>
                          <a:endParaRPr kumimoji="1" lang="ja-JP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0221021"/>
                      </a:ext>
                    </a:extLst>
                  </a:tr>
                  <a:tr h="9119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8667" r="-131887" b="-2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485" t="-118667" r="-240909" b="-2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kern="1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(11)</a:t>
                          </a:r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kumimoji="1" lang="ja-JP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6733621"/>
                      </a:ext>
                    </a:extLst>
                  </a:tr>
                  <a:tr h="170046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7563" r="-131887" b="-569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485" t="-117563" r="-240909" b="-569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kern="1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(12)</a:t>
                          </a:r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kumimoji="1" lang="ja-JP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79839223"/>
                      </a:ext>
                    </a:extLst>
                  </a:tr>
                  <a:tr h="96888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81761" r="-13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485" t="-381761" r="-24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kern="1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(13)</a:t>
                          </a:r>
                          <a:endParaRPr lang="ja-JP" sz="1800" b="0" kern="100" dirty="0">
                            <a:solidFill>
                              <a:schemeClr val="tx1"/>
                            </a:solidFill>
                            <a:effectLst/>
                            <a:latin typeface="Yu Mincho" panose="02020400000000000000" pitchFamily="18" charset="-128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kumimoji="1" lang="ja-JP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59254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0394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46BB9EB-B423-4390-BE81-508DB9BDF43A}"/>
              </a:ext>
            </a:extLst>
          </p:cNvPr>
          <p:cNvSpPr txBox="1"/>
          <p:nvPr/>
        </p:nvSpPr>
        <p:spPr>
          <a:xfrm>
            <a:off x="0" y="144379"/>
            <a:ext cx="194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5CAF3D7-B209-4028-9BE5-5B35D74D5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374928"/>
                  </p:ext>
                </p:extLst>
              </p:nvPr>
            </p:nvGraphicFramePr>
            <p:xfrm>
              <a:off x="283411" y="667599"/>
              <a:ext cx="11603789" cy="51851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53347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967789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705853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876800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6959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任務確切開始執行的時間需晚於其最早可開始執行的時間。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666817"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任務確切結束執行的時間需早於其最晚可執行的時間。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8205520"/>
                      </a:ext>
                    </a:extLst>
                  </a:tr>
                  <a:tr h="7218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同組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任務可執行，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才可執行。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11871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kumimoji="1" lang="en-US" altLang="ja-JP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執行開始時間需晚於使用之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的接觸開始時間。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5887601"/>
                      </a:ext>
                    </a:extLst>
                  </a:tr>
                  <a:tr h="33109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kumimoji="1" lang="en-US" altLang="ja-JP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執行結束時間需早於使用之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的接觸結束時間。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19349455"/>
                      </a:ext>
                    </a:extLst>
                  </a:tr>
                  <a:tr h="12021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ja-JP" alt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一筆任務僅能最多落在一個接觸區間內。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5036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5CAF3D7-B209-4028-9BE5-5B35D74D5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374928"/>
                  </p:ext>
                </p:extLst>
              </p:nvPr>
            </p:nvGraphicFramePr>
            <p:xfrm>
              <a:off x="283411" y="667599"/>
              <a:ext cx="11603789" cy="51851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53347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967789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705853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876800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6959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80040" b="-6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875" r="-188090" b="-6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任務確切開始執行的時間需晚於其最早可開始執行的時間。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71120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3443" r="-280040" b="-50491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875" t="-93443" r="-188090" b="-50491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666817"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任務確切結束執行的時間需早於其最晚可執行的時間。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8205520"/>
                      </a:ext>
                    </a:extLst>
                  </a:tr>
                  <a:tr h="72189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0000" r="-280040" b="-422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875" t="-200000" r="-188090" b="-422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同組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任務可執行，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才可執行。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1187116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81538" r="-280040" b="-1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875" t="-181538" r="-188090" b="-1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執行開始時間需晚於使用之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的接觸開始時間。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58876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22857" r="-280040" b="-1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875" t="-522857" r="-188090" b="-1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執行結束時間需早於使用之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的接觸結束時間。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19349455"/>
                      </a:ext>
                    </a:extLst>
                  </a:tr>
                  <a:tr h="1202177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30303" r="-280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875" t="-330303" r="-1880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一筆任務僅能最多落在一個接觸區間內。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5036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38916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46BB9EB-B423-4390-BE81-508DB9BDF43A}"/>
              </a:ext>
            </a:extLst>
          </p:cNvPr>
          <p:cNvSpPr txBox="1"/>
          <p:nvPr/>
        </p:nvSpPr>
        <p:spPr>
          <a:xfrm>
            <a:off x="0" y="144379"/>
            <a:ext cx="194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5CAF3D7-B209-4028-9BE5-5B35D74D5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5567993"/>
                  </p:ext>
                </p:extLst>
              </p:nvPr>
            </p:nvGraphicFramePr>
            <p:xfrm>
              <a:off x="176463" y="667599"/>
              <a:ext cx="12015537" cy="39846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72000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358457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801838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283242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6959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≥2−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ja-JP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(20)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若使用某個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，擇期對應的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H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任務也要執行。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𝑖𝑘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ja-JP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666817"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執行開始時間需晚於使用之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任務的結束時間。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8205520"/>
                      </a:ext>
                    </a:extLst>
                  </a:tr>
                  <a:tr h="105877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𝑖𝑘</m:t>
                                    </m:r>
                                  </m:sub>
                                </m:sSub>
                                <m:r>
                                  <a:rPr lang="en-US" altLang="ja-JP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ja-JP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執行結束時間需早於使用之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H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任務的開始時間。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6621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1" lang="en-US" altLang="ja-JP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∀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∀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𝐷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    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19349455"/>
                      </a:ext>
                    </a:extLst>
                  </a:tr>
                  <a:tr h="8297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5036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5CAF3D7-B209-4028-9BE5-5B35D74D5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5567993"/>
                  </p:ext>
                </p:extLst>
              </p:nvPr>
            </p:nvGraphicFramePr>
            <p:xfrm>
              <a:off x="176463" y="667599"/>
              <a:ext cx="12015537" cy="39846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72000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358457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801838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283242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6959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62933" b="-474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798" r="-215762" b="-474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(20)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若使用某個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，擇期對應的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H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任務也要執行。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71120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3443" r="-162933" b="-34344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798" t="-93443" r="-215762" b="-34344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666817"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執行開始時間需晚於使用之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任務的結束時間。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8205520"/>
                      </a:ext>
                    </a:extLst>
                  </a:tr>
                  <a:tr h="105877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35632" r="-162933" b="-140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798" t="-135632" r="-215762" b="-140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執行結束時間需早於使用之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H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任務的開始時間。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66218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76147" r="-162933" b="-12477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798" t="-167347" r="-215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0512" t="-1673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9349455"/>
                      </a:ext>
                    </a:extLst>
                  </a:tr>
                  <a:tr h="82973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81618" r="-1629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5036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993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A37904E8-81C4-4281-BE74-E407F25F85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7692664"/>
                  </p:ext>
                </p:extLst>
              </p:nvPr>
            </p:nvGraphicFramePr>
            <p:xfrm>
              <a:off x="88231" y="667599"/>
              <a:ext cx="12015537" cy="33189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72000">
                      <a:extLst>
                        <a:ext uri="{9D8B030D-6E8A-4147-A177-3AD203B41FA5}">
                          <a16:colId xmlns:a16="http://schemas.microsoft.com/office/drawing/2014/main" val="3014081434"/>
                        </a:ext>
                      </a:extLst>
                    </a:gridCol>
                    <a:gridCol w="2358457">
                      <a:extLst>
                        <a:ext uri="{9D8B030D-6E8A-4147-A177-3AD203B41FA5}">
                          <a16:colId xmlns:a16="http://schemas.microsoft.com/office/drawing/2014/main" val="3733591545"/>
                        </a:ext>
                      </a:extLst>
                    </a:gridCol>
                    <a:gridCol w="801838">
                      <a:extLst>
                        <a:ext uri="{9D8B030D-6E8A-4147-A177-3AD203B41FA5}">
                          <a16:colId xmlns:a16="http://schemas.microsoft.com/office/drawing/2014/main" val="4160892609"/>
                        </a:ext>
                      </a:extLst>
                    </a:gridCol>
                    <a:gridCol w="4283242">
                      <a:extLst>
                        <a:ext uri="{9D8B030D-6E8A-4147-A177-3AD203B41FA5}">
                          <a16:colId xmlns:a16="http://schemas.microsoft.com/office/drawing/2014/main" val="108440343"/>
                        </a:ext>
                      </a:extLst>
                    </a:gridCol>
                  </a:tblGrid>
                  <a:tr h="8297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ja-JP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限制每個日蝕區間內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的執行時長加總不能超過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分鐘（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600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秒）。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169071"/>
                      </a:ext>
                    </a:extLst>
                  </a:tr>
                  <a:tr h="8297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ja-JP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8105675"/>
                      </a:ext>
                    </a:extLst>
                  </a:tr>
                  <a:tr h="8297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ja-JP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3168196"/>
                      </a:ext>
                    </a:extLst>
                  </a:tr>
                  <a:tr h="8297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≤600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35160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A37904E8-81C4-4281-BE74-E407F25F85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7692664"/>
                  </p:ext>
                </p:extLst>
              </p:nvPr>
            </p:nvGraphicFramePr>
            <p:xfrm>
              <a:off x="88231" y="667599"/>
              <a:ext cx="12015537" cy="33189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72000">
                      <a:extLst>
                        <a:ext uri="{9D8B030D-6E8A-4147-A177-3AD203B41FA5}">
                          <a16:colId xmlns:a16="http://schemas.microsoft.com/office/drawing/2014/main" val="3014081434"/>
                        </a:ext>
                      </a:extLst>
                    </a:gridCol>
                    <a:gridCol w="2358457">
                      <a:extLst>
                        <a:ext uri="{9D8B030D-6E8A-4147-A177-3AD203B41FA5}">
                          <a16:colId xmlns:a16="http://schemas.microsoft.com/office/drawing/2014/main" val="3733591545"/>
                        </a:ext>
                      </a:extLst>
                    </a:gridCol>
                    <a:gridCol w="801838">
                      <a:extLst>
                        <a:ext uri="{9D8B030D-6E8A-4147-A177-3AD203B41FA5}">
                          <a16:colId xmlns:a16="http://schemas.microsoft.com/office/drawing/2014/main" val="4160892609"/>
                        </a:ext>
                      </a:extLst>
                    </a:gridCol>
                    <a:gridCol w="4283242">
                      <a:extLst>
                        <a:ext uri="{9D8B030D-6E8A-4147-A177-3AD203B41FA5}">
                          <a16:colId xmlns:a16="http://schemas.microsoft.com/office/drawing/2014/main" val="108440343"/>
                        </a:ext>
                      </a:extLst>
                    </a:gridCol>
                  </a:tblGrid>
                  <a:tr h="82973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62933" b="-300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798" r="-215762" b="-300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限制每個日蝕區間內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的執行時長加總不能超過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分鐘（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600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秒）。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169071"/>
                      </a:ext>
                    </a:extLst>
                  </a:tr>
                  <a:tr h="82973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9270" r="-162933" b="-198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798" t="-99270" r="-215762" b="-198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8105675"/>
                      </a:ext>
                    </a:extLst>
                  </a:tr>
                  <a:tr h="82973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0735" r="-1629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798" t="-200735" r="-21576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3168196"/>
                      </a:ext>
                    </a:extLst>
                  </a:tr>
                  <a:tr h="82973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0735" r="-1629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798" t="-300735" r="-215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35160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56807E2E-21C8-4A40-8FDE-4A47F2CC51FE}"/>
              </a:ext>
            </a:extLst>
          </p:cNvPr>
          <p:cNvSpPr txBox="1"/>
          <p:nvPr/>
        </p:nvSpPr>
        <p:spPr>
          <a:xfrm>
            <a:off x="0" y="144379"/>
            <a:ext cx="194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666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DF61A3A-5869-47A4-A031-869F294D3227}"/>
              </a:ext>
            </a:extLst>
          </p:cNvPr>
          <p:cNvSpPr txBox="1"/>
          <p:nvPr/>
        </p:nvSpPr>
        <p:spPr>
          <a:xfrm>
            <a:off x="0" y="144379"/>
            <a:ext cx="194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85008424-F229-47DD-8EB9-305D96474C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5023898"/>
                  </p:ext>
                </p:extLst>
              </p:nvPr>
            </p:nvGraphicFramePr>
            <p:xfrm>
              <a:off x="128337" y="667599"/>
              <a:ext cx="11967410" cy="49329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64505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310063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721895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170947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6959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任務確切開始執行的時間需晚於其最早可開始執行的時間。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(30)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666817"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任務確切結束執行的時間需早於其最晚可執行的時間。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8205520"/>
                      </a:ext>
                    </a:extLst>
                  </a:tr>
                  <a:tr h="7218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rgbClr val="FF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同組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任務有執行，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須執行。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11871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執行開始時間需晚於同組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結束時間。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5887601"/>
                      </a:ext>
                    </a:extLst>
                  </a:tr>
                  <a:tr h="33109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19349455"/>
                      </a:ext>
                    </a:extLst>
                  </a:tr>
                  <a:tr h="120217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5036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85008424-F229-47DD-8EB9-305D96474C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5023898"/>
                  </p:ext>
                </p:extLst>
              </p:nvPr>
            </p:nvGraphicFramePr>
            <p:xfrm>
              <a:off x="128337" y="667599"/>
              <a:ext cx="11967410" cy="49329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64505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310063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721895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170947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6959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51151" b="-6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332" r="-211873" b="-6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任務確切開始執行的時間需晚於其最早可開始執行的時間。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71120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4215" r="-151151" b="-47520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332" t="-94215" r="-211873" b="-47520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(30)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8678755"/>
                      </a:ext>
                    </a:extLst>
                  </a:tr>
                  <a:tr h="666817"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任務確切結束執行的時間需早於其最晚可執行的時間。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8205520"/>
                      </a:ext>
                    </a:extLst>
                  </a:tr>
                  <a:tr h="72189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97479" r="-151151" b="-3831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332" t="-197479" r="-211873" b="-3831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同組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任務有執行，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須執行。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6727"/>
                      </a:ext>
                    </a:extLst>
                  </a:tr>
                  <a:tr h="1187116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81538" r="-151151" b="-13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332" t="-181538" r="-211873" b="-13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執行開始時間需晚於同組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Shoot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結束時間。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5887601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57813" r="-151151" b="-30781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332" t="-210345" r="-211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6715" t="-2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9349455"/>
                      </a:ext>
                    </a:extLst>
                  </a:tr>
                  <a:tr h="1202177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11168" r="-15115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5036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455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F10D944-A2BB-45FC-80B1-A768068D127A}"/>
              </a:ext>
            </a:extLst>
          </p:cNvPr>
          <p:cNvSpPr txBox="1"/>
          <p:nvPr/>
        </p:nvSpPr>
        <p:spPr>
          <a:xfrm>
            <a:off x="0" y="144379"/>
            <a:ext cx="194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5D1838A-D226-4817-BADC-9B915F31A0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6576036"/>
                  </p:ext>
                </p:extLst>
              </p:nvPr>
            </p:nvGraphicFramePr>
            <p:xfrm>
              <a:off x="224590" y="908231"/>
              <a:ext cx="11967410" cy="22681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72000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502568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721895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170947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9449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𝑗𝑘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+6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開始執行時間須至少在同組所有有執行的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選擇的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R-type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地面站之接觸結束時間後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秒才能執行。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62382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∀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≠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𝑜𝑟</m:t>
                                        </m:r>
                                      </m:e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∀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 ∀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  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19349455"/>
                      </a:ext>
                    </a:extLst>
                  </a:tr>
                  <a:tr h="6993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39731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5D1838A-D226-4817-BADC-9B915F31A0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6576036"/>
                  </p:ext>
                </p:extLst>
              </p:nvPr>
            </p:nvGraphicFramePr>
            <p:xfrm>
              <a:off x="224590" y="908231"/>
              <a:ext cx="11967410" cy="22681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72000">
                      <a:extLst>
                        <a:ext uri="{9D8B030D-6E8A-4147-A177-3AD203B41FA5}">
                          <a16:colId xmlns:a16="http://schemas.microsoft.com/office/drawing/2014/main" val="4203079796"/>
                        </a:ext>
                      </a:extLst>
                    </a:gridCol>
                    <a:gridCol w="2502568">
                      <a:extLst>
                        <a:ext uri="{9D8B030D-6E8A-4147-A177-3AD203B41FA5}">
                          <a16:colId xmlns:a16="http://schemas.microsoft.com/office/drawing/2014/main" val="2247000683"/>
                        </a:ext>
                      </a:extLst>
                    </a:gridCol>
                    <a:gridCol w="721895">
                      <a:extLst>
                        <a:ext uri="{9D8B030D-6E8A-4147-A177-3AD203B41FA5}">
                          <a16:colId xmlns:a16="http://schemas.microsoft.com/office/drawing/2014/main" val="4174788066"/>
                        </a:ext>
                      </a:extLst>
                    </a:gridCol>
                    <a:gridCol w="4170947">
                      <a:extLst>
                        <a:ext uri="{9D8B030D-6E8A-4147-A177-3AD203B41FA5}">
                          <a16:colId xmlns:a16="http://schemas.microsoft.com/office/drawing/2014/main" val="134997326"/>
                        </a:ext>
                      </a:extLst>
                    </a:gridCol>
                  </a:tblGrid>
                  <a:tr h="9449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282" r="-161867" b="-13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482" t="-1282" r="-195377" b="-13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Remove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開始執行時間須至少在同組所有有執行的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Download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選擇的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R-type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地面站之接觸結束時間後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秒才能執行。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670259"/>
                      </a:ext>
                    </a:extLst>
                  </a:tr>
                  <a:tr h="62382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53398" r="-161867" b="-11165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482" t="-72477" r="-195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6715" t="-724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9349455"/>
                      </a:ext>
                    </a:extLst>
                  </a:tr>
                  <a:tr h="69938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26957" r="-1618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39731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80081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A55F00A-96B1-40F9-8325-E7CC8FF643A9}"/>
              </a:ext>
            </a:extLst>
          </p:cNvPr>
          <p:cNvSpPr txBox="1"/>
          <p:nvPr/>
        </p:nvSpPr>
        <p:spPr>
          <a:xfrm>
            <a:off x="0" y="144379"/>
            <a:ext cx="2342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Maneuver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093F9CC-B605-421D-AD7F-1ECE48FAE8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8287319"/>
                  </p:ext>
                </p:extLst>
              </p:nvPr>
            </p:nvGraphicFramePr>
            <p:xfrm>
              <a:off x="144379" y="667599"/>
              <a:ext cx="12047621" cy="33750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6168">
                      <a:extLst>
                        <a:ext uri="{9D8B030D-6E8A-4147-A177-3AD203B41FA5}">
                          <a16:colId xmlns:a16="http://schemas.microsoft.com/office/drawing/2014/main" val="3908591255"/>
                        </a:ext>
                      </a:extLst>
                    </a:gridCol>
                    <a:gridCol w="2310064">
                      <a:extLst>
                        <a:ext uri="{9D8B030D-6E8A-4147-A177-3AD203B41FA5}">
                          <a16:colId xmlns:a16="http://schemas.microsoft.com/office/drawing/2014/main" val="2416247256"/>
                        </a:ext>
                      </a:extLst>
                    </a:gridCol>
                    <a:gridCol w="802105">
                      <a:extLst>
                        <a:ext uri="{9D8B030D-6E8A-4147-A177-3AD203B41FA5}">
                          <a16:colId xmlns:a16="http://schemas.microsoft.com/office/drawing/2014/main" val="3355461730"/>
                        </a:ext>
                      </a:extLst>
                    </a:gridCol>
                    <a:gridCol w="4299284">
                      <a:extLst>
                        <a:ext uri="{9D8B030D-6E8A-4147-A177-3AD203B41FA5}">
                          <a16:colId xmlns:a16="http://schemas.microsoft.com/office/drawing/2014/main" val="194825581"/>
                        </a:ext>
                      </a:extLst>
                    </a:gridCol>
                  </a:tblGrid>
                  <a:tr h="79223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1" lang="en-US" altLang="ja-JP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𝑆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∀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kumimoji="1" lang="en-US" altLang="zh-TW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    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5397554"/>
                      </a:ext>
                    </a:extLst>
                  </a:tr>
                  <a:tr h="138615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1638112"/>
                      </a:ext>
                    </a:extLst>
                  </a:tr>
                  <a:tr h="631406">
                    <a:tc v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4963451"/>
                      </a:ext>
                    </a:extLst>
                  </a:tr>
                  <a:tr h="9464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(40)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2969546"/>
                      </a:ext>
                    </a:extLst>
                  </a:tr>
                  <a:tr h="255783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6912542"/>
                      </a:ext>
                    </a:extLst>
                  </a:tr>
                  <a:tr h="610491">
                    <a:tc v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4605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093F9CC-B605-421D-AD7F-1ECE48FAE8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8287319"/>
                  </p:ext>
                </p:extLst>
              </p:nvPr>
            </p:nvGraphicFramePr>
            <p:xfrm>
              <a:off x="144379" y="667599"/>
              <a:ext cx="12047621" cy="33750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6168">
                      <a:extLst>
                        <a:ext uri="{9D8B030D-6E8A-4147-A177-3AD203B41FA5}">
                          <a16:colId xmlns:a16="http://schemas.microsoft.com/office/drawing/2014/main" val="3908591255"/>
                        </a:ext>
                      </a:extLst>
                    </a:gridCol>
                    <a:gridCol w="2310064">
                      <a:extLst>
                        <a:ext uri="{9D8B030D-6E8A-4147-A177-3AD203B41FA5}">
                          <a16:colId xmlns:a16="http://schemas.microsoft.com/office/drawing/2014/main" val="2416247256"/>
                        </a:ext>
                      </a:extLst>
                    </a:gridCol>
                    <a:gridCol w="802105">
                      <a:extLst>
                        <a:ext uri="{9D8B030D-6E8A-4147-A177-3AD203B41FA5}">
                          <a16:colId xmlns:a16="http://schemas.microsoft.com/office/drawing/2014/main" val="3355461730"/>
                        </a:ext>
                      </a:extLst>
                    </a:gridCol>
                    <a:gridCol w="4299284">
                      <a:extLst>
                        <a:ext uri="{9D8B030D-6E8A-4147-A177-3AD203B41FA5}">
                          <a16:colId xmlns:a16="http://schemas.microsoft.com/office/drawing/2014/main" val="194825581"/>
                        </a:ext>
                      </a:extLst>
                    </a:gridCol>
                  </a:tblGrid>
                  <a:tr h="792233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59790" b="-32692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r="-220844" b="-11595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00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5397554"/>
                      </a:ext>
                    </a:extLst>
                  </a:tr>
                  <a:tr h="138615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2362" r="-159790" b="-23464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1638112"/>
                      </a:ext>
                    </a:extLst>
                  </a:tr>
                  <a:tr h="631406">
                    <a:tc vMerge="1"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4963451"/>
                      </a:ext>
                    </a:extLst>
                  </a:tr>
                  <a:tr h="94648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64744" r="-159790" b="-91026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t="-86242" r="-22084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(40)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2969546"/>
                      </a:ext>
                    </a:extLst>
                  </a:tr>
                  <a:tr h="255783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90845" r="-15979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6912542"/>
                      </a:ext>
                    </a:extLst>
                  </a:tr>
                  <a:tr h="610491">
                    <a:tc vMerge="1"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4605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3204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A55F00A-96B1-40F9-8325-E7CC8FF643A9}"/>
              </a:ext>
            </a:extLst>
          </p:cNvPr>
          <p:cNvSpPr txBox="1"/>
          <p:nvPr/>
        </p:nvSpPr>
        <p:spPr>
          <a:xfrm>
            <a:off x="0" y="144379"/>
            <a:ext cx="2342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Maneuver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093F9CC-B605-421D-AD7F-1ECE48FAE8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8339759"/>
                  </p:ext>
                </p:extLst>
              </p:nvPr>
            </p:nvGraphicFramePr>
            <p:xfrm>
              <a:off x="144379" y="667599"/>
              <a:ext cx="12047621" cy="40199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6168">
                      <a:extLst>
                        <a:ext uri="{9D8B030D-6E8A-4147-A177-3AD203B41FA5}">
                          <a16:colId xmlns:a16="http://schemas.microsoft.com/office/drawing/2014/main" val="3908591255"/>
                        </a:ext>
                      </a:extLst>
                    </a:gridCol>
                    <a:gridCol w="2310064">
                      <a:extLst>
                        <a:ext uri="{9D8B030D-6E8A-4147-A177-3AD203B41FA5}">
                          <a16:colId xmlns:a16="http://schemas.microsoft.com/office/drawing/2014/main" val="2416247256"/>
                        </a:ext>
                      </a:extLst>
                    </a:gridCol>
                    <a:gridCol w="802105">
                      <a:extLst>
                        <a:ext uri="{9D8B030D-6E8A-4147-A177-3AD203B41FA5}">
                          <a16:colId xmlns:a16="http://schemas.microsoft.com/office/drawing/2014/main" val="3355461730"/>
                        </a:ext>
                      </a:extLst>
                    </a:gridCol>
                    <a:gridCol w="4299284">
                      <a:extLst>
                        <a:ext uri="{9D8B030D-6E8A-4147-A177-3AD203B41FA5}">
                          <a16:colId xmlns:a16="http://schemas.microsoft.com/office/drawing/2014/main" val="194825581"/>
                        </a:ext>
                      </a:extLst>
                    </a:gridCol>
                  </a:tblGrid>
                  <a:tr h="79223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1" lang="en-US" altLang="ja-JP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𝑆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∀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    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5397554"/>
                      </a:ext>
                    </a:extLst>
                  </a:tr>
                  <a:tr h="138615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1638112"/>
                      </a:ext>
                    </a:extLst>
                  </a:tr>
                  <a:tr h="631406">
                    <a:tc v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4963451"/>
                      </a:ext>
                    </a:extLst>
                  </a:tr>
                  <a:tr h="9464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2969546"/>
                      </a:ext>
                    </a:extLst>
                  </a:tr>
                  <a:tr h="255783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6912542"/>
                      </a:ext>
                    </a:extLst>
                  </a:tr>
                  <a:tr h="610491">
                    <a:tc v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460565"/>
                      </a:ext>
                    </a:extLst>
                  </a:tr>
                  <a:tr h="61049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ja-JP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若相同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 ID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有執行則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H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也需執行。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5016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093F9CC-B605-421D-AD7F-1ECE48FAE8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8339759"/>
                  </p:ext>
                </p:extLst>
              </p:nvPr>
            </p:nvGraphicFramePr>
            <p:xfrm>
              <a:off x="144379" y="667599"/>
              <a:ext cx="12047621" cy="40199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6168">
                      <a:extLst>
                        <a:ext uri="{9D8B030D-6E8A-4147-A177-3AD203B41FA5}">
                          <a16:colId xmlns:a16="http://schemas.microsoft.com/office/drawing/2014/main" val="3908591255"/>
                        </a:ext>
                      </a:extLst>
                    </a:gridCol>
                    <a:gridCol w="2310064">
                      <a:extLst>
                        <a:ext uri="{9D8B030D-6E8A-4147-A177-3AD203B41FA5}">
                          <a16:colId xmlns:a16="http://schemas.microsoft.com/office/drawing/2014/main" val="2416247256"/>
                        </a:ext>
                      </a:extLst>
                    </a:gridCol>
                    <a:gridCol w="802105">
                      <a:extLst>
                        <a:ext uri="{9D8B030D-6E8A-4147-A177-3AD203B41FA5}">
                          <a16:colId xmlns:a16="http://schemas.microsoft.com/office/drawing/2014/main" val="3355461730"/>
                        </a:ext>
                      </a:extLst>
                    </a:gridCol>
                    <a:gridCol w="4299284">
                      <a:extLst>
                        <a:ext uri="{9D8B030D-6E8A-4147-A177-3AD203B41FA5}">
                          <a16:colId xmlns:a16="http://schemas.microsoft.com/office/drawing/2014/main" val="194825581"/>
                        </a:ext>
                      </a:extLst>
                    </a:gridCol>
                  </a:tblGrid>
                  <a:tr h="792233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59790" b="-42076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r="-220844" b="-16445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0028" b="-222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5397554"/>
                      </a:ext>
                    </a:extLst>
                  </a:tr>
                  <a:tr h="138615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3175" r="-159790" b="-33412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1638112"/>
                      </a:ext>
                    </a:extLst>
                  </a:tr>
                  <a:tr h="631406">
                    <a:tc vMerge="1"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4963451"/>
                      </a:ext>
                    </a:extLst>
                  </a:tr>
                  <a:tr h="94648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64103" r="-159790" b="-16987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t="-85906" r="-220844" b="-4127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2969546"/>
                      </a:ext>
                    </a:extLst>
                  </a:tr>
                  <a:tr h="255783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90141" r="-159790" b="-8662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6912542"/>
                      </a:ext>
                    </a:extLst>
                  </a:tr>
                  <a:tr h="610491">
                    <a:tc vMerge="1"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460565"/>
                      </a:ext>
                    </a:extLst>
                  </a:tr>
                  <a:tr h="64497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22642" r="-159790" b="-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t="-522642" r="-220844" b="-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若相同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Contact ID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的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有執行則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H Maneuver</a:t>
                          </a:r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也需執行。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5016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7348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A55F00A-96B1-40F9-8325-E7CC8FF643A9}"/>
              </a:ext>
            </a:extLst>
          </p:cNvPr>
          <p:cNvSpPr txBox="1"/>
          <p:nvPr/>
        </p:nvSpPr>
        <p:spPr>
          <a:xfrm>
            <a:off x="0" y="144379"/>
            <a:ext cx="2342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Maneuver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093F9CC-B605-421D-AD7F-1ECE48FAE8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6633750"/>
                  </p:ext>
                </p:extLst>
              </p:nvPr>
            </p:nvGraphicFramePr>
            <p:xfrm>
              <a:off x="144379" y="667599"/>
              <a:ext cx="12047621" cy="33750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6168">
                      <a:extLst>
                        <a:ext uri="{9D8B030D-6E8A-4147-A177-3AD203B41FA5}">
                          <a16:colId xmlns:a16="http://schemas.microsoft.com/office/drawing/2014/main" val="3908591255"/>
                        </a:ext>
                      </a:extLst>
                    </a:gridCol>
                    <a:gridCol w="2310064">
                      <a:extLst>
                        <a:ext uri="{9D8B030D-6E8A-4147-A177-3AD203B41FA5}">
                          <a16:colId xmlns:a16="http://schemas.microsoft.com/office/drawing/2014/main" val="2416247256"/>
                        </a:ext>
                      </a:extLst>
                    </a:gridCol>
                    <a:gridCol w="802105">
                      <a:extLst>
                        <a:ext uri="{9D8B030D-6E8A-4147-A177-3AD203B41FA5}">
                          <a16:colId xmlns:a16="http://schemas.microsoft.com/office/drawing/2014/main" val="3355461730"/>
                        </a:ext>
                      </a:extLst>
                    </a:gridCol>
                    <a:gridCol w="4299284">
                      <a:extLst>
                        <a:ext uri="{9D8B030D-6E8A-4147-A177-3AD203B41FA5}">
                          <a16:colId xmlns:a16="http://schemas.microsoft.com/office/drawing/2014/main" val="194825581"/>
                        </a:ext>
                      </a:extLst>
                    </a:gridCol>
                  </a:tblGrid>
                  <a:tr h="79223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1" lang="en-US" altLang="ja-JP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 ∀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kumimoji="1" lang="en-US" altLang="ja-JP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𝑆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1" lang="en-US" altLang="ja-JP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𝑜𝑟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∀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kumimoji="1" lang="en-US" altLang="zh-TW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𝐻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    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限制任務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與任務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zh-TW" altLang="en-US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執行期間不得重疊。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5397554"/>
                      </a:ext>
                    </a:extLst>
                  </a:tr>
                  <a:tr h="138615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1638112"/>
                      </a:ext>
                    </a:extLst>
                  </a:tr>
                  <a:tr h="631406">
                    <a:tc v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4963451"/>
                      </a:ext>
                    </a:extLst>
                  </a:tr>
                  <a:tr h="9464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∀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2969546"/>
                      </a:ext>
                    </a:extLst>
                  </a:tr>
                  <a:tr h="255783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6912542"/>
                      </a:ext>
                    </a:extLst>
                  </a:tr>
                  <a:tr h="610491">
                    <a:tc v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(50)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4605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093F9CC-B605-421D-AD7F-1ECE48FAE8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6633750"/>
                  </p:ext>
                </p:extLst>
              </p:nvPr>
            </p:nvGraphicFramePr>
            <p:xfrm>
              <a:off x="144379" y="667599"/>
              <a:ext cx="12047621" cy="33750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6168">
                      <a:extLst>
                        <a:ext uri="{9D8B030D-6E8A-4147-A177-3AD203B41FA5}">
                          <a16:colId xmlns:a16="http://schemas.microsoft.com/office/drawing/2014/main" val="3908591255"/>
                        </a:ext>
                      </a:extLst>
                    </a:gridCol>
                    <a:gridCol w="2310064">
                      <a:extLst>
                        <a:ext uri="{9D8B030D-6E8A-4147-A177-3AD203B41FA5}">
                          <a16:colId xmlns:a16="http://schemas.microsoft.com/office/drawing/2014/main" val="2416247256"/>
                        </a:ext>
                      </a:extLst>
                    </a:gridCol>
                    <a:gridCol w="802105">
                      <a:extLst>
                        <a:ext uri="{9D8B030D-6E8A-4147-A177-3AD203B41FA5}">
                          <a16:colId xmlns:a16="http://schemas.microsoft.com/office/drawing/2014/main" val="3355461730"/>
                        </a:ext>
                      </a:extLst>
                    </a:gridCol>
                    <a:gridCol w="4299284">
                      <a:extLst>
                        <a:ext uri="{9D8B030D-6E8A-4147-A177-3AD203B41FA5}">
                          <a16:colId xmlns:a16="http://schemas.microsoft.com/office/drawing/2014/main" val="194825581"/>
                        </a:ext>
                      </a:extLst>
                    </a:gridCol>
                  </a:tblGrid>
                  <a:tr h="792233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59790" b="-32692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r="-220844" b="-11595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(47)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00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5397554"/>
                      </a:ext>
                    </a:extLst>
                  </a:tr>
                  <a:tr h="138615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2362" r="-159790" b="-23464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1638112"/>
                      </a:ext>
                    </a:extLst>
                  </a:tr>
                  <a:tr h="631406">
                    <a:tc vMerge="1"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(48)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4963451"/>
                      </a:ext>
                    </a:extLst>
                  </a:tr>
                  <a:tr h="94648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64744" r="-159790" b="-91026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92" t="-86242" r="-22084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(49)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2969546"/>
                      </a:ext>
                    </a:extLst>
                  </a:tr>
                  <a:tr h="255783">
                    <a:tc row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90845" r="-15979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6912542"/>
                      </a:ext>
                    </a:extLst>
                  </a:tr>
                  <a:tr h="610491">
                    <a:tc vMerge="1"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ja-JP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(50)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4605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2561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9A0F705-1583-49C5-964D-ACC7B206CD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2664135"/>
                  </p:ext>
                </p:extLst>
              </p:nvPr>
            </p:nvGraphicFramePr>
            <p:xfrm>
              <a:off x="226595" y="782888"/>
              <a:ext cx="4746458" cy="29360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3229">
                      <a:extLst>
                        <a:ext uri="{9D8B030D-6E8A-4147-A177-3AD203B41FA5}">
                          <a16:colId xmlns:a16="http://schemas.microsoft.com/office/drawing/2014/main" val="1531762235"/>
                        </a:ext>
                      </a:extLst>
                    </a:gridCol>
                    <a:gridCol w="2373229">
                      <a:extLst>
                        <a:ext uri="{9D8B030D-6E8A-4147-A177-3AD203B41FA5}">
                          <a16:colId xmlns:a16="http://schemas.microsoft.com/office/drawing/2014/main" val="2666554664"/>
                        </a:ext>
                      </a:extLst>
                    </a:gridCol>
                  </a:tblGrid>
                  <a:tr h="4893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2321204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4461750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2817734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3929110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ja-JP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9764446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ja-JP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ja-JP" sz="1800" b="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6958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9A0F705-1583-49C5-964D-ACC7B206CD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2664135"/>
                  </p:ext>
                </p:extLst>
              </p:nvPr>
            </p:nvGraphicFramePr>
            <p:xfrm>
              <a:off x="226595" y="782888"/>
              <a:ext cx="4746458" cy="29360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3229">
                      <a:extLst>
                        <a:ext uri="{9D8B030D-6E8A-4147-A177-3AD203B41FA5}">
                          <a16:colId xmlns:a16="http://schemas.microsoft.com/office/drawing/2014/main" val="1531762235"/>
                        </a:ext>
                      </a:extLst>
                    </a:gridCol>
                    <a:gridCol w="2373229">
                      <a:extLst>
                        <a:ext uri="{9D8B030D-6E8A-4147-A177-3AD203B41FA5}">
                          <a16:colId xmlns:a16="http://schemas.microsoft.com/office/drawing/2014/main" val="2666554664"/>
                        </a:ext>
                      </a:extLst>
                    </a:gridCol>
                  </a:tblGrid>
                  <a:tr h="48933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99744" b="-5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(51)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2321204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1250" r="-99744" b="-4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(52)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4461750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98765" r="-99744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(53)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2817734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2500" r="-99744" b="-2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(54)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3929110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97531" r="-99744" b="-10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(55)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9764446"/>
                      </a:ext>
                    </a:extLst>
                  </a:tr>
                  <a:tr h="48933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3750" r="-99744" b="-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kumimoji="1" lang="en-US" altLang="ja-JP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(56)</a:t>
                          </a:r>
                          <a:endParaRPr kumimoji="1" lang="ja-JP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69586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E26C1B44-321A-44AB-BACF-9874365DE881}"/>
              </a:ext>
            </a:extLst>
          </p:cNvPr>
          <p:cNvSpPr txBox="1"/>
          <p:nvPr/>
        </p:nvSpPr>
        <p:spPr>
          <a:xfrm>
            <a:off x="-256674" y="112295"/>
            <a:ext cx="2342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變數限制</a:t>
            </a:r>
            <a:endParaRPr kumimoji="1" lang="ja-JP" altLang="en-US" sz="28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57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TM10001106[[fn=徽章]]</Template>
  <TotalTime>389</TotalTime>
  <Words>2308</Words>
  <Application>Microsoft Office PowerPoint</Application>
  <PresentationFormat>寬螢幕</PresentationFormat>
  <Paragraphs>271</Paragraphs>
  <Slides>16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4" baseType="lpstr">
      <vt:lpstr>游ゴシック</vt:lpstr>
      <vt:lpstr>游ゴシック Light</vt:lpstr>
      <vt:lpstr>Yu Mincho</vt:lpstr>
      <vt:lpstr>標楷體</vt:lpstr>
      <vt:lpstr>Arial</vt:lpstr>
      <vt:lpstr>Cambria Math</vt:lpstr>
      <vt:lpstr>Times New Roman</vt:lpstr>
      <vt:lpstr>Office 佈景主題</vt:lpstr>
      <vt:lpstr>限制式整理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尹品玲</dc:creator>
  <cp:lastModifiedBy>jason lo</cp:lastModifiedBy>
  <cp:revision>69</cp:revision>
  <dcterms:created xsi:type="dcterms:W3CDTF">2025-09-03T10:32:05Z</dcterms:created>
  <dcterms:modified xsi:type="dcterms:W3CDTF">2025-12-02T12:39:52Z</dcterms:modified>
</cp:coreProperties>
</file>